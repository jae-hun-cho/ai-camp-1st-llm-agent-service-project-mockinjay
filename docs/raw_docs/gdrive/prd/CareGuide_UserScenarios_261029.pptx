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6" r:id="rId10"/>
    <p:sldId id="278" r:id="rId11"/>
    <p:sldId id="279" r:id="rId12"/>
    <p:sldId id="280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8729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AB8F8-AA72-FC6E-A847-BB0E83601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F0CA50-ED42-D274-B715-E5E1073D98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B2DC96-7D74-0965-4EFE-0057B4E787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FEE53F-F00C-6084-9CC8-70FFEF1568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7853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90ED1-B307-5D92-99DE-B09FD80B7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28383A-DA0B-C345-AD33-D925A4AF02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42A8C0-4831-3957-4178-8123763D41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D48ED9-112A-6807-1593-23CFDC77BA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4682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38B3D-8D45-0F4D-B949-173294ABC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62429E-729E-5824-58D8-F3E995DA5D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21E46A-4D7C-0AF2-7F00-94D7B5ADDA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202E3E-8ABC-14B9-A443-FA7C0C917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1664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57350" y="1257300"/>
            <a:ext cx="5829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500"/>
              </a:lnSpc>
              <a:spcAft>
                <a:spcPts val="1200"/>
              </a:spcAft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CKD 환자 케어 플랫폼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1439056" y="2133600"/>
            <a:ext cx="644577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CareGuide</a:t>
            </a: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25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</a:t>
            </a: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ko-KR" alt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여정 시나리오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899642" y="3086100"/>
            <a:ext cx="5344567" cy="800100"/>
          </a:xfrm>
          <a:prstGeom prst="roundRect">
            <a:avLst>
              <a:gd name="adj" fmla="val 9524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234817" y="3352800"/>
            <a:ext cx="467421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만성 신장질환 환자·보호자·연구자를 위한 통합 서비스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304800"/>
            <a:ext cx="43622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C5F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3가지 사용자 페르소나</a:t>
            </a:r>
            <a:endParaRPr lang="en-US" sz="2700" dirty="0"/>
          </a:p>
        </p:txBody>
      </p:sp>
      <p:pic>
        <p:nvPicPr>
          <p:cNvPr id="3" name="Image 0" descr="/tmp/rasterized-gradient-8c4c64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990600"/>
            <a:ext cx="2641550" cy="38481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2450" y="1178290"/>
            <a:ext cx="21891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2C5F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</a:t>
            </a:r>
            <a:r>
              <a:rPr lang="ko-KR" altLang="en-US" sz="1800" b="1" dirty="0">
                <a:solidFill>
                  <a:srgbClr val="2C5F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일반인 </a:t>
            </a:r>
            <a:r>
              <a:rPr lang="en-US" altLang="ko-KR" sz="1800" b="1" dirty="0">
                <a:solidFill>
                  <a:srgbClr val="2C5F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</a:t>
            </a:r>
            <a:r>
              <a:rPr lang="ko-KR" altLang="en-US" sz="1800" b="1" dirty="0" err="1">
                <a:solidFill>
                  <a:srgbClr val="2C5F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노비스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52450" y="1559290"/>
            <a:ext cx="2280691" cy="614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질환 가능성이 </a:t>
            </a:r>
            <a:r>
              <a:rPr lang="en-US" sz="1050" b="1" dirty="0" err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있거나</a:t>
            </a: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b="1" dirty="0" err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간병</a:t>
            </a: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b="1" dirty="0" err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정보를</a:t>
            </a: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b="1" dirty="0" err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찾</a:t>
            </a:r>
            <a:r>
              <a:rPr lang="ko-KR" alt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음</a:t>
            </a:r>
            <a:r>
              <a:rPr lang="en-US" altLang="ko-KR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r>
              <a:rPr lang="ko-KR" alt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질환을 알고 싶지만 무엇을 어떻게 </a:t>
            </a:r>
            <a:r>
              <a:rPr lang="ko-KR" altLang="en-US" sz="1050" b="1" dirty="0" err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알아야할지</a:t>
            </a:r>
            <a:r>
              <a:rPr lang="ko-KR" alt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잘 모르는 </a:t>
            </a:r>
            <a:r>
              <a:rPr lang="en-US" sz="1050" b="1" dirty="0" err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52450" y="2264140"/>
            <a:ext cx="2146250" cy="232285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ko-KR" alt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질환</a:t>
            </a: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ko-KR" alt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기초 </a:t>
            </a:r>
            <a:r>
              <a:rPr lang="en-US" sz="1200" dirty="0" err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정보</a:t>
            </a: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탐색</a:t>
            </a:r>
            <a:endParaRPr lang="en-US" sz="1200" dirty="0">
              <a:solidFill>
                <a:srgbClr val="2C3E5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66675" indent="-66675">
              <a:lnSpc>
                <a:spcPts val="2100"/>
              </a:lnSpc>
              <a:buSzPct val="100000"/>
              <a:buFontTx/>
              <a:buChar char="•"/>
            </a:pPr>
            <a:r>
              <a:rPr lang="en-US" altLang="ko-KR" sz="1200" dirty="0" err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기초</a:t>
            </a:r>
            <a:r>
              <a:rPr lang="en-US" altLang="ko-KR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1200" dirty="0" err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의학</a:t>
            </a:r>
            <a:r>
              <a:rPr lang="en-US" altLang="ko-KR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1200" dirty="0" err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용어</a:t>
            </a:r>
            <a:r>
              <a:rPr lang="en-US" altLang="ko-KR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1200" dirty="0" err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이해</a:t>
            </a:r>
            <a:endParaRPr lang="en-US" altLang="ko-KR" sz="1200" dirty="0">
              <a:solidFill>
                <a:srgbClr val="2C3E5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66675" indent="-66675">
              <a:lnSpc>
                <a:spcPts val="2100"/>
              </a:lnSpc>
              <a:buSzPct val="100000"/>
              <a:buFontTx/>
              <a:buChar char="•"/>
            </a:pPr>
            <a:r>
              <a:rPr lang="en-US" sz="1200" dirty="0" err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예방법</a:t>
            </a: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및 건강 </a:t>
            </a:r>
            <a:r>
              <a:rPr lang="en-US" sz="1200" dirty="0" err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</a:t>
            </a: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정보</a:t>
            </a:r>
            <a:endParaRPr lang="en-US" altLang="ko-KR" sz="120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200" dirty="0" err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가족</a:t>
            </a: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/지인 간병을 </a:t>
            </a:r>
            <a:r>
              <a:rPr lang="en-US" sz="1200" dirty="0" err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위한</a:t>
            </a: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지식</a:t>
            </a:r>
            <a:endParaRPr lang="en-US" sz="1200" dirty="0">
              <a:solidFill>
                <a:srgbClr val="2C3E5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ko-KR" alt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병원</a:t>
            </a:r>
            <a:r>
              <a:rPr lang="en-US" altLang="ko-KR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ko-KR" alt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의약 정보</a:t>
            </a:r>
            <a:r>
              <a:rPr lang="ko-KR" altLang="en-US" sz="1200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 탐색</a:t>
            </a:r>
            <a:endParaRPr lang="en-US" altLang="ko-KR" sz="1200" dirty="0">
              <a:solidFill>
                <a:srgbClr val="2C3E50"/>
              </a:solidFill>
              <a:latin typeface="Arial" pitchFamily="34" charset="0"/>
              <a:cs typeface="Arial" pitchFamily="34" charset="-120"/>
            </a:endParaRPr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ko-KR" altLang="en-US" sz="1200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복지</a:t>
            </a:r>
            <a:r>
              <a:rPr lang="en-US" altLang="ko-KR" sz="1200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/</a:t>
            </a:r>
            <a:r>
              <a:rPr lang="ko-KR" altLang="en-US" sz="1200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혜택 지원 정보 탐색</a:t>
            </a:r>
            <a:endParaRPr lang="en-US" sz="1200" dirty="0"/>
          </a:p>
        </p:txBody>
      </p:sp>
      <p:pic>
        <p:nvPicPr>
          <p:cNvPr id="7" name="Image 1" descr="/tmp/rasterized-gradient-ebcd3b9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1150" y="990600"/>
            <a:ext cx="2641550" cy="38481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98800" y="1178290"/>
            <a:ext cx="21891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🏥 </a:t>
            </a:r>
            <a:r>
              <a:rPr lang="en-US" sz="1800" b="1" dirty="0" err="1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질환자</a:t>
            </a:r>
            <a:r>
              <a:rPr lang="ko-KR" altLang="en-US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ko-KR" altLang="en-US" sz="18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경험자</a:t>
            </a:r>
            <a:r>
              <a:rPr lang="en-US" altLang="ko-KR" sz="18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3498800" y="1559290"/>
            <a:ext cx="2189175" cy="614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75"/>
              </a:lnSpc>
              <a:spcBef>
                <a:spcPts val="300"/>
              </a:spcBef>
              <a:spcAft>
                <a:spcPts val="600"/>
              </a:spcAft>
            </a:pPr>
            <a:r>
              <a:rPr lang="ko-KR" alt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질환 단계를 인지하고 검진 결과 수치 </a:t>
            </a:r>
            <a:r>
              <a:rPr lang="ko-KR" altLang="en-US" sz="1050" b="1" dirty="0" err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를</a:t>
            </a:r>
            <a:r>
              <a:rPr lang="ko-KR" alt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기반으로 건강 관리 정보를 탐색하고 싶은 </a:t>
            </a:r>
            <a:r>
              <a:rPr lang="en-US" sz="1050" b="1" dirty="0" err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환자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3498799" y="2290370"/>
            <a:ext cx="2189175" cy="243153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ko-KR" alt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개인</a:t>
            </a: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ko-KR" alt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검진 수치 기반으로 질의</a:t>
            </a:r>
            <a:endParaRPr lang="en-US" altLang="ko-KR" sz="1200" dirty="0">
              <a:solidFill>
                <a:srgbClr val="2C3E5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lnSpc>
                <a:spcPts val="2100"/>
              </a:lnSpc>
              <a:buSzPct val="100000"/>
            </a:pPr>
            <a:r>
              <a:rPr lang="en-US" altLang="ko-KR" sz="1000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-</a:t>
            </a:r>
            <a:r>
              <a:rPr lang="ko-KR" altLang="en-US" sz="1000" dirty="0" err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크레아티닌</a:t>
            </a:r>
            <a:r>
              <a:rPr lang="en-US" altLang="ko-KR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r>
              <a:rPr lang="ko-KR" alt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1000" dirty="0" err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칼륨</a:t>
            </a:r>
            <a:r>
              <a:rPr lang="en-US" altLang="ko-KR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altLang="ko-KR" sz="1000" dirty="0" err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</a:t>
            </a:r>
            <a:r>
              <a:rPr lang="en-US" altLang="ko-KR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1000" dirty="0" err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등</a:t>
            </a:r>
            <a:r>
              <a:rPr lang="en-US" altLang="ko-KR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ko-KR" alt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검진 결과로 </a:t>
            </a:r>
            <a:r>
              <a:rPr lang="en-US" altLang="ko-KR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GFR </a:t>
            </a:r>
            <a:r>
              <a:rPr lang="ko-KR" alt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등 수치 계산</a:t>
            </a:r>
            <a:endParaRPr lang="en-US" altLang="ko-KR" sz="1000" dirty="0">
              <a:solidFill>
                <a:srgbClr val="2C3E5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lnSpc>
                <a:spcPts val="2100"/>
              </a:lnSpc>
              <a:buSzPct val="100000"/>
            </a:pPr>
            <a:r>
              <a:rPr lang="en-US" altLang="ko-KR" sz="1000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-</a:t>
            </a:r>
            <a:r>
              <a:rPr lang="ko-KR" altLang="en-US" sz="1000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증상</a:t>
            </a:r>
            <a:r>
              <a:rPr lang="en-US" altLang="ko-KR" sz="1000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,</a:t>
            </a:r>
            <a:r>
              <a:rPr lang="ko-KR" altLang="en-US" sz="1000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 처방</a:t>
            </a:r>
            <a:r>
              <a:rPr lang="en-US" altLang="ko-KR" sz="1000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,</a:t>
            </a:r>
            <a:r>
              <a:rPr lang="ko-KR" altLang="en-US" sz="1000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 식단</a:t>
            </a:r>
            <a:r>
              <a:rPr lang="en-US" altLang="ko-KR" sz="1000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,</a:t>
            </a:r>
            <a:r>
              <a:rPr lang="ko-KR" altLang="en-US" sz="1000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 복약 정보 탐색</a:t>
            </a:r>
            <a:endParaRPr lang="en-US" sz="100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ko-KR" altLang="en-US" sz="1200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질환</a:t>
            </a:r>
            <a:r>
              <a:rPr lang="en-US" altLang="ko-KR" sz="1200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/</a:t>
            </a:r>
            <a:r>
              <a:rPr lang="ko-KR" altLang="en-US" sz="1200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치료</a:t>
            </a:r>
            <a:r>
              <a:rPr lang="en-US" altLang="ko-KR" sz="1200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/</a:t>
            </a:r>
            <a:r>
              <a:rPr lang="ko-KR" altLang="en-US" sz="1200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증상</a:t>
            </a:r>
            <a:r>
              <a:rPr lang="en-US" altLang="ko-KR" sz="1200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/</a:t>
            </a:r>
            <a:r>
              <a:rPr lang="ko-KR" altLang="en-US" sz="1200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복약에 대한 심층 정보 탐색 </a:t>
            </a:r>
            <a:endParaRPr lang="en-US" altLang="ko-KR" sz="1200" dirty="0">
              <a:solidFill>
                <a:srgbClr val="2C3E50"/>
              </a:solidFill>
              <a:latin typeface="Arial" pitchFamily="34" charset="0"/>
              <a:cs typeface="Arial" pitchFamily="34" charset="-120"/>
            </a:endParaRPr>
          </a:p>
          <a:p>
            <a:pPr algn="l">
              <a:lnSpc>
                <a:spcPts val="2100"/>
              </a:lnSpc>
              <a:buSzPct val="100000"/>
            </a:pPr>
            <a:r>
              <a:rPr lang="en-US" altLang="ko-KR" sz="1000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-</a:t>
            </a:r>
            <a:r>
              <a:rPr lang="ko-KR" altLang="en-US" sz="1000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신규 치료법</a:t>
            </a:r>
            <a:r>
              <a:rPr lang="en-US" altLang="ko-KR" sz="1000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,</a:t>
            </a:r>
            <a:r>
              <a:rPr lang="ko-KR" altLang="en-US" sz="1000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 연구</a:t>
            </a:r>
            <a:endParaRPr lang="en-US" altLang="ko-KR" sz="1000" dirty="0">
              <a:solidFill>
                <a:srgbClr val="2C3E50"/>
              </a:solidFill>
              <a:latin typeface="Arial" pitchFamily="34" charset="0"/>
              <a:cs typeface="Arial" pitchFamily="34" charset="-120"/>
            </a:endParaRPr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ko-KR" alt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건강</a:t>
            </a:r>
            <a:r>
              <a:rPr lang="en-US" altLang="ko-KR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ko-KR" alt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영양 관리</a:t>
            </a:r>
            <a:endParaRPr lang="en-US" altLang="ko-KR" sz="1200" dirty="0">
              <a:solidFill>
                <a:srgbClr val="2C3E5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ko-KR" alt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복지</a:t>
            </a:r>
            <a:r>
              <a:rPr lang="en-US" altLang="ko-KR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en-US" sz="1200" dirty="0" err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혜택</a:t>
            </a: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정보</a:t>
            </a:r>
            <a:endParaRPr lang="en-US" sz="1200" dirty="0"/>
          </a:p>
        </p:txBody>
      </p:sp>
      <p:pic>
        <p:nvPicPr>
          <p:cNvPr id="11" name="Image 2" descr="/tmp/rasterized-gradient-b53c4b6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7501" y="990600"/>
            <a:ext cx="2641550" cy="38481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445151" y="1178290"/>
            <a:ext cx="21891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🔬 </a:t>
            </a:r>
            <a:r>
              <a:rPr lang="en-US" sz="1800" b="1" dirty="0" err="1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연구자</a:t>
            </a:r>
            <a:r>
              <a:rPr lang="ko-KR" altLang="en-US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ko-KR" altLang="en-US" sz="1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전문가</a:t>
            </a:r>
            <a:r>
              <a:rPr lang="en-US" altLang="ko-KR" sz="1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6445151" y="1559290"/>
            <a:ext cx="2189175" cy="614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바이오/의료/헬스케어 정보를 </a:t>
            </a:r>
            <a:r>
              <a:rPr lang="en-US" sz="1050" b="1" dirty="0" err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탐색하는</a:t>
            </a: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b="1" dirty="0" err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전문가</a:t>
            </a:r>
            <a:endParaRPr lang="en-US" sz="1050" b="1" dirty="0">
              <a:solidFill>
                <a:srgbClr val="2C3E5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4" name="Text 9"/>
          <p:cNvSpPr/>
          <p:nvPr/>
        </p:nvSpPr>
        <p:spPr>
          <a:xfrm>
            <a:off x="6445151" y="2237905"/>
            <a:ext cx="2146250" cy="14859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최신 논문 검색 및 요약</a:t>
            </a:r>
            <a:endParaRPr lang="en-US" sz="120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다중 논문 비교 분석</a:t>
            </a:r>
            <a:endParaRPr lang="en-US" sz="120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 트렌드 시각화</a:t>
            </a:r>
            <a:endParaRPr lang="en-US" sz="120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기반 인사이트</a:t>
            </a:r>
            <a:endParaRPr lang="en-US" sz="120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기반 전문 질의응답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8"/>
          <p:cNvSpPr/>
          <p:nvPr/>
        </p:nvSpPr>
        <p:spPr>
          <a:xfrm>
            <a:off x="228600" y="2563527"/>
            <a:ext cx="8686800" cy="356160"/>
          </a:xfrm>
          <a:prstGeom prst="roundRect">
            <a:avLst>
              <a:gd name="adj" fmla="val 14286"/>
            </a:avLst>
          </a:prstGeom>
          <a:solidFill>
            <a:srgbClr val="27AE60"/>
          </a:solidFill>
          <a:ln w="19050">
            <a:solidFill>
              <a:srgbClr val="BDC3C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cxnSp>
        <p:nvCxnSpPr>
          <p:cNvPr id="76" name="꺾인 연결선[E] 75">
            <a:extLst>
              <a:ext uri="{FF2B5EF4-FFF2-40B4-BE49-F238E27FC236}">
                <a16:creationId xmlns:a16="http://schemas.microsoft.com/office/drawing/2014/main" id="{F2479D61-6834-4319-69B6-95892296EBB1}"/>
              </a:ext>
            </a:extLst>
          </p:cNvPr>
          <p:cNvCxnSpPr>
            <a:cxnSpLocks/>
            <a:stCxn id="7" idx="2"/>
            <a:endCxn id="16" idx="0"/>
          </p:cNvCxnSpPr>
          <p:nvPr/>
        </p:nvCxnSpPr>
        <p:spPr>
          <a:xfrm rot="5400000">
            <a:off x="1984858" y="2770944"/>
            <a:ext cx="754685" cy="127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0"/>
          <p:cNvSpPr/>
          <p:nvPr/>
        </p:nvSpPr>
        <p:spPr>
          <a:xfrm>
            <a:off x="228600" y="228600"/>
            <a:ext cx="44399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 err="1">
                <a:solidFill>
                  <a:srgbClr val="2C5F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진입</a:t>
            </a:r>
            <a:r>
              <a:rPr lang="en-US" sz="2250" b="1" dirty="0">
                <a:solidFill>
                  <a:srgbClr val="2C5F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250" b="1" dirty="0" err="1">
                <a:solidFill>
                  <a:srgbClr val="2C5F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흐름</a:t>
            </a:r>
            <a:r>
              <a:rPr lang="ko-KR" altLang="en-US" sz="2250" b="1" dirty="0">
                <a:solidFill>
                  <a:srgbClr val="2C5F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및 주요 기능</a:t>
            </a:r>
            <a:endParaRPr lang="en-US" sz="2250" dirty="0"/>
          </a:p>
        </p:txBody>
      </p:sp>
      <p:pic>
        <p:nvPicPr>
          <p:cNvPr id="3" name="Image 0" descr="/tmp/rasterized-gradient-669eb0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816412"/>
            <a:ext cx="8686800" cy="356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7749" y="869297"/>
            <a:ext cx="8588502" cy="215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스플래쉬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228600" y="1323602"/>
            <a:ext cx="8686800" cy="356160"/>
          </a:xfrm>
          <a:prstGeom prst="roundRect">
            <a:avLst>
              <a:gd name="adj" fmla="val 14286"/>
            </a:avLst>
          </a:prstGeom>
          <a:solidFill>
            <a:srgbClr val="ECF0F1"/>
          </a:solidFill>
          <a:ln w="19050">
            <a:solidFill>
              <a:srgbClr val="BDC3C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77749" y="1376487"/>
            <a:ext cx="8588502" cy="215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</a:t>
            </a:r>
            <a:r>
              <a:rPr lang="en-US" sz="1200" b="1" dirty="0" err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로그인</a:t>
            </a: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ko-KR" alt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여부 체크</a:t>
            </a:r>
            <a:endParaRPr lang="en-US" sz="1200" dirty="0"/>
          </a:p>
        </p:txBody>
      </p:sp>
      <p:pic>
        <p:nvPicPr>
          <p:cNvPr id="7" name="Image 1" descr="/tmp/rasterized-gradient-2138d57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1860047"/>
            <a:ext cx="4267200" cy="53355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1945" y="1951203"/>
            <a:ext cx="4080510" cy="177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체험모드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321945" y="2184765"/>
            <a:ext cx="4080510" cy="11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spcBef>
                <a:spcPts val="300"/>
              </a:spcBef>
              <a:buNone/>
            </a:pPr>
            <a:r>
              <a:rPr lang="en-US" sz="8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제한</a:t>
            </a: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8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기능</a:t>
            </a:r>
            <a:endParaRPr lang="en-US" sz="800" dirty="0"/>
          </a:p>
        </p:txBody>
      </p:sp>
      <p:pic>
        <p:nvPicPr>
          <p:cNvPr id="10" name="Image 2" descr="/tmp/rasterized-gradient-0229b0a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8200" y="1860047"/>
            <a:ext cx="4267200" cy="53355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741545" y="1951203"/>
            <a:ext cx="4080510" cy="177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로그인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4741545" y="2184765"/>
            <a:ext cx="4080510" cy="11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spcBef>
                <a:spcPts val="300"/>
              </a:spcBef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기능</a:t>
            </a:r>
            <a:endParaRPr lang="en-US" sz="800" dirty="0"/>
          </a:p>
        </p:txBody>
      </p:sp>
      <p:sp>
        <p:nvSpPr>
          <p:cNvPr id="14" name="Text 9"/>
          <p:cNvSpPr/>
          <p:nvPr/>
        </p:nvSpPr>
        <p:spPr>
          <a:xfrm>
            <a:off x="277749" y="2616412"/>
            <a:ext cx="8588502" cy="215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🏠 </a:t>
            </a:r>
            <a:r>
              <a:rPr lang="en-US" sz="1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메인</a:t>
            </a: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</a:t>
            </a:r>
            <a:endParaRPr lang="en-US" sz="1200" dirty="0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9C8AB264-6E36-9A43-2C93-2DAC972ABEE0}"/>
              </a:ext>
            </a:extLst>
          </p:cNvPr>
          <p:cNvGrpSpPr/>
          <p:nvPr/>
        </p:nvGrpSpPr>
        <p:grpSpPr>
          <a:xfrm>
            <a:off x="4648201" y="3152347"/>
            <a:ext cx="4267200" cy="685800"/>
            <a:chOff x="6558196" y="3344687"/>
            <a:chExt cx="2357203" cy="685800"/>
          </a:xfrm>
        </p:grpSpPr>
        <p:pic>
          <p:nvPicPr>
            <p:cNvPr id="19" name="Image 2" descr="/tmp/rasterized-gradient-0229b0a6.png">
              <a:extLst>
                <a:ext uri="{FF2B5EF4-FFF2-40B4-BE49-F238E27FC236}">
                  <a16:creationId xmlns:a16="http://schemas.microsoft.com/office/drawing/2014/main" id="{24ECD6D9-D751-7C7C-EE83-09AD14415FA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558196" y="3344687"/>
              <a:ext cx="2357203" cy="685800"/>
            </a:xfrm>
            <a:prstGeom prst="rect">
              <a:avLst/>
            </a:prstGeom>
          </p:spPr>
        </p:pic>
        <p:sp>
          <p:nvSpPr>
            <p:cNvPr id="20" name="Text 6">
              <a:extLst>
                <a:ext uri="{FF2B5EF4-FFF2-40B4-BE49-F238E27FC236}">
                  <a16:creationId xmlns:a16="http://schemas.microsoft.com/office/drawing/2014/main" id="{EA4BAE22-44E3-ABD5-662F-F3E80EA80332}"/>
                </a:ext>
              </a:extLst>
            </p:cNvPr>
            <p:cNvSpPr/>
            <p:nvPr/>
          </p:nvSpPr>
          <p:spPr>
            <a:xfrm>
              <a:off x="6567979" y="3478037"/>
              <a:ext cx="2254075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800"/>
                </a:lnSpc>
                <a:buNone/>
              </a:pPr>
              <a:r>
                <a:rPr lang="ko-KR" altLang="en-US" sz="1100" b="1" dirty="0">
                  <a:solidFill>
                    <a:srgbClr val="FFFFFF"/>
                  </a:solidFill>
                  <a:latin typeface="Arial" pitchFamily="34" charset="0"/>
                  <a:cs typeface="Arial" pitchFamily="34" charset="-120"/>
                </a:rPr>
                <a:t>커뮤니티</a:t>
              </a:r>
              <a:endParaRPr lang="en-US" sz="1100" dirty="0"/>
            </a:p>
          </p:txBody>
        </p:sp>
        <p:sp>
          <p:nvSpPr>
            <p:cNvPr id="21" name="Text 7">
              <a:extLst>
                <a:ext uri="{FF2B5EF4-FFF2-40B4-BE49-F238E27FC236}">
                  <a16:creationId xmlns:a16="http://schemas.microsoft.com/office/drawing/2014/main" id="{986DBEFC-5E76-B969-A111-BB6C78519B41}"/>
                </a:ext>
              </a:extLst>
            </p:cNvPr>
            <p:cNvSpPr/>
            <p:nvPr/>
          </p:nvSpPr>
          <p:spPr>
            <a:xfrm>
              <a:off x="6567979" y="3744737"/>
              <a:ext cx="2254075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200"/>
                </a:lnSpc>
                <a:spcBef>
                  <a:spcPts val="300"/>
                </a:spcBef>
                <a:buNone/>
              </a:pPr>
              <a:r>
                <a:rPr lang="ko-KR" altLang="en-US" sz="800" dirty="0">
                  <a:solidFill>
                    <a:srgbClr val="FFFFFF"/>
                  </a:solidFill>
                  <a:latin typeface="Arial" pitchFamily="34" charset="0"/>
                  <a:cs typeface="Arial" pitchFamily="34" charset="-120"/>
                </a:rPr>
                <a:t>환우들의 건강 관리 게시판 </a:t>
              </a:r>
              <a:r>
                <a:rPr lang="en-US" altLang="ko-KR" sz="800" dirty="0">
                  <a:solidFill>
                    <a:srgbClr val="FFFFFF"/>
                  </a:solidFill>
                  <a:latin typeface="Arial" pitchFamily="34" charset="0"/>
                  <a:cs typeface="Arial" pitchFamily="34" charset="-120"/>
                </a:rPr>
                <a:t>&amp;</a:t>
              </a:r>
              <a:r>
                <a:rPr lang="ko-KR" altLang="en-US" sz="800" dirty="0">
                  <a:solidFill>
                    <a:srgbClr val="FFFFFF"/>
                  </a:solidFill>
                  <a:latin typeface="Arial" pitchFamily="34" charset="0"/>
                  <a:cs typeface="Arial" pitchFamily="34" charset="-120"/>
                </a:rPr>
                <a:t> 챌린지</a:t>
              </a:r>
              <a:endParaRPr lang="en-US" sz="800" dirty="0"/>
            </a:p>
          </p:txBody>
        </p:sp>
      </p:grp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C36D165F-DC86-03A5-747A-57BEB8265FCD}"/>
              </a:ext>
            </a:extLst>
          </p:cNvPr>
          <p:cNvGrpSpPr/>
          <p:nvPr/>
        </p:nvGrpSpPr>
        <p:grpSpPr>
          <a:xfrm>
            <a:off x="228600" y="3148287"/>
            <a:ext cx="4267200" cy="685800"/>
            <a:chOff x="228599" y="3340627"/>
            <a:chExt cx="5160365" cy="685800"/>
          </a:xfrm>
        </p:grpSpPr>
        <p:pic>
          <p:nvPicPr>
            <p:cNvPr id="16" name="Image 2" descr="/tmp/rasterized-gradient-0229b0a6.png">
              <a:extLst>
                <a:ext uri="{FF2B5EF4-FFF2-40B4-BE49-F238E27FC236}">
                  <a16:creationId xmlns:a16="http://schemas.microsoft.com/office/drawing/2014/main" id="{DF37B3E3-84BA-BA2D-AD2F-657334348AB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28599" y="3340627"/>
              <a:ext cx="5160365" cy="685800"/>
            </a:xfrm>
            <a:prstGeom prst="rect">
              <a:avLst/>
            </a:prstGeom>
          </p:spPr>
        </p:pic>
        <p:sp>
          <p:nvSpPr>
            <p:cNvPr id="17" name="Text 6">
              <a:extLst>
                <a:ext uri="{FF2B5EF4-FFF2-40B4-BE49-F238E27FC236}">
                  <a16:creationId xmlns:a16="http://schemas.microsoft.com/office/drawing/2014/main" id="{B9ED4919-6771-7552-8AC9-97B8E56EA8D0}"/>
                </a:ext>
              </a:extLst>
            </p:cNvPr>
            <p:cNvSpPr/>
            <p:nvPr/>
          </p:nvSpPr>
          <p:spPr>
            <a:xfrm>
              <a:off x="305840" y="3473977"/>
              <a:ext cx="4934599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800"/>
                </a:lnSpc>
                <a:buNone/>
              </a:pPr>
              <a:r>
                <a:rPr lang="ko-KR" altLang="en-US" sz="1100" b="1" dirty="0">
                  <a:solidFill>
                    <a:srgbClr val="FFFFFF"/>
                  </a:solidFill>
                  <a:latin typeface="Arial" pitchFamily="34" charset="0"/>
                  <a:cs typeface="Arial" pitchFamily="34" charset="-120"/>
                </a:rPr>
                <a:t>지식 탐색 </a:t>
              </a:r>
              <a:r>
                <a:rPr lang="en-US" altLang="ko-KR" sz="1100" b="1" dirty="0">
                  <a:solidFill>
                    <a:srgbClr val="FFFFFF"/>
                  </a:solidFill>
                  <a:latin typeface="Arial" pitchFamily="34" charset="0"/>
                  <a:cs typeface="Arial" pitchFamily="34" charset="-120"/>
                </a:rPr>
                <a:t>&amp;</a:t>
              </a:r>
              <a:r>
                <a:rPr lang="ko-KR" altLang="en-US" sz="1100" b="1" dirty="0">
                  <a:solidFill>
                    <a:srgbClr val="FFFFFF"/>
                  </a:solidFill>
                  <a:latin typeface="Arial" pitchFamily="34" charset="0"/>
                  <a:cs typeface="Arial" pitchFamily="34" charset="-120"/>
                </a:rPr>
                <a:t> 학습</a:t>
              </a:r>
              <a:endParaRPr lang="en-US" sz="1100" dirty="0"/>
            </a:p>
          </p:txBody>
        </p:sp>
        <p:sp>
          <p:nvSpPr>
            <p:cNvPr id="18" name="Text 7">
              <a:extLst>
                <a:ext uri="{FF2B5EF4-FFF2-40B4-BE49-F238E27FC236}">
                  <a16:creationId xmlns:a16="http://schemas.microsoft.com/office/drawing/2014/main" id="{21401FAF-C1A1-EC11-D2DB-933EC2214FBC}"/>
                </a:ext>
              </a:extLst>
            </p:cNvPr>
            <p:cNvSpPr/>
            <p:nvPr/>
          </p:nvSpPr>
          <p:spPr>
            <a:xfrm>
              <a:off x="305840" y="3740677"/>
              <a:ext cx="4934599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200"/>
                </a:lnSpc>
                <a:spcBef>
                  <a:spcPts val="300"/>
                </a:spcBef>
                <a:buNone/>
              </a:pPr>
              <a:r>
                <a:rPr lang="ko-KR" altLang="en-US" sz="80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기초의료</a:t>
              </a:r>
              <a:r>
                <a:rPr lang="en-US" altLang="ko-KR" sz="80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/</a:t>
              </a:r>
              <a:r>
                <a:rPr lang="ko-KR" altLang="en-US" sz="80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식단 정보부터 심층지식까지 탐색 </a:t>
              </a:r>
              <a:r>
                <a:rPr lang="en-US" altLang="ko-KR" sz="80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&amp;</a:t>
              </a:r>
              <a:r>
                <a:rPr lang="ko-KR" altLang="en-US" sz="80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학습 </a:t>
              </a:r>
              <a:endParaRPr lang="en-US" sz="800" dirty="0"/>
            </a:p>
          </p:txBody>
        </p:sp>
      </p:grpSp>
      <p:pic>
        <p:nvPicPr>
          <p:cNvPr id="22" name="Image 2" descr="/tmp/rasterized-gradient-0229b0a6.png">
            <a:extLst>
              <a:ext uri="{FF2B5EF4-FFF2-40B4-BE49-F238E27FC236}">
                <a16:creationId xmlns:a16="http://schemas.microsoft.com/office/drawing/2014/main" id="{1D009847-8DED-BA17-CB9B-F1E2F69749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287" y="3996696"/>
            <a:ext cx="1368604" cy="829189"/>
          </a:xfrm>
          <a:prstGeom prst="rect">
            <a:avLst/>
          </a:prstGeom>
        </p:spPr>
      </p:pic>
      <p:sp>
        <p:nvSpPr>
          <p:cNvPr id="23" name="Text 6">
            <a:extLst>
              <a:ext uri="{FF2B5EF4-FFF2-40B4-BE49-F238E27FC236}">
                <a16:creationId xmlns:a16="http://schemas.microsoft.com/office/drawing/2014/main" id="{D52DB4AB-71DA-6E18-6EF0-88E4AB7B0127}"/>
              </a:ext>
            </a:extLst>
          </p:cNvPr>
          <p:cNvSpPr/>
          <p:nvPr/>
        </p:nvSpPr>
        <p:spPr>
          <a:xfrm>
            <a:off x="285246" y="4130047"/>
            <a:ext cx="1252621" cy="276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의료 정보 탐색</a:t>
            </a:r>
            <a:endParaRPr lang="en-US" sz="1100" dirty="0"/>
          </a:p>
        </p:txBody>
      </p:sp>
      <p:sp>
        <p:nvSpPr>
          <p:cNvPr id="24" name="Text 7">
            <a:extLst>
              <a:ext uri="{FF2B5EF4-FFF2-40B4-BE49-F238E27FC236}">
                <a16:creationId xmlns:a16="http://schemas.microsoft.com/office/drawing/2014/main" id="{A8EB104A-0930-88FA-B754-A8C9FDFE6830}"/>
              </a:ext>
            </a:extLst>
          </p:cNvPr>
          <p:cNvSpPr/>
          <p:nvPr/>
        </p:nvSpPr>
        <p:spPr>
          <a:xfrm>
            <a:off x="285246" y="4396747"/>
            <a:ext cx="1252621" cy="184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buNone/>
            </a:pPr>
            <a:r>
              <a:rPr lang="ko-KR" alt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기초의료 </a:t>
            </a:r>
            <a:r>
              <a:rPr lang="en-US" altLang="ko-KR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</a:t>
            </a:r>
          </a:p>
          <a:p>
            <a:pPr marL="0" indent="0" algn="ctr">
              <a:spcBef>
                <a:spcPts val="300"/>
              </a:spcBef>
              <a:buNone/>
            </a:pPr>
            <a:r>
              <a:rPr lang="ko-KR" alt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심층의료</a:t>
            </a:r>
            <a:r>
              <a:rPr lang="en-US" altLang="ko-KR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ko-KR" alt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논문</a:t>
            </a:r>
            <a:r>
              <a:rPr lang="en-US" altLang="ko-KR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800" dirty="0"/>
          </a:p>
        </p:txBody>
      </p:sp>
      <p:pic>
        <p:nvPicPr>
          <p:cNvPr id="28" name="Image 2" descr="/tmp/rasterized-gradient-0229b0a6.png">
            <a:extLst>
              <a:ext uri="{FF2B5EF4-FFF2-40B4-BE49-F238E27FC236}">
                <a16:creationId xmlns:a16="http://schemas.microsoft.com/office/drawing/2014/main" id="{4972A1EC-AC80-C0D4-B950-ABC6E2EAE4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3768" y="3996696"/>
            <a:ext cx="1368604" cy="829189"/>
          </a:xfrm>
          <a:prstGeom prst="rect">
            <a:avLst/>
          </a:prstGeom>
        </p:spPr>
      </p:pic>
      <p:sp>
        <p:nvSpPr>
          <p:cNvPr id="29" name="Text 6">
            <a:extLst>
              <a:ext uri="{FF2B5EF4-FFF2-40B4-BE49-F238E27FC236}">
                <a16:creationId xmlns:a16="http://schemas.microsoft.com/office/drawing/2014/main" id="{DD604652-66D0-A3A3-8EF7-791DD0C4455A}"/>
              </a:ext>
            </a:extLst>
          </p:cNvPr>
          <p:cNvSpPr/>
          <p:nvPr/>
        </p:nvSpPr>
        <p:spPr>
          <a:xfrm>
            <a:off x="1737726" y="4130047"/>
            <a:ext cx="1252621" cy="276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식단 정보 탐색</a:t>
            </a:r>
            <a:endParaRPr lang="en-US" sz="1100" dirty="0"/>
          </a:p>
        </p:txBody>
      </p:sp>
      <p:sp>
        <p:nvSpPr>
          <p:cNvPr id="30" name="Text 7">
            <a:extLst>
              <a:ext uri="{FF2B5EF4-FFF2-40B4-BE49-F238E27FC236}">
                <a16:creationId xmlns:a16="http://schemas.microsoft.com/office/drawing/2014/main" id="{7E193D85-D698-270E-1038-E6EA2459B061}"/>
              </a:ext>
            </a:extLst>
          </p:cNvPr>
          <p:cNvSpPr/>
          <p:nvPr/>
        </p:nvSpPr>
        <p:spPr>
          <a:xfrm>
            <a:off x="1737726" y="4396747"/>
            <a:ext cx="1252621" cy="184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buNone/>
            </a:pPr>
            <a:r>
              <a:rPr lang="ko-KR" alt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대체재료 추천</a:t>
            </a:r>
            <a:endParaRPr lang="en-US" altLang="ko-KR" sz="800" dirty="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spcBef>
                <a:spcPts val="300"/>
              </a:spcBef>
              <a:buNone/>
            </a:pPr>
            <a:r>
              <a:rPr lang="ko-KR" alt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레시피 생성</a:t>
            </a:r>
            <a:endParaRPr lang="en-US" sz="800" dirty="0"/>
          </a:p>
        </p:txBody>
      </p:sp>
      <p:pic>
        <p:nvPicPr>
          <p:cNvPr id="31" name="Image 2" descr="/tmp/rasterized-gradient-0229b0a6.png">
            <a:extLst>
              <a:ext uri="{FF2B5EF4-FFF2-40B4-BE49-F238E27FC236}">
                <a16:creationId xmlns:a16="http://schemas.microsoft.com/office/drawing/2014/main" id="{0EF0323C-F68F-281E-7162-D425DE3FDF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2826" y="3996696"/>
            <a:ext cx="1368604" cy="829189"/>
          </a:xfrm>
          <a:prstGeom prst="rect">
            <a:avLst/>
          </a:prstGeom>
        </p:spPr>
      </p:pic>
      <p:sp>
        <p:nvSpPr>
          <p:cNvPr id="32" name="Text 6">
            <a:extLst>
              <a:ext uri="{FF2B5EF4-FFF2-40B4-BE49-F238E27FC236}">
                <a16:creationId xmlns:a16="http://schemas.microsoft.com/office/drawing/2014/main" id="{3DE1ADF0-92B4-9D46-DB66-1D65D3BA5461}"/>
              </a:ext>
            </a:extLst>
          </p:cNvPr>
          <p:cNvSpPr/>
          <p:nvPr/>
        </p:nvSpPr>
        <p:spPr>
          <a:xfrm>
            <a:off x="3186783" y="4130047"/>
            <a:ext cx="1252621" cy="276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학습 문제 풀기</a:t>
            </a:r>
            <a:endParaRPr lang="en-US" sz="1100" dirty="0"/>
          </a:p>
        </p:txBody>
      </p:sp>
      <p:sp>
        <p:nvSpPr>
          <p:cNvPr id="33" name="Text 7">
            <a:extLst>
              <a:ext uri="{FF2B5EF4-FFF2-40B4-BE49-F238E27FC236}">
                <a16:creationId xmlns:a16="http://schemas.microsoft.com/office/drawing/2014/main" id="{502AEF8B-6B47-D000-F18F-D7906CE49673}"/>
              </a:ext>
            </a:extLst>
          </p:cNvPr>
          <p:cNvSpPr/>
          <p:nvPr/>
        </p:nvSpPr>
        <p:spPr>
          <a:xfrm>
            <a:off x="3122146" y="4396747"/>
            <a:ext cx="1368604" cy="276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buNone/>
            </a:pPr>
            <a:r>
              <a:rPr lang="ko-KR" alt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레벨별 문제 생성 </a:t>
            </a:r>
            <a:endParaRPr lang="en-US" altLang="ko-KR" sz="800" dirty="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spcBef>
                <a:spcPts val="300"/>
              </a:spcBef>
              <a:buNone/>
            </a:pPr>
            <a:r>
              <a:rPr lang="ko-KR" alt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레벨</a:t>
            </a:r>
            <a:r>
              <a:rPr lang="en-US" altLang="ko-KR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ko-KR" alt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포인트</a:t>
            </a:r>
            <a:endParaRPr lang="en-US" sz="800" dirty="0"/>
          </a:p>
        </p:txBody>
      </p:sp>
      <p:pic>
        <p:nvPicPr>
          <p:cNvPr id="50" name="Image 2" descr="/tmp/rasterized-gradient-0229b0a6.png">
            <a:extLst>
              <a:ext uri="{FF2B5EF4-FFF2-40B4-BE49-F238E27FC236}">
                <a16:creationId xmlns:a16="http://schemas.microsoft.com/office/drawing/2014/main" id="{42D32E37-B3F6-C7A6-5FB2-BF25765E7F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2807" y="3996696"/>
            <a:ext cx="1368604" cy="829189"/>
          </a:xfrm>
          <a:prstGeom prst="rect">
            <a:avLst/>
          </a:prstGeom>
        </p:spPr>
      </p:pic>
      <p:sp>
        <p:nvSpPr>
          <p:cNvPr id="51" name="Text 6">
            <a:extLst>
              <a:ext uri="{FF2B5EF4-FFF2-40B4-BE49-F238E27FC236}">
                <a16:creationId xmlns:a16="http://schemas.microsoft.com/office/drawing/2014/main" id="{40E0CD5B-D399-E60E-B578-D6DE21DC389A}"/>
              </a:ext>
            </a:extLst>
          </p:cNvPr>
          <p:cNvSpPr/>
          <p:nvPr/>
        </p:nvSpPr>
        <p:spPr>
          <a:xfrm>
            <a:off x="4716765" y="4130047"/>
            <a:ext cx="1252621" cy="276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800"/>
              </a:lnSpc>
            </a:pPr>
            <a:r>
              <a:rPr lang="ko-KR" altLang="en-US" sz="11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건강 기록</a:t>
            </a:r>
            <a:endParaRPr lang="en-US" altLang="ko-KR" sz="1100" dirty="0"/>
          </a:p>
        </p:txBody>
      </p:sp>
      <p:sp>
        <p:nvSpPr>
          <p:cNvPr id="52" name="Text 7">
            <a:extLst>
              <a:ext uri="{FF2B5EF4-FFF2-40B4-BE49-F238E27FC236}">
                <a16:creationId xmlns:a16="http://schemas.microsoft.com/office/drawing/2014/main" id="{207C5AB2-B3BC-556C-3B7B-3B88AEF2D3D5}"/>
              </a:ext>
            </a:extLst>
          </p:cNvPr>
          <p:cNvSpPr/>
          <p:nvPr/>
        </p:nvSpPr>
        <p:spPr>
          <a:xfrm>
            <a:off x="4716765" y="4396747"/>
            <a:ext cx="1252621" cy="184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spcBef>
                <a:spcPts val="300"/>
              </a:spcBef>
            </a:pPr>
            <a:r>
              <a:rPr lang="ko-KR" altLang="en-US" sz="80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신체</a:t>
            </a:r>
            <a:r>
              <a:rPr lang="en-US" altLang="ko-KR" sz="80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/</a:t>
            </a:r>
            <a:r>
              <a:rPr lang="ko-KR" altLang="en-US" sz="80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검진 수치 기록</a:t>
            </a:r>
            <a:endParaRPr lang="en-US" altLang="ko-KR" sz="800" dirty="0">
              <a:solidFill>
                <a:srgbClr val="FFFFFF"/>
              </a:solidFill>
              <a:latin typeface="Arial" pitchFamily="34" charset="0"/>
              <a:cs typeface="Arial" pitchFamily="34" charset="-120"/>
            </a:endParaRPr>
          </a:p>
          <a:p>
            <a:pPr algn="ctr">
              <a:spcBef>
                <a:spcPts val="300"/>
              </a:spcBef>
            </a:pPr>
            <a:r>
              <a:rPr lang="ko-KR" altLang="en-US" sz="80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식단</a:t>
            </a:r>
            <a:r>
              <a:rPr lang="en-US" altLang="ko-KR" sz="80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/</a:t>
            </a:r>
            <a:r>
              <a:rPr lang="ko-KR" altLang="en-US" sz="80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운동 기록</a:t>
            </a:r>
            <a:endParaRPr lang="en-US" altLang="ko-KR" sz="800" dirty="0"/>
          </a:p>
        </p:txBody>
      </p:sp>
      <p:pic>
        <p:nvPicPr>
          <p:cNvPr id="53" name="Image 2" descr="/tmp/rasterized-gradient-0229b0a6.png">
            <a:extLst>
              <a:ext uri="{FF2B5EF4-FFF2-40B4-BE49-F238E27FC236}">
                <a16:creationId xmlns:a16="http://schemas.microsoft.com/office/drawing/2014/main" id="{C2891366-AE7F-0E04-9D9A-90BED1A5AC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8648" y="3996696"/>
            <a:ext cx="1368604" cy="829189"/>
          </a:xfrm>
          <a:prstGeom prst="rect">
            <a:avLst/>
          </a:prstGeom>
        </p:spPr>
      </p:pic>
      <p:sp>
        <p:nvSpPr>
          <p:cNvPr id="54" name="Text 6">
            <a:extLst>
              <a:ext uri="{FF2B5EF4-FFF2-40B4-BE49-F238E27FC236}">
                <a16:creationId xmlns:a16="http://schemas.microsoft.com/office/drawing/2014/main" id="{CB2255B4-FB35-4664-7DAF-6B8CA0537BC6}"/>
              </a:ext>
            </a:extLst>
          </p:cNvPr>
          <p:cNvSpPr/>
          <p:nvPr/>
        </p:nvSpPr>
        <p:spPr>
          <a:xfrm>
            <a:off x="6172607" y="4130047"/>
            <a:ext cx="1252621" cy="276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챌린지</a:t>
            </a:r>
            <a:endParaRPr lang="en-US" sz="1100" dirty="0"/>
          </a:p>
        </p:txBody>
      </p:sp>
      <p:sp>
        <p:nvSpPr>
          <p:cNvPr id="55" name="Text 7">
            <a:extLst>
              <a:ext uri="{FF2B5EF4-FFF2-40B4-BE49-F238E27FC236}">
                <a16:creationId xmlns:a16="http://schemas.microsoft.com/office/drawing/2014/main" id="{CA47DC88-D705-388A-8F54-978243C393EE}"/>
              </a:ext>
            </a:extLst>
          </p:cNvPr>
          <p:cNvSpPr/>
          <p:nvPr/>
        </p:nvSpPr>
        <p:spPr>
          <a:xfrm>
            <a:off x="6172607" y="4396747"/>
            <a:ext cx="1252621" cy="184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buNone/>
            </a:pPr>
            <a:r>
              <a:rPr lang="ko-KR" alt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식단</a:t>
            </a:r>
            <a:r>
              <a:rPr lang="en-US" altLang="ko-KR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ko-KR" alt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운동 챌린지</a:t>
            </a:r>
            <a:endParaRPr lang="en-US" altLang="ko-KR" sz="800" dirty="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spcBef>
                <a:spcPts val="300"/>
              </a:spcBef>
              <a:buNone/>
            </a:pPr>
            <a:r>
              <a:rPr lang="ko-KR" alt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레벨</a:t>
            </a:r>
            <a:r>
              <a:rPr lang="en-US" altLang="ko-KR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ko-KR" altLang="en-US" sz="8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뱃지</a:t>
            </a:r>
            <a:r>
              <a:rPr lang="en-US" altLang="ko-KR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ko-KR" alt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포인트</a:t>
            </a:r>
            <a:endParaRPr lang="en-US" sz="800" dirty="0"/>
          </a:p>
        </p:txBody>
      </p:sp>
      <p:pic>
        <p:nvPicPr>
          <p:cNvPr id="57" name="Image 2" descr="/tmp/rasterized-gradient-0229b0a6.png">
            <a:extLst>
              <a:ext uri="{FF2B5EF4-FFF2-40B4-BE49-F238E27FC236}">
                <a16:creationId xmlns:a16="http://schemas.microsoft.com/office/drawing/2014/main" id="{08566899-AFB3-2D8D-F173-75F7CD8659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8546" y="3996696"/>
            <a:ext cx="1368604" cy="829189"/>
          </a:xfrm>
          <a:prstGeom prst="rect">
            <a:avLst/>
          </a:prstGeom>
        </p:spPr>
      </p:pic>
      <p:sp>
        <p:nvSpPr>
          <p:cNvPr id="58" name="Text 6">
            <a:extLst>
              <a:ext uri="{FF2B5EF4-FFF2-40B4-BE49-F238E27FC236}">
                <a16:creationId xmlns:a16="http://schemas.microsoft.com/office/drawing/2014/main" id="{25D9F54A-3906-EA91-BC36-C43BEE34C968}"/>
              </a:ext>
            </a:extLst>
          </p:cNvPr>
          <p:cNvSpPr/>
          <p:nvPr/>
        </p:nvSpPr>
        <p:spPr>
          <a:xfrm>
            <a:off x="7612505" y="4130047"/>
            <a:ext cx="1252621" cy="276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800"/>
              </a:lnSpc>
            </a:pPr>
            <a:r>
              <a:rPr lang="ko-KR" altLang="en-US" sz="11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게시판</a:t>
            </a:r>
            <a:r>
              <a:rPr lang="en-US" altLang="ko-KR" sz="11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/</a:t>
            </a:r>
            <a:r>
              <a:rPr lang="ko-KR" altLang="en-US" sz="11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설문</a:t>
            </a:r>
            <a:endParaRPr lang="en-US" altLang="ko-KR" sz="1100" dirty="0"/>
          </a:p>
        </p:txBody>
      </p:sp>
      <p:sp>
        <p:nvSpPr>
          <p:cNvPr id="59" name="Text 7">
            <a:extLst>
              <a:ext uri="{FF2B5EF4-FFF2-40B4-BE49-F238E27FC236}">
                <a16:creationId xmlns:a16="http://schemas.microsoft.com/office/drawing/2014/main" id="{A6577301-C7BE-34AF-BE0B-D78798730513}"/>
              </a:ext>
            </a:extLst>
          </p:cNvPr>
          <p:cNvSpPr/>
          <p:nvPr/>
        </p:nvSpPr>
        <p:spPr>
          <a:xfrm>
            <a:off x="7612505" y="4396747"/>
            <a:ext cx="1252621" cy="341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spcBef>
                <a:spcPts val="300"/>
              </a:spcBef>
            </a:pPr>
            <a:r>
              <a:rPr lang="ko-KR" alt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자유게시판 작성</a:t>
            </a:r>
            <a:endParaRPr lang="en-US" altLang="ko-KR" sz="800" dirty="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ctr">
              <a:spcBef>
                <a:spcPts val="300"/>
              </a:spcBef>
            </a:pPr>
            <a:r>
              <a:rPr lang="ko-KR" alt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설문조사 포인트 적립</a:t>
            </a:r>
            <a:endParaRPr lang="en-US" altLang="ko-KR" sz="800" dirty="0"/>
          </a:p>
        </p:txBody>
      </p: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B4B62C78-BB69-87FB-7E8D-4E168354F93C}"/>
              </a:ext>
            </a:extLst>
          </p:cNvPr>
          <p:cNvCxnSpPr>
            <a:cxnSpLocks/>
            <a:stCxn id="3" idx="2"/>
            <a:endCxn id="5" idx="0"/>
          </p:cNvCxnSpPr>
          <p:nvPr/>
        </p:nvCxnSpPr>
        <p:spPr>
          <a:xfrm>
            <a:off x="4572000" y="1172572"/>
            <a:ext cx="0" cy="1510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꺾인 연결선[E] 68">
            <a:extLst>
              <a:ext uri="{FF2B5EF4-FFF2-40B4-BE49-F238E27FC236}">
                <a16:creationId xmlns:a16="http://schemas.microsoft.com/office/drawing/2014/main" id="{25E9A378-4726-EB5F-4859-1BD62030D1BC}"/>
              </a:ext>
            </a:extLst>
          </p:cNvPr>
          <p:cNvCxnSpPr>
            <a:stCxn id="5" idx="2"/>
            <a:endCxn id="7" idx="0"/>
          </p:cNvCxnSpPr>
          <p:nvPr/>
        </p:nvCxnSpPr>
        <p:spPr>
          <a:xfrm rot="5400000">
            <a:off x="3376958" y="665004"/>
            <a:ext cx="180285" cy="22098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꺾인 연결선[E] 69">
            <a:extLst>
              <a:ext uri="{FF2B5EF4-FFF2-40B4-BE49-F238E27FC236}">
                <a16:creationId xmlns:a16="http://schemas.microsoft.com/office/drawing/2014/main" id="{506D4CB8-940C-4A96-D2C4-C2DFBC312957}"/>
              </a:ext>
            </a:extLst>
          </p:cNvPr>
          <p:cNvCxnSpPr>
            <a:cxnSpLocks/>
            <a:stCxn id="5" idx="2"/>
            <a:endCxn id="10" idx="0"/>
          </p:cNvCxnSpPr>
          <p:nvPr/>
        </p:nvCxnSpPr>
        <p:spPr>
          <a:xfrm rot="16200000" flipH="1">
            <a:off x="5586758" y="665004"/>
            <a:ext cx="180285" cy="22098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꺾인 연결선[E] 78">
            <a:extLst>
              <a:ext uri="{FF2B5EF4-FFF2-40B4-BE49-F238E27FC236}">
                <a16:creationId xmlns:a16="http://schemas.microsoft.com/office/drawing/2014/main" id="{C6121CC2-94BC-EDA0-BEFF-4EEDE640AE7D}"/>
              </a:ext>
            </a:extLst>
          </p:cNvPr>
          <p:cNvCxnSpPr>
            <a:cxnSpLocks/>
            <a:stCxn id="10" idx="2"/>
            <a:endCxn id="19" idx="0"/>
          </p:cNvCxnSpPr>
          <p:nvPr/>
        </p:nvCxnSpPr>
        <p:spPr>
          <a:xfrm rot="16200000" flipH="1">
            <a:off x="6402428" y="2772973"/>
            <a:ext cx="758745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꺾인 연결선[E] 81">
            <a:extLst>
              <a:ext uri="{FF2B5EF4-FFF2-40B4-BE49-F238E27FC236}">
                <a16:creationId xmlns:a16="http://schemas.microsoft.com/office/drawing/2014/main" id="{0B314846-3216-0E23-FA9A-800C9BA2255D}"/>
              </a:ext>
            </a:extLst>
          </p:cNvPr>
          <p:cNvCxnSpPr>
            <a:cxnSpLocks/>
            <a:stCxn id="10" idx="2"/>
            <a:endCxn id="16" idx="0"/>
          </p:cNvCxnSpPr>
          <p:nvPr/>
        </p:nvCxnSpPr>
        <p:spPr>
          <a:xfrm rot="5400000">
            <a:off x="4981800" y="1349601"/>
            <a:ext cx="756000" cy="2844000"/>
          </a:xfrm>
          <a:prstGeom prst="bentConnector3">
            <a:avLst>
              <a:gd name="adj1" fmla="val 80048"/>
            </a:avLst>
          </a:prstGeom>
          <a:ln w="31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꺾인 연결선[E] 88">
            <a:extLst>
              <a:ext uri="{FF2B5EF4-FFF2-40B4-BE49-F238E27FC236}">
                <a16:creationId xmlns:a16="http://schemas.microsoft.com/office/drawing/2014/main" id="{757D1C9D-88D8-8CB1-AD0C-591FD6409AB6}"/>
              </a:ext>
            </a:extLst>
          </p:cNvPr>
          <p:cNvCxnSpPr>
            <a:stCxn id="16" idx="2"/>
            <a:endCxn id="22" idx="0"/>
          </p:cNvCxnSpPr>
          <p:nvPr/>
        </p:nvCxnSpPr>
        <p:spPr>
          <a:xfrm rot="5400000">
            <a:off x="1552591" y="3187086"/>
            <a:ext cx="162609" cy="1456611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꺾인 연결선[E] 89">
            <a:extLst>
              <a:ext uri="{FF2B5EF4-FFF2-40B4-BE49-F238E27FC236}">
                <a16:creationId xmlns:a16="http://schemas.microsoft.com/office/drawing/2014/main" id="{C086713C-8294-F7D4-3536-FB9D311FAC6D}"/>
              </a:ext>
            </a:extLst>
          </p:cNvPr>
          <p:cNvCxnSpPr>
            <a:cxnSpLocks/>
            <a:stCxn id="16" idx="2"/>
            <a:endCxn id="31" idx="0"/>
          </p:cNvCxnSpPr>
          <p:nvPr/>
        </p:nvCxnSpPr>
        <p:spPr>
          <a:xfrm rot="16200000" flipH="1">
            <a:off x="3003360" y="3192927"/>
            <a:ext cx="162609" cy="144492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꺾인 연결선[E] 92">
            <a:extLst>
              <a:ext uri="{FF2B5EF4-FFF2-40B4-BE49-F238E27FC236}">
                <a16:creationId xmlns:a16="http://schemas.microsoft.com/office/drawing/2014/main" id="{3A259FCD-C9D0-6263-C375-C27F19A9BDD3}"/>
              </a:ext>
            </a:extLst>
          </p:cNvPr>
          <p:cNvCxnSpPr>
            <a:cxnSpLocks/>
            <a:stCxn id="16" idx="2"/>
            <a:endCxn id="28" idx="0"/>
          </p:cNvCxnSpPr>
          <p:nvPr/>
        </p:nvCxnSpPr>
        <p:spPr>
          <a:xfrm rot="5400000">
            <a:off x="2278831" y="3913326"/>
            <a:ext cx="162609" cy="413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꺾인 연결선[E] 95">
            <a:extLst>
              <a:ext uri="{FF2B5EF4-FFF2-40B4-BE49-F238E27FC236}">
                <a16:creationId xmlns:a16="http://schemas.microsoft.com/office/drawing/2014/main" id="{4CE71C19-6E2B-FBFE-7535-888516A23A6C}"/>
              </a:ext>
            </a:extLst>
          </p:cNvPr>
          <p:cNvCxnSpPr>
            <a:cxnSpLocks/>
            <a:endCxn id="50" idx="0"/>
          </p:cNvCxnSpPr>
          <p:nvPr/>
        </p:nvCxnSpPr>
        <p:spPr>
          <a:xfrm rot="5400000">
            <a:off x="5987496" y="3187760"/>
            <a:ext cx="158549" cy="1459322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꺾인 연결선[E] 96">
            <a:extLst>
              <a:ext uri="{FF2B5EF4-FFF2-40B4-BE49-F238E27FC236}">
                <a16:creationId xmlns:a16="http://schemas.microsoft.com/office/drawing/2014/main" id="{4F841604-DA17-3064-91DE-5F24F5FDA686}"/>
              </a:ext>
            </a:extLst>
          </p:cNvPr>
          <p:cNvCxnSpPr>
            <a:cxnSpLocks/>
            <a:endCxn id="57" idx="0"/>
          </p:cNvCxnSpPr>
          <p:nvPr/>
        </p:nvCxnSpPr>
        <p:spPr>
          <a:xfrm rot="16200000" flipH="1">
            <a:off x="7442680" y="3206527"/>
            <a:ext cx="158549" cy="1421787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꺾인 연결선[E] 97">
            <a:extLst>
              <a:ext uri="{FF2B5EF4-FFF2-40B4-BE49-F238E27FC236}">
                <a16:creationId xmlns:a16="http://schemas.microsoft.com/office/drawing/2014/main" id="{B051BF4F-362B-DC7D-015F-B5C16EC63BEC}"/>
              </a:ext>
            </a:extLst>
          </p:cNvPr>
          <p:cNvCxnSpPr>
            <a:cxnSpLocks/>
            <a:endCxn id="53" idx="0"/>
          </p:cNvCxnSpPr>
          <p:nvPr/>
        </p:nvCxnSpPr>
        <p:spPr>
          <a:xfrm rot="5400000">
            <a:off x="6722732" y="3908366"/>
            <a:ext cx="158549" cy="1811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모서리가 둥근 직사각형 36">
            <a:extLst>
              <a:ext uri="{FF2B5EF4-FFF2-40B4-BE49-F238E27FC236}">
                <a16:creationId xmlns:a16="http://schemas.microsoft.com/office/drawing/2014/main" id="{6A1C99BC-3F0C-3EEF-7ED3-67EF57E27B3B}"/>
              </a:ext>
            </a:extLst>
          </p:cNvPr>
          <p:cNvSpPr/>
          <p:nvPr/>
        </p:nvSpPr>
        <p:spPr>
          <a:xfrm>
            <a:off x="1219200" y="2616413"/>
            <a:ext cx="2232211" cy="25327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800" dirty="0">
                <a:solidFill>
                  <a:schemeClr val="bg1"/>
                </a:solidFill>
              </a:rPr>
              <a:t>사용자 유형 </a:t>
            </a:r>
            <a:r>
              <a:rPr kumimoji="1" lang="en-US" altLang="ko-KR" sz="800" dirty="0">
                <a:solidFill>
                  <a:schemeClr val="bg1"/>
                </a:solidFill>
              </a:rPr>
              <a:t>{</a:t>
            </a:r>
            <a:r>
              <a:rPr kumimoji="1" lang="ko-KR" altLang="en-US" sz="800" dirty="0">
                <a:solidFill>
                  <a:schemeClr val="bg1"/>
                </a:solidFill>
              </a:rPr>
              <a:t>일반인</a:t>
            </a:r>
            <a:r>
              <a:rPr kumimoji="1" lang="en-US" altLang="ko-KR" sz="800" dirty="0">
                <a:solidFill>
                  <a:schemeClr val="bg1"/>
                </a:solidFill>
              </a:rPr>
              <a:t>/</a:t>
            </a:r>
            <a:r>
              <a:rPr kumimoji="1" lang="ko-KR" altLang="en-US" sz="800" dirty="0" err="1">
                <a:solidFill>
                  <a:schemeClr val="bg1"/>
                </a:solidFill>
              </a:rPr>
              <a:t>질환자</a:t>
            </a:r>
            <a:r>
              <a:rPr kumimoji="1" lang="en-US" altLang="ko-KR" sz="800" dirty="0">
                <a:solidFill>
                  <a:schemeClr val="bg1"/>
                </a:solidFill>
              </a:rPr>
              <a:t>/</a:t>
            </a:r>
            <a:r>
              <a:rPr kumimoji="1" lang="ko-KR" altLang="en-US" sz="800" dirty="0">
                <a:solidFill>
                  <a:schemeClr val="bg1"/>
                </a:solidFill>
              </a:rPr>
              <a:t>연구자</a:t>
            </a:r>
            <a:r>
              <a:rPr kumimoji="1" lang="en-US" altLang="ko-KR" sz="800" dirty="0">
                <a:solidFill>
                  <a:schemeClr val="bg1"/>
                </a:solidFill>
              </a:rPr>
              <a:t>}</a:t>
            </a:r>
            <a:r>
              <a:rPr kumimoji="1" lang="ko-KR" altLang="en-US" sz="800" dirty="0">
                <a:solidFill>
                  <a:schemeClr val="bg1"/>
                </a:solidFill>
              </a:rPr>
              <a:t> 선택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7106364-8E28-B0E8-7065-9E648423F7EE}"/>
              </a:ext>
            </a:extLst>
          </p:cNvPr>
          <p:cNvSpPr txBox="1"/>
          <p:nvPr/>
        </p:nvSpPr>
        <p:spPr>
          <a:xfrm>
            <a:off x="7477252" y="4845457"/>
            <a:ext cx="149186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연구자들 설문조사 기능 활용</a:t>
            </a:r>
            <a:endParaRPr lang="ko-KR" alt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7832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00"/>
              </a:lnSpc>
            </a:pPr>
            <a:r>
              <a:rPr lang="en-US" sz="2250" b="1" dirty="0">
                <a:solidFill>
                  <a:srgbClr val="2C5F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</a:t>
            </a:r>
            <a:r>
              <a:rPr lang="ko-KR" altLang="en-US" sz="2250" b="1" dirty="0">
                <a:solidFill>
                  <a:srgbClr val="2C5F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일반인 </a:t>
            </a:r>
            <a:r>
              <a:rPr lang="en-US" altLang="ko-KR" sz="2250" b="1" dirty="0">
                <a:solidFill>
                  <a:srgbClr val="2C5F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</a:t>
            </a:r>
            <a:r>
              <a:rPr lang="ko-KR" altLang="en-US" sz="2250" b="1" dirty="0" err="1">
                <a:solidFill>
                  <a:srgbClr val="2C5F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노비스</a:t>
            </a:r>
            <a:r>
              <a:rPr lang="en-US" sz="2250" b="1" dirty="0">
                <a:solidFill>
                  <a:srgbClr val="2C5F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250" b="1" dirty="0" err="1">
                <a:solidFill>
                  <a:srgbClr val="2C5F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</a:t>
            </a:r>
            <a:r>
              <a:rPr lang="en-US" sz="2250" b="1" dirty="0">
                <a:solidFill>
                  <a:srgbClr val="2C5F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250" b="1" dirty="0" err="1">
                <a:solidFill>
                  <a:srgbClr val="2C5F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여정</a:t>
            </a:r>
            <a:r>
              <a:rPr lang="ko-KR" altLang="en-US" sz="2250" b="1" dirty="0">
                <a:solidFill>
                  <a:srgbClr val="2C5F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흐름도</a:t>
            </a:r>
            <a:endParaRPr lang="en-US" sz="2250" dirty="0"/>
          </a:p>
        </p:txBody>
      </p:sp>
      <p:sp>
        <p:nvSpPr>
          <p:cNvPr id="16" name="TextBox 15"/>
          <p:cNvSpPr txBox="1"/>
          <p:nvPr/>
        </p:nvSpPr>
        <p:spPr>
          <a:xfrm>
            <a:off x="457200" y="989700"/>
            <a:ext cx="41148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sz="1400" dirty="0"/>
            </a:br>
            <a:r>
              <a:rPr sz="1200" dirty="0"/>
              <a:t>1단계:</a:t>
            </a:r>
            <a:r>
              <a:rPr lang="ko-KR" altLang="en-US" sz="1200" dirty="0"/>
              <a:t> </a:t>
            </a:r>
            <a:r>
              <a:rPr sz="1200" dirty="0" err="1"/>
              <a:t>접속</a:t>
            </a:r>
            <a:r>
              <a:rPr sz="1200" dirty="0"/>
              <a:t> → </a:t>
            </a:r>
            <a:r>
              <a:rPr sz="1200" dirty="0" err="1"/>
              <a:t>스플래쉬</a:t>
            </a:r>
            <a:r>
              <a:rPr sz="1200" dirty="0"/>
              <a:t> </a:t>
            </a:r>
            <a:r>
              <a:rPr sz="1200" dirty="0" err="1"/>
              <a:t>화면</a:t>
            </a:r>
            <a:br>
              <a:rPr sz="1200" dirty="0"/>
            </a:br>
            <a:r>
              <a:rPr sz="1200" dirty="0"/>
              <a:t>2단계: </a:t>
            </a:r>
            <a:r>
              <a:rPr sz="1200" dirty="0" err="1"/>
              <a:t>체험모드</a:t>
            </a:r>
            <a:r>
              <a:rPr sz="1200" dirty="0"/>
              <a:t> </a:t>
            </a:r>
            <a:r>
              <a:rPr sz="1200" dirty="0" err="1"/>
              <a:t>선택</a:t>
            </a:r>
            <a:r>
              <a:rPr sz="1200" dirty="0"/>
              <a:t> (</a:t>
            </a:r>
            <a:r>
              <a:rPr sz="1200" dirty="0" err="1"/>
              <a:t>비로그인</a:t>
            </a:r>
            <a:r>
              <a:rPr sz="1200" dirty="0"/>
              <a:t>)</a:t>
            </a:r>
            <a:br>
              <a:rPr sz="1200" dirty="0"/>
            </a:br>
            <a:r>
              <a:rPr sz="1200" dirty="0"/>
              <a:t>3단계: </a:t>
            </a:r>
            <a:r>
              <a:rPr sz="1200" dirty="0" err="1"/>
              <a:t>메인</a:t>
            </a:r>
            <a:r>
              <a:rPr sz="1200" dirty="0"/>
              <a:t> </a:t>
            </a:r>
            <a:r>
              <a:rPr sz="1200" dirty="0" err="1"/>
              <a:t>화면</a:t>
            </a:r>
            <a:r>
              <a:rPr sz="1200" dirty="0"/>
              <a:t> </a:t>
            </a:r>
            <a:r>
              <a:rPr sz="1200" dirty="0" err="1"/>
              <a:t>진입</a:t>
            </a:r>
            <a:br>
              <a:rPr sz="1200" dirty="0"/>
            </a:br>
            <a:r>
              <a:rPr sz="1200" dirty="0"/>
              <a:t>   • </a:t>
            </a:r>
            <a:r>
              <a:rPr sz="1200" dirty="0" err="1"/>
              <a:t>의료</a:t>
            </a:r>
            <a:r>
              <a:rPr sz="1200" dirty="0"/>
              <a:t> </a:t>
            </a:r>
            <a:r>
              <a:rPr sz="1200" dirty="0" err="1"/>
              <a:t>정보</a:t>
            </a:r>
            <a:r>
              <a:rPr sz="1200" dirty="0"/>
              <a:t> </a:t>
            </a:r>
            <a:r>
              <a:rPr sz="1200" dirty="0" err="1"/>
              <a:t>탐색</a:t>
            </a:r>
            <a:r>
              <a:rPr sz="1200" dirty="0"/>
              <a:t> (</a:t>
            </a:r>
            <a:r>
              <a:rPr sz="1200" dirty="0" err="1"/>
              <a:t>제한적</a:t>
            </a:r>
            <a:r>
              <a:rPr sz="1200" dirty="0"/>
              <a:t> </a:t>
            </a:r>
            <a:r>
              <a:rPr sz="1200" dirty="0" err="1"/>
              <a:t>접근</a:t>
            </a:r>
            <a:r>
              <a:rPr sz="1200" dirty="0"/>
              <a:t>)</a:t>
            </a:r>
            <a:br>
              <a:rPr sz="1200" dirty="0"/>
            </a:br>
            <a:r>
              <a:rPr sz="1200" dirty="0"/>
              <a:t>   • </a:t>
            </a:r>
            <a:r>
              <a:rPr sz="1200" dirty="0" err="1"/>
              <a:t>식단</a:t>
            </a:r>
            <a:r>
              <a:rPr sz="1200" dirty="0"/>
              <a:t> </a:t>
            </a:r>
            <a:r>
              <a:rPr sz="1200" dirty="0" err="1"/>
              <a:t>정보</a:t>
            </a:r>
            <a:r>
              <a:rPr sz="1200" dirty="0"/>
              <a:t> </a:t>
            </a:r>
            <a:r>
              <a:rPr sz="1200" dirty="0" err="1"/>
              <a:t>탐색</a:t>
            </a:r>
            <a:r>
              <a:rPr sz="1200" dirty="0"/>
              <a:t> (</a:t>
            </a:r>
            <a:r>
              <a:rPr sz="1200" dirty="0" err="1"/>
              <a:t>제한적</a:t>
            </a:r>
            <a:r>
              <a:rPr sz="1200" dirty="0"/>
              <a:t> </a:t>
            </a:r>
            <a:r>
              <a:rPr sz="1200" dirty="0" err="1"/>
              <a:t>접근</a:t>
            </a:r>
            <a:r>
              <a:rPr sz="1200" dirty="0"/>
              <a:t>)</a:t>
            </a:r>
            <a:br>
              <a:rPr sz="1200" dirty="0"/>
            </a:br>
            <a:r>
              <a:rPr sz="1200" dirty="0"/>
              <a:t>   • </a:t>
            </a:r>
            <a:r>
              <a:rPr sz="1200" dirty="0" err="1"/>
              <a:t>학습</a:t>
            </a:r>
            <a:r>
              <a:rPr sz="1200" dirty="0"/>
              <a:t> </a:t>
            </a:r>
            <a:r>
              <a:rPr sz="1200" dirty="0" err="1"/>
              <a:t>문제</a:t>
            </a:r>
            <a:r>
              <a:rPr sz="1200" dirty="0"/>
              <a:t> </a:t>
            </a:r>
            <a:r>
              <a:rPr sz="1200" dirty="0" err="1"/>
              <a:t>풀기</a:t>
            </a:r>
            <a:r>
              <a:rPr sz="1200" dirty="0"/>
              <a:t> (</a:t>
            </a:r>
            <a:r>
              <a:rPr sz="1200" dirty="0" err="1"/>
              <a:t>일부</a:t>
            </a:r>
            <a:r>
              <a:rPr sz="1200" dirty="0"/>
              <a:t> </a:t>
            </a:r>
            <a:r>
              <a:rPr sz="1200" dirty="0" err="1"/>
              <a:t>기능</a:t>
            </a:r>
            <a:r>
              <a:rPr lang="en-US" altLang="ko-KR" sz="1200" dirty="0"/>
              <a:t>,</a:t>
            </a:r>
            <a:r>
              <a:rPr lang="ko-KR" altLang="en-US" sz="1200" dirty="0"/>
              <a:t> </a:t>
            </a:r>
            <a:r>
              <a:rPr lang="en-US" altLang="ko-KR" sz="1200" dirty="0"/>
              <a:t>1</a:t>
            </a:r>
            <a:r>
              <a:rPr lang="ko-KR" altLang="en-US" sz="1200" dirty="0" err="1"/>
              <a:t>분퀴즈</a:t>
            </a:r>
            <a:r>
              <a:rPr sz="1200" dirty="0"/>
              <a:t>)</a:t>
            </a:r>
            <a:br>
              <a:rPr sz="1200" dirty="0"/>
            </a:br>
            <a:r>
              <a:rPr sz="1200" dirty="0"/>
              <a:t>4단계: </a:t>
            </a:r>
            <a:r>
              <a:rPr sz="1200" dirty="0" err="1"/>
              <a:t>기능</a:t>
            </a:r>
            <a:r>
              <a:rPr sz="1200" dirty="0"/>
              <a:t> </a:t>
            </a:r>
            <a:r>
              <a:rPr sz="1200" dirty="0" err="1"/>
              <a:t>체험</a:t>
            </a:r>
            <a:r>
              <a:rPr sz="1200" dirty="0"/>
              <a:t> </a:t>
            </a:r>
            <a:r>
              <a:rPr sz="1200" dirty="0" err="1"/>
              <a:t>후</a:t>
            </a:r>
            <a:r>
              <a:rPr sz="1200" dirty="0"/>
              <a:t> </a:t>
            </a:r>
            <a:r>
              <a:rPr sz="1200" dirty="0" err="1"/>
              <a:t>회원가입</a:t>
            </a:r>
            <a:r>
              <a:rPr sz="1200" dirty="0"/>
              <a:t> </a:t>
            </a:r>
            <a:r>
              <a:rPr sz="1200" dirty="0" err="1"/>
              <a:t>유도</a:t>
            </a:r>
            <a:br>
              <a:rPr sz="1200" dirty="0"/>
            </a:br>
            <a:r>
              <a:rPr sz="1200" dirty="0"/>
              <a:t>5단계: </a:t>
            </a:r>
            <a:r>
              <a:rPr sz="1200" dirty="0" err="1"/>
              <a:t>회원가입</a:t>
            </a:r>
            <a:r>
              <a:rPr sz="1200" dirty="0"/>
              <a:t> → </a:t>
            </a:r>
            <a:r>
              <a:rPr sz="1200" dirty="0" err="1"/>
              <a:t>전체</a:t>
            </a:r>
            <a:r>
              <a:rPr sz="1200" dirty="0"/>
              <a:t> </a:t>
            </a:r>
            <a:r>
              <a:rPr sz="1200" dirty="0" err="1"/>
              <a:t>기능</a:t>
            </a:r>
            <a:r>
              <a:rPr sz="1200" dirty="0"/>
              <a:t> </a:t>
            </a:r>
            <a:r>
              <a:rPr sz="1200" dirty="0" err="1"/>
              <a:t>이용</a:t>
            </a:r>
            <a:br>
              <a:rPr sz="1200" dirty="0"/>
            </a:br>
            <a:endParaRPr sz="1400" dirty="0"/>
          </a:p>
        </p:txBody>
      </p:sp>
      <p:sp>
        <p:nvSpPr>
          <p:cNvPr id="17" name="TextBox 16"/>
          <p:cNvSpPr txBox="1"/>
          <p:nvPr/>
        </p:nvSpPr>
        <p:spPr>
          <a:xfrm>
            <a:off x="4572000" y="989700"/>
            <a:ext cx="41148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sz="1400" dirty="0"/>
            </a:br>
            <a:r>
              <a:rPr sz="1200" dirty="0"/>
              <a:t>1단계: </a:t>
            </a:r>
            <a:r>
              <a:rPr sz="1200" dirty="0" err="1"/>
              <a:t>접속</a:t>
            </a:r>
            <a:r>
              <a:rPr sz="1200" dirty="0"/>
              <a:t> → </a:t>
            </a:r>
            <a:r>
              <a:rPr sz="1200" dirty="0" err="1"/>
              <a:t>로그인</a:t>
            </a:r>
            <a:br>
              <a:rPr sz="1200" dirty="0"/>
            </a:br>
            <a:r>
              <a:rPr lang="en-US" altLang="ko-KR" sz="1200" dirty="0"/>
              <a:t>2</a:t>
            </a:r>
            <a:r>
              <a:rPr lang="ko-KR" altLang="en-US" sz="1200" dirty="0"/>
              <a:t>단계</a:t>
            </a:r>
            <a:r>
              <a:rPr lang="en-US" altLang="ko-KR" sz="1200" dirty="0"/>
              <a:t>:</a:t>
            </a:r>
            <a:r>
              <a:rPr lang="ko-KR" altLang="en-US" sz="1200" dirty="0"/>
              <a:t> 마이페이지 내 프로필 설정</a:t>
            </a:r>
            <a:r>
              <a:rPr lang="en-US" altLang="ko-KR" sz="1200" dirty="0"/>
              <a:t>,</a:t>
            </a:r>
          </a:p>
          <a:p>
            <a:r>
              <a:rPr lang="ko-KR" altLang="en-US" sz="1200" dirty="0"/>
              <a:t>레벨</a:t>
            </a:r>
            <a:r>
              <a:rPr lang="en-US" altLang="ko-KR" sz="1200" dirty="0"/>
              <a:t>/</a:t>
            </a:r>
            <a:r>
              <a:rPr lang="ko-KR" altLang="en-US" sz="1200" dirty="0"/>
              <a:t>포인트 조회</a:t>
            </a:r>
            <a:r>
              <a:rPr lang="en-US" altLang="ko-KR" sz="1200" dirty="0"/>
              <a:t>,</a:t>
            </a:r>
            <a:r>
              <a:rPr lang="ko-KR" altLang="en-US" sz="1200" dirty="0"/>
              <a:t> 프리미엄 여부 표출 </a:t>
            </a:r>
            <a:endParaRPr lang="en-US" sz="1200" dirty="0"/>
          </a:p>
          <a:p>
            <a:r>
              <a:rPr lang="en-US" altLang="ko-KR" sz="1200" dirty="0"/>
              <a:t>3</a:t>
            </a:r>
            <a:r>
              <a:rPr sz="1200" dirty="0"/>
              <a:t>단계: </a:t>
            </a:r>
            <a:r>
              <a:rPr sz="1200" dirty="0" err="1"/>
              <a:t>메인</a:t>
            </a:r>
            <a:r>
              <a:rPr sz="1200" dirty="0"/>
              <a:t> </a:t>
            </a:r>
            <a:r>
              <a:rPr sz="1200" dirty="0" err="1"/>
              <a:t>화면</a:t>
            </a:r>
            <a:r>
              <a:rPr sz="1200" dirty="0"/>
              <a:t> </a:t>
            </a:r>
            <a:r>
              <a:rPr sz="1200" dirty="0" err="1"/>
              <a:t>진입</a:t>
            </a:r>
            <a:br>
              <a:rPr sz="1200" dirty="0"/>
            </a:br>
            <a:r>
              <a:rPr lang="en-US" altLang="ko-KR" sz="1200" dirty="0"/>
              <a:t>4</a:t>
            </a:r>
            <a:r>
              <a:rPr sz="1200" dirty="0"/>
              <a:t>단계: </a:t>
            </a:r>
            <a:r>
              <a:rPr sz="1200" dirty="0" err="1"/>
              <a:t>주요</a:t>
            </a:r>
            <a:r>
              <a:rPr sz="1200" dirty="0"/>
              <a:t> </a:t>
            </a:r>
            <a:r>
              <a:rPr sz="1200" dirty="0" err="1"/>
              <a:t>기능</a:t>
            </a:r>
            <a:r>
              <a:rPr sz="1200" dirty="0"/>
              <a:t> </a:t>
            </a:r>
            <a:r>
              <a:rPr sz="1200" dirty="0" err="1"/>
              <a:t>이용</a:t>
            </a:r>
            <a:br>
              <a:rPr sz="1200" dirty="0"/>
            </a:br>
            <a:r>
              <a:rPr sz="1200" dirty="0"/>
              <a:t>   • </a:t>
            </a:r>
            <a:r>
              <a:rPr sz="1200" dirty="0" err="1"/>
              <a:t>의료</a:t>
            </a:r>
            <a:r>
              <a:rPr sz="1200" dirty="0"/>
              <a:t> </a:t>
            </a:r>
            <a:r>
              <a:rPr sz="1200" dirty="0" err="1"/>
              <a:t>정보</a:t>
            </a:r>
            <a:r>
              <a:rPr sz="1200" dirty="0"/>
              <a:t> </a:t>
            </a:r>
            <a:r>
              <a:rPr sz="1200" dirty="0" err="1"/>
              <a:t>탐색</a:t>
            </a:r>
            <a:r>
              <a:rPr sz="1200" dirty="0"/>
              <a:t>: </a:t>
            </a:r>
            <a:r>
              <a:rPr sz="1200" dirty="0" err="1"/>
              <a:t>기초</a:t>
            </a:r>
            <a:r>
              <a:rPr sz="1200" dirty="0"/>
              <a:t> </a:t>
            </a:r>
            <a:r>
              <a:rPr sz="1200" dirty="0" err="1"/>
              <a:t>의학</a:t>
            </a:r>
            <a:r>
              <a:rPr sz="1200" dirty="0"/>
              <a:t> </a:t>
            </a:r>
            <a:r>
              <a:rPr sz="1200" dirty="0" err="1"/>
              <a:t>정보</a:t>
            </a:r>
            <a:r>
              <a:rPr sz="1200" dirty="0"/>
              <a:t>, </a:t>
            </a:r>
            <a:r>
              <a:rPr sz="1200" dirty="0" err="1"/>
              <a:t>예방법</a:t>
            </a:r>
            <a:endParaRPr lang="en-US" sz="1200" dirty="0"/>
          </a:p>
          <a:p>
            <a:r>
              <a:rPr lang="en-US" altLang="ko-KR" sz="1200" dirty="0"/>
              <a:t>(FAQ </a:t>
            </a:r>
            <a:r>
              <a:rPr lang="ko-KR" altLang="en-US" sz="1200" dirty="0"/>
              <a:t>기반 카드뉴스</a:t>
            </a:r>
            <a:r>
              <a:rPr lang="en-US" altLang="ko-KR" sz="1200" dirty="0"/>
              <a:t>)</a:t>
            </a:r>
            <a:br>
              <a:rPr sz="1200" dirty="0"/>
            </a:br>
            <a:r>
              <a:rPr sz="1200" dirty="0"/>
              <a:t>   • </a:t>
            </a:r>
            <a:r>
              <a:rPr sz="1200" dirty="0" err="1"/>
              <a:t>식단</a:t>
            </a:r>
            <a:r>
              <a:rPr sz="1200" dirty="0"/>
              <a:t> </a:t>
            </a:r>
            <a:r>
              <a:rPr sz="1200" dirty="0" err="1"/>
              <a:t>정보</a:t>
            </a:r>
            <a:r>
              <a:rPr sz="1200" dirty="0"/>
              <a:t> </a:t>
            </a:r>
            <a:r>
              <a:rPr sz="1200" dirty="0" err="1"/>
              <a:t>탐색</a:t>
            </a:r>
            <a:r>
              <a:rPr sz="1200" dirty="0"/>
              <a:t>: </a:t>
            </a:r>
            <a:r>
              <a:rPr sz="1200" dirty="0" err="1"/>
              <a:t>건강</a:t>
            </a:r>
            <a:r>
              <a:rPr sz="1200" dirty="0"/>
              <a:t> </a:t>
            </a:r>
            <a:r>
              <a:rPr sz="1200" dirty="0" err="1"/>
              <a:t>식단</a:t>
            </a:r>
            <a:r>
              <a:rPr sz="1200" dirty="0"/>
              <a:t> </a:t>
            </a:r>
            <a:r>
              <a:rPr sz="1200" dirty="0" err="1"/>
              <a:t>추천</a:t>
            </a:r>
            <a:endParaRPr lang="en-US" sz="1200" dirty="0"/>
          </a:p>
          <a:p>
            <a:r>
              <a:rPr lang="en-US" altLang="ko-KR" sz="1200" dirty="0"/>
              <a:t>(FAQ </a:t>
            </a:r>
            <a:r>
              <a:rPr lang="ko-KR" altLang="en-US" sz="1200" dirty="0"/>
              <a:t>기반 카드뉴스</a:t>
            </a:r>
            <a:r>
              <a:rPr lang="en-US" altLang="ko-KR" sz="1200" dirty="0"/>
              <a:t>)</a:t>
            </a:r>
            <a:r>
              <a:rPr lang="en-US" sz="1200" dirty="0"/>
              <a:t> </a:t>
            </a:r>
            <a:br>
              <a:rPr sz="1200" dirty="0"/>
            </a:br>
            <a:r>
              <a:rPr sz="1200" dirty="0"/>
              <a:t>   • </a:t>
            </a:r>
            <a:r>
              <a:rPr sz="1200" dirty="0" err="1"/>
              <a:t>학습</a:t>
            </a:r>
            <a:r>
              <a:rPr sz="1200" dirty="0"/>
              <a:t> </a:t>
            </a:r>
            <a:r>
              <a:rPr sz="1200" dirty="0" err="1"/>
              <a:t>문제</a:t>
            </a:r>
            <a:r>
              <a:rPr sz="1200" dirty="0"/>
              <a:t> </a:t>
            </a:r>
            <a:r>
              <a:rPr sz="1200" dirty="0" err="1"/>
              <a:t>풀기</a:t>
            </a:r>
            <a:r>
              <a:rPr sz="1200" dirty="0"/>
              <a:t>: </a:t>
            </a:r>
            <a:r>
              <a:rPr sz="1200" dirty="0" err="1"/>
              <a:t>질환</a:t>
            </a:r>
            <a:r>
              <a:rPr sz="1200" dirty="0"/>
              <a:t> </a:t>
            </a:r>
            <a:r>
              <a:rPr sz="1200" dirty="0" err="1"/>
              <a:t>관련</a:t>
            </a:r>
            <a:r>
              <a:rPr sz="1200" dirty="0"/>
              <a:t> OX </a:t>
            </a:r>
            <a:r>
              <a:rPr sz="1200" dirty="0" err="1"/>
              <a:t>퀴즈</a:t>
            </a:r>
            <a:endParaRPr lang="en-US" sz="1200" dirty="0"/>
          </a:p>
          <a:p>
            <a:r>
              <a:rPr lang="en-US" altLang="ko-KR" sz="1200" dirty="0"/>
              <a:t>(</a:t>
            </a:r>
            <a:r>
              <a:rPr lang="ko-KR" altLang="en-US" sz="1200" dirty="0"/>
              <a:t>레벨별 퀴즈</a:t>
            </a:r>
            <a:r>
              <a:rPr lang="en-US" altLang="ko-KR" sz="1200" dirty="0"/>
              <a:t>,</a:t>
            </a:r>
            <a:r>
              <a:rPr lang="ko-KR" altLang="en-US" sz="1200" dirty="0"/>
              <a:t> 카드형 </a:t>
            </a:r>
            <a:r>
              <a:rPr lang="en-US" altLang="ko-KR" sz="1200" dirty="0"/>
              <a:t>UI,</a:t>
            </a:r>
            <a:r>
              <a:rPr lang="ko-KR" altLang="en-US" sz="1200" dirty="0"/>
              <a:t> 포인트 획득</a:t>
            </a:r>
            <a:r>
              <a:rPr lang="en-US" altLang="ko-KR" sz="1200" dirty="0"/>
              <a:t>)</a:t>
            </a:r>
            <a:br>
              <a:rPr sz="1200" dirty="0"/>
            </a:br>
            <a:r>
              <a:rPr sz="1200" dirty="0"/>
              <a:t>   • </a:t>
            </a:r>
            <a:r>
              <a:rPr lang="ko-KR" altLang="en-US" sz="1200" dirty="0"/>
              <a:t>커뮤니티</a:t>
            </a:r>
            <a:r>
              <a:rPr lang="en-US" altLang="ko-KR" sz="1200" dirty="0"/>
              <a:t>:</a:t>
            </a:r>
            <a:r>
              <a:rPr lang="ko-KR" altLang="en-US" sz="1200" dirty="0"/>
              <a:t> 설문조사</a:t>
            </a:r>
            <a:r>
              <a:rPr lang="en-US" altLang="ko-KR" sz="1200" dirty="0"/>
              <a:t>,</a:t>
            </a:r>
            <a:r>
              <a:rPr lang="ko-KR" altLang="en-US" sz="1200" dirty="0"/>
              <a:t> 포인트 적립</a:t>
            </a:r>
            <a:br>
              <a:rPr sz="1200" strike="sngStrike" dirty="0"/>
            </a:br>
            <a:r>
              <a:rPr sz="1200" dirty="0"/>
              <a:t>4단계: </a:t>
            </a:r>
            <a:r>
              <a:rPr sz="1200" dirty="0" err="1"/>
              <a:t>포인트</a:t>
            </a:r>
            <a:r>
              <a:rPr sz="1200" dirty="0"/>
              <a:t> </a:t>
            </a:r>
            <a:r>
              <a:rPr sz="1200" dirty="0" err="1"/>
              <a:t>획득</a:t>
            </a:r>
            <a:r>
              <a:rPr sz="1200" dirty="0"/>
              <a:t> </a:t>
            </a:r>
            <a:r>
              <a:rPr sz="1200" dirty="0" err="1"/>
              <a:t>및</a:t>
            </a:r>
            <a:r>
              <a:rPr sz="1200" dirty="0"/>
              <a:t> </a:t>
            </a:r>
            <a:r>
              <a:rPr sz="1200" dirty="0" err="1"/>
              <a:t>레벨업</a:t>
            </a:r>
            <a:br>
              <a:rPr sz="1200" dirty="0"/>
            </a:br>
            <a:r>
              <a:rPr lang="en-US" altLang="ko-KR" sz="1200" dirty="0"/>
              <a:t>5</a:t>
            </a:r>
            <a:r>
              <a:rPr lang="ko-KR" altLang="en-US" sz="1200" dirty="0"/>
              <a:t>단계</a:t>
            </a:r>
            <a:r>
              <a:rPr lang="en-US" altLang="ko-KR" sz="1200" dirty="0"/>
              <a:t>: </a:t>
            </a:r>
            <a:r>
              <a:rPr lang="ko-KR" altLang="en-US" sz="1200" dirty="0"/>
              <a:t>질환 진단 등록 시 프로필에서 </a:t>
            </a:r>
            <a:r>
              <a:rPr lang="ko-KR" altLang="en-US" sz="1200" dirty="0" err="1"/>
              <a:t>질환자</a:t>
            </a:r>
            <a:r>
              <a:rPr lang="ko-KR" altLang="en-US" sz="1200" dirty="0"/>
              <a:t> 모드로 전환</a:t>
            </a:r>
            <a:br>
              <a:rPr lang="ko-KR" altLang="en-US" sz="1200" dirty="0"/>
            </a:br>
            <a:endParaRPr sz="14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280A70E8-964D-DEE7-D364-D68843908DEC}"/>
              </a:ext>
            </a:extLst>
          </p:cNvPr>
          <p:cNvSpPr/>
          <p:nvPr/>
        </p:nvSpPr>
        <p:spPr>
          <a:xfrm>
            <a:off x="186690" y="807253"/>
            <a:ext cx="42748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체험모드 (비로그인)</a:t>
            </a:r>
            <a:endParaRPr lang="en-US" sz="1500" dirty="0"/>
          </a:p>
        </p:txBody>
      </p:sp>
      <p:sp>
        <p:nvSpPr>
          <p:cNvPr id="5" name="Text 13">
            <a:extLst>
              <a:ext uri="{FF2B5EF4-FFF2-40B4-BE49-F238E27FC236}">
                <a16:creationId xmlns:a16="http://schemas.microsoft.com/office/drawing/2014/main" id="{C636C78C-CA87-8E9C-F23E-C552EDE512FD}"/>
              </a:ext>
            </a:extLst>
          </p:cNvPr>
          <p:cNvSpPr/>
          <p:nvPr/>
        </p:nvSpPr>
        <p:spPr>
          <a:xfrm>
            <a:off x="4682490" y="807253"/>
            <a:ext cx="42748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로그인 회원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599" y="228600"/>
            <a:ext cx="680178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🏥</a:t>
            </a:r>
            <a:r>
              <a:rPr lang="ko-KR" altLang="en-US" sz="225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ko-KR" altLang="en-US" sz="2250" b="1" dirty="0" err="1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질환자</a:t>
            </a:r>
            <a:r>
              <a:rPr lang="ko-KR" altLang="en-US" sz="225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25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</a:t>
            </a:r>
            <a:r>
              <a:rPr lang="ko-KR" altLang="en-US" sz="225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경험자 </a:t>
            </a:r>
            <a:r>
              <a:rPr lang="en-US" sz="2250" b="1" dirty="0" err="1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</a:t>
            </a:r>
            <a:r>
              <a:rPr lang="en-US" sz="225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250" b="1" dirty="0" err="1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여정</a:t>
            </a:r>
            <a:r>
              <a:rPr lang="ko-KR" altLang="en-US" sz="225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흐름도</a:t>
            </a:r>
            <a:endParaRPr lang="en-US" sz="225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CE7152A3-72CA-D0BA-6789-75686BD3BD98}"/>
              </a:ext>
            </a:extLst>
          </p:cNvPr>
          <p:cNvSpPr/>
          <p:nvPr/>
        </p:nvSpPr>
        <p:spPr>
          <a:xfrm>
            <a:off x="186690" y="807253"/>
            <a:ext cx="42748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체험모드 (비로그인)</a:t>
            </a:r>
            <a:endParaRPr lang="en-US" sz="1500" dirty="0"/>
          </a:p>
        </p:txBody>
      </p:sp>
      <p:sp>
        <p:nvSpPr>
          <p:cNvPr id="7" name="Text 13">
            <a:extLst>
              <a:ext uri="{FF2B5EF4-FFF2-40B4-BE49-F238E27FC236}">
                <a16:creationId xmlns:a16="http://schemas.microsoft.com/office/drawing/2014/main" id="{EDF67DE3-B2BC-680C-55CE-80857948AF06}"/>
              </a:ext>
            </a:extLst>
          </p:cNvPr>
          <p:cNvSpPr/>
          <p:nvPr/>
        </p:nvSpPr>
        <p:spPr>
          <a:xfrm>
            <a:off x="4682490" y="807253"/>
            <a:ext cx="42748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로그인 회원</a:t>
            </a:r>
            <a:endParaRPr lang="en-US" sz="1500" dirty="0"/>
          </a:p>
        </p:txBody>
      </p:sp>
      <p:sp>
        <p:nvSpPr>
          <p:cNvPr id="8" name="TextBox 7"/>
          <p:cNvSpPr txBox="1"/>
          <p:nvPr/>
        </p:nvSpPr>
        <p:spPr>
          <a:xfrm>
            <a:off x="457200" y="1109620"/>
            <a:ext cx="4114800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 sz="1000"/>
            </a:pPr>
            <a:r>
              <a:rPr dirty="0"/>
              <a:t>1단계: </a:t>
            </a:r>
            <a:r>
              <a:rPr dirty="0" err="1"/>
              <a:t>접속</a:t>
            </a:r>
            <a:r>
              <a:rPr dirty="0"/>
              <a:t> → </a:t>
            </a:r>
            <a:r>
              <a:rPr dirty="0" err="1"/>
              <a:t>스플래쉬</a:t>
            </a:r>
            <a:r>
              <a:rPr dirty="0"/>
              <a:t> </a:t>
            </a:r>
            <a:r>
              <a:rPr dirty="0" err="1"/>
              <a:t>화면</a:t>
            </a:r>
            <a:br>
              <a:rPr dirty="0"/>
            </a:br>
            <a:r>
              <a:rPr dirty="0"/>
              <a:t>2단계: </a:t>
            </a:r>
            <a:r>
              <a:rPr dirty="0" err="1"/>
              <a:t>체험모드</a:t>
            </a:r>
            <a:r>
              <a:rPr dirty="0"/>
              <a:t> </a:t>
            </a:r>
            <a:r>
              <a:rPr dirty="0" err="1"/>
              <a:t>선택</a:t>
            </a:r>
            <a:r>
              <a:rPr dirty="0"/>
              <a:t> (</a:t>
            </a:r>
            <a:r>
              <a:rPr dirty="0" err="1"/>
              <a:t>비로그인</a:t>
            </a:r>
            <a:r>
              <a:rPr dirty="0"/>
              <a:t>)</a:t>
            </a:r>
            <a:br>
              <a:rPr dirty="0"/>
            </a:br>
            <a:r>
              <a:rPr dirty="0"/>
              <a:t>3단계: </a:t>
            </a:r>
            <a:r>
              <a:rPr dirty="0" err="1"/>
              <a:t>메인</a:t>
            </a:r>
            <a:r>
              <a:rPr dirty="0"/>
              <a:t> </a:t>
            </a:r>
            <a:r>
              <a:rPr dirty="0" err="1"/>
              <a:t>화면</a:t>
            </a:r>
            <a:r>
              <a:rPr dirty="0"/>
              <a:t> </a:t>
            </a:r>
            <a:r>
              <a:rPr dirty="0" err="1"/>
              <a:t>진입</a:t>
            </a:r>
            <a:br>
              <a:rPr dirty="0"/>
            </a:br>
            <a:r>
              <a:rPr dirty="0"/>
              <a:t>   • </a:t>
            </a:r>
            <a:r>
              <a:rPr dirty="0" err="1"/>
              <a:t>의료</a:t>
            </a:r>
            <a:r>
              <a:rPr dirty="0"/>
              <a:t> </a:t>
            </a:r>
            <a:r>
              <a:rPr dirty="0" err="1"/>
              <a:t>정보</a:t>
            </a:r>
            <a:r>
              <a:rPr dirty="0"/>
              <a:t> </a:t>
            </a:r>
            <a:r>
              <a:rPr dirty="0" err="1"/>
              <a:t>탐색</a:t>
            </a:r>
            <a:r>
              <a:rPr dirty="0"/>
              <a:t> (</a:t>
            </a:r>
            <a:r>
              <a:rPr dirty="0" err="1"/>
              <a:t>제한적</a:t>
            </a:r>
            <a:r>
              <a:rPr dirty="0"/>
              <a:t>)</a:t>
            </a:r>
            <a:br>
              <a:rPr dirty="0"/>
            </a:br>
            <a:r>
              <a:rPr dirty="0"/>
              <a:t>   • </a:t>
            </a:r>
            <a:r>
              <a:rPr dirty="0" err="1"/>
              <a:t>식단</a:t>
            </a:r>
            <a:r>
              <a:rPr dirty="0"/>
              <a:t> </a:t>
            </a:r>
            <a:r>
              <a:rPr dirty="0" err="1"/>
              <a:t>정보</a:t>
            </a:r>
            <a:r>
              <a:rPr dirty="0"/>
              <a:t> </a:t>
            </a:r>
            <a:r>
              <a:rPr dirty="0" err="1"/>
              <a:t>탐색</a:t>
            </a:r>
            <a:r>
              <a:rPr dirty="0"/>
              <a:t> (</a:t>
            </a:r>
            <a:r>
              <a:rPr dirty="0" err="1"/>
              <a:t>제한적</a:t>
            </a:r>
            <a:r>
              <a:rPr dirty="0"/>
              <a:t>)</a:t>
            </a:r>
            <a:br>
              <a:rPr dirty="0"/>
            </a:br>
            <a:r>
              <a:rPr dirty="0"/>
              <a:t>   • </a:t>
            </a:r>
            <a:r>
              <a:rPr dirty="0" err="1"/>
              <a:t>학습</a:t>
            </a:r>
            <a:r>
              <a:rPr dirty="0"/>
              <a:t> </a:t>
            </a:r>
            <a:r>
              <a:rPr dirty="0" err="1"/>
              <a:t>문제</a:t>
            </a:r>
            <a:r>
              <a:rPr dirty="0"/>
              <a:t> </a:t>
            </a:r>
            <a:r>
              <a:rPr dirty="0" err="1"/>
              <a:t>풀기</a:t>
            </a:r>
            <a:r>
              <a:rPr dirty="0"/>
              <a:t> (</a:t>
            </a:r>
            <a:r>
              <a:rPr dirty="0" err="1"/>
              <a:t>일부만</a:t>
            </a:r>
            <a:r>
              <a:rPr dirty="0"/>
              <a:t>)</a:t>
            </a:r>
            <a:br>
              <a:rPr dirty="0"/>
            </a:br>
            <a:r>
              <a:rPr dirty="0"/>
              <a:t>4단계: </a:t>
            </a:r>
            <a:r>
              <a:rPr dirty="0" err="1"/>
              <a:t>증상</a:t>
            </a:r>
            <a:r>
              <a:rPr dirty="0"/>
              <a:t> </a:t>
            </a:r>
            <a:r>
              <a:rPr dirty="0" err="1"/>
              <a:t>질문</a:t>
            </a:r>
            <a:r>
              <a:rPr dirty="0"/>
              <a:t> </a:t>
            </a:r>
            <a:r>
              <a:rPr dirty="0" err="1"/>
              <a:t>또는</a:t>
            </a:r>
            <a:r>
              <a:rPr dirty="0"/>
              <a:t> </a:t>
            </a:r>
            <a:r>
              <a:rPr dirty="0" err="1"/>
              <a:t>검진</a:t>
            </a:r>
            <a:r>
              <a:rPr dirty="0"/>
              <a:t> </a:t>
            </a:r>
            <a:r>
              <a:rPr dirty="0" err="1"/>
              <a:t>수치</a:t>
            </a:r>
            <a:r>
              <a:rPr dirty="0"/>
              <a:t> </a:t>
            </a:r>
            <a:r>
              <a:rPr dirty="0" err="1"/>
              <a:t>입력</a:t>
            </a:r>
            <a:r>
              <a:rPr dirty="0"/>
              <a:t> </a:t>
            </a:r>
            <a:r>
              <a:rPr dirty="0" err="1"/>
              <a:t>시도</a:t>
            </a:r>
            <a:br>
              <a:rPr dirty="0"/>
            </a:br>
            <a:r>
              <a:rPr dirty="0"/>
              <a:t>   → </a:t>
            </a:r>
            <a:r>
              <a:rPr dirty="0" err="1"/>
              <a:t>로그인</a:t>
            </a:r>
            <a:r>
              <a:rPr dirty="0"/>
              <a:t> </a:t>
            </a:r>
            <a:r>
              <a:rPr dirty="0" err="1"/>
              <a:t>유도</a:t>
            </a:r>
            <a:r>
              <a:rPr dirty="0"/>
              <a:t> </a:t>
            </a:r>
            <a:r>
              <a:rPr dirty="0" err="1"/>
              <a:t>메시지</a:t>
            </a:r>
            <a:r>
              <a:rPr dirty="0"/>
              <a:t> </a:t>
            </a:r>
            <a:r>
              <a:rPr dirty="0" err="1"/>
              <a:t>표시</a:t>
            </a:r>
            <a:br>
              <a:rPr dirty="0"/>
            </a:br>
            <a:r>
              <a:rPr dirty="0"/>
              <a:t>5단계: </a:t>
            </a:r>
            <a:r>
              <a:rPr dirty="0" err="1"/>
              <a:t>회원가입</a:t>
            </a:r>
            <a:r>
              <a:rPr dirty="0"/>
              <a:t> </a:t>
            </a:r>
            <a:r>
              <a:rPr dirty="0" err="1"/>
              <a:t>유도</a:t>
            </a:r>
            <a:r>
              <a:rPr dirty="0"/>
              <a:t> → </a:t>
            </a:r>
            <a:r>
              <a:rPr dirty="0" err="1"/>
              <a:t>로그인</a:t>
            </a:r>
            <a:r>
              <a:rPr dirty="0"/>
              <a:t> </a:t>
            </a:r>
            <a:r>
              <a:rPr dirty="0" err="1"/>
              <a:t>후</a:t>
            </a:r>
            <a:r>
              <a:rPr dirty="0"/>
              <a:t> </a:t>
            </a:r>
            <a:r>
              <a:rPr dirty="0" err="1"/>
              <a:t>전체</a:t>
            </a:r>
            <a:r>
              <a:rPr dirty="0"/>
              <a:t> </a:t>
            </a:r>
            <a:r>
              <a:rPr dirty="0" err="1"/>
              <a:t>기능</a:t>
            </a:r>
            <a:r>
              <a:rPr dirty="0"/>
              <a:t> </a:t>
            </a:r>
            <a:r>
              <a:rPr dirty="0" err="1"/>
              <a:t>이용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4572000" y="1109620"/>
            <a:ext cx="4114800" cy="2294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 sz="1000"/>
            </a:pPr>
            <a:r>
              <a:rPr dirty="0"/>
              <a:t>1단계: </a:t>
            </a:r>
            <a:r>
              <a:rPr dirty="0" err="1"/>
              <a:t>접속</a:t>
            </a:r>
            <a:r>
              <a:rPr dirty="0"/>
              <a:t> → </a:t>
            </a:r>
            <a:r>
              <a:rPr dirty="0" err="1"/>
              <a:t>로그인</a:t>
            </a:r>
            <a:br>
              <a:rPr dirty="0"/>
            </a:br>
            <a:r>
              <a:rPr dirty="0"/>
              <a:t>2단계: </a:t>
            </a:r>
            <a:r>
              <a:rPr dirty="0" err="1"/>
              <a:t>마이페이지에서</a:t>
            </a:r>
            <a:r>
              <a:rPr dirty="0"/>
              <a:t> </a:t>
            </a:r>
            <a:r>
              <a:rPr dirty="0" err="1"/>
              <a:t>프로필</a:t>
            </a:r>
            <a:r>
              <a:rPr dirty="0"/>
              <a:t> </a:t>
            </a:r>
            <a:r>
              <a:rPr dirty="0" err="1"/>
              <a:t>설정</a:t>
            </a:r>
            <a:br>
              <a:rPr dirty="0"/>
            </a:br>
            <a:r>
              <a:rPr dirty="0"/>
              <a:t>   • </a:t>
            </a:r>
            <a:r>
              <a:rPr lang="ko-KR" altLang="en-US" dirty="0"/>
              <a:t>성별</a:t>
            </a:r>
            <a:r>
              <a:rPr lang="en-US" altLang="ko-KR" dirty="0"/>
              <a:t>,</a:t>
            </a:r>
            <a:r>
              <a:rPr lang="ko-KR" altLang="en-US" dirty="0"/>
              <a:t> 키</a:t>
            </a:r>
            <a:r>
              <a:rPr lang="en-US" altLang="ko-KR" dirty="0"/>
              <a:t>,</a:t>
            </a:r>
            <a:r>
              <a:rPr lang="ko-KR" altLang="en-US" dirty="0"/>
              <a:t> 몸무게</a:t>
            </a:r>
            <a:br>
              <a:rPr dirty="0"/>
            </a:br>
            <a:r>
              <a:rPr dirty="0"/>
              <a:t>   • </a:t>
            </a:r>
            <a:r>
              <a:rPr lang="ko-KR" altLang="en-US" dirty="0"/>
              <a:t>검진 수치 입력 </a:t>
            </a:r>
            <a:r>
              <a:rPr lang="en-US" altLang="ko-KR" dirty="0"/>
              <a:t>(</a:t>
            </a:r>
            <a:r>
              <a:rPr lang="ko-KR" altLang="en-US" dirty="0" err="1"/>
              <a:t>크레아티닌</a:t>
            </a:r>
            <a:r>
              <a:rPr lang="en-US" altLang="ko-KR" dirty="0"/>
              <a:t>,</a:t>
            </a:r>
            <a:r>
              <a:rPr lang="ko-KR" altLang="en-US" dirty="0"/>
              <a:t> 알부민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dirty="0" err="1"/>
              <a:t>칼륨</a:t>
            </a:r>
            <a:r>
              <a:rPr dirty="0"/>
              <a:t>, </a:t>
            </a:r>
            <a:r>
              <a:rPr dirty="0" err="1"/>
              <a:t>인</a:t>
            </a:r>
            <a:r>
              <a:rPr dirty="0"/>
              <a:t>, </a:t>
            </a:r>
            <a:r>
              <a:rPr dirty="0" err="1"/>
              <a:t>콜레스테롤</a:t>
            </a:r>
            <a:r>
              <a:rPr dirty="0"/>
              <a:t> </a:t>
            </a:r>
            <a:r>
              <a:rPr lang="ko-KR" altLang="en-US" dirty="0"/>
              <a:t>등 </a:t>
            </a:r>
            <a:r>
              <a:rPr dirty="0" err="1"/>
              <a:t>수치</a:t>
            </a:r>
            <a:r>
              <a:rPr dirty="0"/>
              <a:t> </a:t>
            </a:r>
            <a:r>
              <a:rPr dirty="0" err="1"/>
              <a:t>기록</a:t>
            </a:r>
            <a:r>
              <a:rPr lang="ko-KR" altLang="en-US" dirty="0" err="1"/>
              <a:t>에</a:t>
            </a:r>
            <a:r>
              <a:rPr lang="ko-KR" altLang="en-US" dirty="0"/>
              <a:t> 따라 </a:t>
            </a:r>
            <a:r>
              <a:rPr lang="en-US" altLang="ko-KR" dirty="0"/>
              <a:t>eGFR </a:t>
            </a:r>
            <a:r>
              <a:rPr lang="ko-KR" altLang="en-US" dirty="0"/>
              <a:t>계산</a:t>
            </a:r>
            <a:r>
              <a:rPr lang="en-US" altLang="ko-KR" dirty="0"/>
              <a:t>)</a:t>
            </a:r>
            <a:br>
              <a:rPr dirty="0"/>
            </a:br>
            <a:r>
              <a:rPr dirty="0"/>
              <a:t>3단계: </a:t>
            </a:r>
            <a:r>
              <a:rPr dirty="0" err="1"/>
              <a:t>메인</a:t>
            </a:r>
            <a:r>
              <a:rPr dirty="0"/>
              <a:t> </a:t>
            </a:r>
            <a:r>
              <a:rPr dirty="0" err="1"/>
              <a:t>화면</a:t>
            </a:r>
            <a:r>
              <a:rPr dirty="0"/>
              <a:t> </a:t>
            </a:r>
            <a:r>
              <a:rPr dirty="0" err="1"/>
              <a:t>진입</a:t>
            </a:r>
            <a:br>
              <a:rPr dirty="0"/>
            </a:br>
            <a:r>
              <a:rPr dirty="0"/>
              <a:t>4단계: </a:t>
            </a:r>
            <a:r>
              <a:rPr dirty="0" err="1"/>
              <a:t>주요</a:t>
            </a:r>
            <a:r>
              <a:rPr dirty="0"/>
              <a:t> </a:t>
            </a:r>
            <a:r>
              <a:rPr dirty="0" err="1"/>
              <a:t>기능</a:t>
            </a:r>
            <a:r>
              <a:rPr dirty="0"/>
              <a:t> </a:t>
            </a:r>
            <a:r>
              <a:rPr dirty="0" err="1"/>
              <a:t>이용</a:t>
            </a:r>
            <a:br>
              <a:rPr dirty="0"/>
            </a:br>
            <a:r>
              <a:rPr dirty="0"/>
              <a:t>   • </a:t>
            </a:r>
            <a:r>
              <a:rPr lang="ko-KR" altLang="en-US" dirty="0"/>
              <a:t>질환 지식 탐색</a:t>
            </a:r>
            <a:r>
              <a:rPr dirty="0"/>
              <a:t>: </a:t>
            </a:r>
            <a:r>
              <a:rPr lang="ko-KR" altLang="en-US" dirty="0"/>
              <a:t>의료</a:t>
            </a:r>
            <a:r>
              <a:rPr lang="en-US" altLang="ko-KR" dirty="0"/>
              <a:t>/</a:t>
            </a:r>
            <a:r>
              <a:rPr lang="ko-KR" altLang="en-US" dirty="0"/>
              <a:t>복지 </a:t>
            </a:r>
            <a:r>
              <a:rPr dirty="0" err="1"/>
              <a:t>정보</a:t>
            </a:r>
            <a:r>
              <a:rPr lang="en-US" altLang="ko-KR" dirty="0"/>
              <a:t>,</a:t>
            </a:r>
            <a:r>
              <a:rPr dirty="0"/>
              <a:t> </a:t>
            </a:r>
            <a:r>
              <a:rPr lang="ko-KR" altLang="en-US" dirty="0"/>
              <a:t>심층 지식 </a:t>
            </a:r>
            <a:r>
              <a:rPr dirty="0" err="1"/>
              <a:t>검색</a:t>
            </a:r>
            <a:br>
              <a:rPr dirty="0"/>
            </a:br>
            <a:r>
              <a:rPr dirty="0"/>
              <a:t>   • </a:t>
            </a:r>
            <a:r>
              <a:rPr dirty="0" err="1"/>
              <a:t>식단</a:t>
            </a:r>
            <a:r>
              <a:rPr dirty="0"/>
              <a:t> </a:t>
            </a:r>
            <a:r>
              <a:rPr dirty="0" err="1"/>
              <a:t>정보</a:t>
            </a:r>
            <a:r>
              <a:rPr lang="ko-KR" altLang="en-US" dirty="0"/>
              <a:t> 탐색</a:t>
            </a:r>
            <a:r>
              <a:rPr dirty="0"/>
              <a:t>: </a:t>
            </a:r>
            <a:r>
              <a:rPr dirty="0" err="1"/>
              <a:t>대체재료</a:t>
            </a:r>
            <a:r>
              <a:rPr dirty="0"/>
              <a:t> </a:t>
            </a:r>
            <a:r>
              <a:rPr dirty="0" err="1"/>
              <a:t>추천</a:t>
            </a:r>
            <a:r>
              <a:rPr dirty="0"/>
              <a:t>, </a:t>
            </a:r>
            <a:r>
              <a:rPr dirty="0" err="1"/>
              <a:t>레시피</a:t>
            </a:r>
            <a:r>
              <a:rPr dirty="0"/>
              <a:t> </a:t>
            </a:r>
            <a:r>
              <a:rPr dirty="0" err="1"/>
              <a:t>생성</a:t>
            </a:r>
            <a:br>
              <a:rPr dirty="0"/>
            </a:br>
            <a:r>
              <a:rPr dirty="0"/>
              <a:t>   •</a:t>
            </a:r>
            <a:r>
              <a:rPr lang="ko-KR" altLang="en-US" dirty="0"/>
              <a:t> 학습 문제 풀기</a:t>
            </a:r>
            <a:r>
              <a:rPr lang="en-US" altLang="ko-KR" dirty="0"/>
              <a:t>: </a:t>
            </a:r>
            <a:r>
              <a:rPr lang="ko-KR" altLang="en-US" dirty="0"/>
              <a:t>레벨별 퀴즈 및 포인트 적립</a:t>
            </a:r>
            <a:br>
              <a:rPr dirty="0"/>
            </a:br>
            <a:r>
              <a:rPr dirty="0"/>
              <a:t>   • </a:t>
            </a:r>
            <a:r>
              <a:rPr lang="ko-KR" altLang="en-US" dirty="0"/>
              <a:t>커뮤니티 </a:t>
            </a:r>
            <a:r>
              <a:rPr dirty="0" err="1"/>
              <a:t>챌린지</a:t>
            </a:r>
            <a:r>
              <a:rPr dirty="0"/>
              <a:t>: </a:t>
            </a:r>
            <a:r>
              <a:rPr dirty="0" err="1"/>
              <a:t>식단</a:t>
            </a:r>
            <a:r>
              <a:rPr dirty="0"/>
              <a:t>/</a:t>
            </a:r>
            <a:r>
              <a:rPr dirty="0" err="1"/>
              <a:t>운동</a:t>
            </a:r>
            <a:r>
              <a:rPr dirty="0"/>
              <a:t> </a:t>
            </a:r>
            <a:r>
              <a:rPr dirty="0" err="1"/>
              <a:t>챌린지</a:t>
            </a:r>
            <a:r>
              <a:rPr dirty="0"/>
              <a:t> </a:t>
            </a:r>
            <a:r>
              <a:rPr dirty="0" err="1"/>
              <a:t>참여</a:t>
            </a:r>
            <a:r>
              <a:rPr dirty="0"/>
              <a:t> (</a:t>
            </a:r>
            <a:r>
              <a:rPr dirty="0" err="1"/>
              <a:t>뱃지</a:t>
            </a:r>
            <a:r>
              <a:rPr lang="en-US" altLang="ko-KR" dirty="0"/>
              <a:t>/</a:t>
            </a:r>
            <a:r>
              <a:rPr lang="ko-KR" altLang="en-US" dirty="0"/>
              <a:t>포인트</a:t>
            </a:r>
            <a:r>
              <a:rPr dirty="0"/>
              <a:t>)</a:t>
            </a:r>
            <a:br>
              <a:rPr dirty="0"/>
            </a:br>
            <a:r>
              <a:rPr dirty="0"/>
              <a:t>   •</a:t>
            </a:r>
            <a:r>
              <a:rPr lang="ko-KR" altLang="en-US" dirty="0"/>
              <a:t> 커뮤니티 게시판</a:t>
            </a:r>
            <a:r>
              <a:rPr lang="en-US" altLang="ko-KR" dirty="0"/>
              <a:t>:</a:t>
            </a:r>
            <a:r>
              <a:rPr lang="ko-KR" altLang="en-US" dirty="0"/>
              <a:t> 설문조사 참여 </a:t>
            </a:r>
            <a:r>
              <a:rPr lang="en-US" altLang="ko-KR" dirty="0"/>
              <a:t>(</a:t>
            </a:r>
            <a:r>
              <a:rPr lang="ko-KR" altLang="en-US" dirty="0" err="1"/>
              <a:t>뱃지</a:t>
            </a:r>
            <a:r>
              <a:rPr lang="en-US" altLang="ko-KR" dirty="0"/>
              <a:t>/</a:t>
            </a:r>
            <a:r>
              <a:rPr lang="ko-KR" altLang="en-US" dirty="0"/>
              <a:t>포인트</a:t>
            </a:r>
            <a:r>
              <a:rPr lang="en-US" altLang="ko-KR" dirty="0"/>
              <a:t>)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671184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🔬 </a:t>
            </a:r>
            <a:r>
              <a:rPr lang="ko-KR" altLang="en-US" sz="22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연구자 </a:t>
            </a:r>
            <a:r>
              <a:rPr lang="en-US" altLang="ko-KR" sz="22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</a:t>
            </a:r>
            <a:r>
              <a:rPr lang="ko-KR" altLang="en-US" sz="22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전문가  </a:t>
            </a:r>
            <a:r>
              <a:rPr lang="en-US" sz="2250" b="1" dirty="0" err="1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</a:t>
            </a:r>
            <a:r>
              <a:rPr lang="en-US" sz="22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250" b="1" dirty="0" err="1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여정</a:t>
            </a:r>
            <a:r>
              <a:rPr lang="ko-KR" altLang="en-US" sz="22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흐름도</a:t>
            </a:r>
            <a:endParaRPr lang="en-US" sz="2250"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1087135"/>
            <a:ext cx="4114800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 sz="1000"/>
            </a:pPr>
            <a:r>
              <a:rPr dirty="0"/>
              <a:t>1단계: </a:t>
            </a:r>
            <a:r>
              <a:rPr dirty="0" err="1"/>
              <a:t>접속</a:t>
            </a:r>
            <a:r>
              <a:rPr dirty="0"/>
              <a:t> → </a:t>
            </a:r>
            <a:r>
              <a:rPr dirty="0" err="1"/>
              <a:t>스플래쉬</a:t>
            </a:r>
            <a:r>
              <a:rPr dirty="0"/>
              <a:t> </a:t>
            </a:r>
            <a:r>
              <a:rPr dirty="0" err="1"/>
              <a:t>화면</a:t>
            </a:r>
            <a:br>
              <a:rPr dirty="0"/>
            </a:br>
            <a:r>
              <a:rPr dirty="0"/>
              <a:t>2단계: </a:t>
            </a:r>
            <a:r>
              <a:rPr dirty="0" err="1"/>
              <a:t>체험모드</a:t>
            </a:r>
            <a:r>
              <a:rPr dirty="0"/>
              <a:t> </a:t>
            </a:r>
            <a:r>
              <a:rPr dirty="0" err="1"/>
              <a:t>선택</a:t>
            </a:r>
            <a:r>
              <a:rPr dirty="0"/>
              <a:t> (</a:t>
            </a:r>
            <a:r>
              <a:rPr dirty="0" err="1"/>
              <a:t>비로그인</a:t>
            </a:r>
            <a:r>
              <a:rPr dirty="0"/>
              <a:t>)</a:t>
            </a:r>
            <a:br>
              <a:rPr dirty="0"/>
            </a:br>
            <a:r>
              <a:rPr dirty="0"/>
              <a:t>3단계: </a:t>
            </a:r>
            <a:r>
              <a:rPr dirty="0" err="1"/>
              <a:t>메인</a:t>
            </a:r>
            <a:r>
              <a:rPr dirty="0"/>
              <a:t> </a:t>
            </a:r>
            <a:r>
              <a:rPr dirty="0" err="1"/>
              <a:t>화면</a:t>
            </a:r>
            <a:r>
              <a:rPr dirty="0"/>
              <a:t> </a:t>
            </a:r>
            <a:r>
              <a:rPr dirty="0" err="1"/>
              <a:t>진입</a:t>
            </a:r>
            <a:br>
              <a:rPr dirty="0"/>
            </a:br>
            <a:r>
              <a:rPr dirty="0"/>
              <a:t>   • </a:t>
            </a:r>
            <a:r>
              <a:rPr dirty="0" err="1"/>
              <a:t>의료</a:t>
            </a:r>
            <a:r>
              <a:rPr dirty="0"/>
              <a:t> </a:t>
            </a:r>
            <a:r>
              <a:rPr dirty="0" err="1"/>
              <a:t>정보</a:t>
            </a:r>
            <a:r>
              <a:rPr dirty="0"/>
              <a:t> </a:t>
            </a:r>
            <a:r>
              <a:rPr dirty="0" err="1"/>
              <a:t>탐색</a:t>
            </a:r>
            <a:r>
              <a:rPr dirty="0"/>
              <a:t> (</a:t>
            </a:r>
            <a:r>
              <a:rPr dirty="0" err="1"/>
              <a:t>제한적</a:t>
            </a:r>
            <a:r>
              <a:rPr dirty="0"/>
              <a:t>)</a:t>
            </a:r>
            <a:br>
              <a:rPr dirty="0"/>
            </a:br>
            <a:r>
              <a:rPr dirty="0"/>
              <a:t>   • </a:t>
            </a:r>
            <a:r>
              <a:rPr dirty="0" err="1"/>
              <a:t>논문</a:t>
            </a:r>
            <a:r>
              <a:rPr dirty="0"/>
              <a:t> </a:t>
            </a:r>
            <a:r>
              <a:rPr dirty="0" err="1"/>
              <a:t>검색</a:t>
            </a:r>
            <a:r>
              <a:rPr dirty="0"/>
              <a:t> </a:t>
            </a:r>
            <a:r>
              <a:rPr dirty="0" err="1"/>
              <a:t>기능</a:t>
            </a:r>
            <a:r>
              <a:rPr dirty="0"/>
              <a:t> (</a:t>
            </a:r>
            <a:r>
              <a:rPr dirty="0" err="1"/>
              <a:t>일부만</a:t>
            </a:r>
            <a:r>
              <a:rPr dirty="0"/>
              <a:t> </a:t>
            </a:r>
            <a:r>
              <a:rPr dirty="0" err="1"/>
              <a:t>열람</a:t>
            </a:r>
            <a:r>
              <a:rPr dirty="0"/>
              <a:t> </a:t>
            </a:r>
            <a:r>
              <a:rPr dirty="0" err="1"/>
              <a:t>가능</a:t>
            </a:r>
            <a:r>
              <a:rPr dirty="0"/>
              <a:t>)</a:t>
            </a:r>
            <a:br>
              <a:rPr dirty="0"/>
            </a:br>
            <a:r>
              <a:rPr dirty="0"/>
              <a:t>4단계: </a:t>
            </a:r>
            <a:r>
              <a:rPr dirty="0" err="1"/>
              <a:t>논문</a:t>
            </a:r>
            <a:r>
              <a:rPr dirty="0"/>
              <a:t> </a:t>
            </a:r>
            <a:r>
              <a:rPr dirty="0" err="1"/>
              <a:t>전체</a:t>
            </a:r>
            <a:r>
              <a:rPr dirty="0"/>
              <a:t> </a:t>
            </a:r>
            <a:r>
              <a:rPr dirty="0" err="1"/>
              <a:t>열람</a:t>
            </a:r>
            <a:r>
              <a:rPr dirty="0"/>
              <a:t> </a:t>
            </a:r>
            <a:r>
              <a:rPr dirty="0" err="1"/>
              <a:t>또는</a:t>
            </a:r>
            <a:r>
              <a:rPr dirty="0"/>
              <a:t> </a:t>
            </a:r>
            <a:r>
              <a:rPr dirty="0" err="1"/>
              <a:t>비교</a:t>
            </a:r>
            <a:r>
              <a:rPr dirty="0"/>
              <a:t> </a:t>
            </a:r>
            <a:r>
              <a:rPr dirty="0" err="1"/>
              <a:t>분석</a:t>
            </a:r>
            <a:r>
              <a:rPr dirty="0"/>
              <a:t> </a:t>
            </a:r>
            <a:r>
              <a:rPr dirty="0" err="1"/>
              <a:t>시도</a:t>
            </a:r>
            <a:br>
              <a:rPr dirty="0"/>
            </a:br>
            <a:r>
              <a:rPr dirty="0"/>
              <a:t>   → </a:t>
            </a:r>
            <a:r>
              <a:rPr dirty="0" err="1"/>
              <a:t>로그인</a:t>
            </a:r>
            <a:r>
              <a:rPr dirty="0"/>
              <a:t> </a:t>
            </a:r>
            <a:r>
              <a:rPr dirty="0" err="1"/>
              <a:t>유도</a:t>
            </a:r>
            <a:r>
              <a:rPr dirty="0"/>
              <a:t> </a:t>
            </a:r>
            <a:r>
              <a:rPr dirty="0" err="1"/>
              <a:t>메시지</a:t>
            </a:r>
            <a:r>
              <a:rPr dirty="0"/>
              <a:t> </a:t>
            </a:r>
            <a:r>
              <a:rPr dirty="0" err="1"/>
              <a:t>표시</a:t>
            </a:r>
            <a:br>
              <a:rPr dirty="0"/>
            </a:br>
            <a:r>
              <a:rPr dirty="0"/>
              <a:t>5단계: </a:t>
            </a:r>
            <a:r>
              <a:rPr dirty="0" err="1"/>
              <a:t>회원가입</a:t>
            </a:r>
            <a:r>
              <a:rPr dirty="0"/>
              <a:t> </a:t>
            </a:r>
            <a:r>
              <a:rPr dirty="0" err="1"/>
              <a:t>유도</a:t>
            </a:r>
            <a:r>
              <a:rPr dirty="0"/>
              <a:t> → </a:t>
            </a:r>
            <a:r>
              <a:rPr dirty="0" err="1"/>
              <a:t>로그인</a:t>
            </a:r>
            <a:r>
              <a:rPr dirty="0"/>
              <a:t> </a:t>
            </a:r>
            <a:r>
              <a:rPr dirty="0" err="1"/>
              <a:t>후</a:t>
            </a:r>
            <a:r>
              <a:rPr dirty="0"/>
              <a:t> </a:t>
            </a:r>
            <a:r>
              <a:rPr dirty="0" err="1"/>
              <a:t>전체</a:t>
            </a:r>
            <a:r>
              <a:rPr dirty="0"/>
              <a:t> </a:t>
            </a:r>
            <a:r>
              <a:rPr dirty="0" err="1"/>
              <a:t>기능</a:t>
            </a:r>
            <a:r>
              <a:rPr dirty="0"/>
              <a:t> </a:t>
            </a:r>
            <a:r>
              <a:rPr dirty="0" err="1"/>
              <a:t>이용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4572000" y="1087135"/>
            <a:ext cx="4114800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 sz="1000"/>
            </a:pPr>
            <a:r>
              <a:t>1단계: 접속 → 로그인</a:t>
            </a:r>
            <a:br/>
            <a:r>
              <a:t>2단계: 마이페이지에서 연구자 프로필 설정</a:t>
            </a:r>
            <a:br/>
            <a:r>
              <a:t>   • 관심 연구 분야 선택</a:t>
            </a:r>
            <a:br/>
            <a:r>
              <a:t>   • 알림 설정 (최신 논문 트렌드)</a:t>
            </a:r>
            <a:br/>
            <a:r>
              <a:t>3단계: 메인 화면 진입</a:t>
            </a:r>
            <a:br/>
            <a:r>
              <a:t>4단계: 주요 기능 이용</a:t>
            </a:r>
            <a:br/>
            <a:r>
              <a:t>   • 최신 논문 검색: PubMed 기반 검색 및 요약</a:t>
            </a:r>
            <a:br/>
            <a:r>
              <a:t>   • 다중 논문 비교: 유사 논문 간 비교 분석</a:t>
            </a:r>
            <a:br/>
            <a:r>
              <a:t>   • 연구 트렌드: 시간별/키워드별 시각화</a:t>
            </a:r>
            <a:br/>
            <a:r>
              <a:t>   • RAG 기반 질의응답: 전문 논문 기반 심층 답변</a:t>
            </a:r>
            <a:br/>
            <a:r>
              <a:t>   • 논문 북마크: 관심 논문 저장 및 관리</a:t>
            </a:r>
            <a:br/>
            <a:r>
              <a:t>   • 데이터 인사이트: 연구 동향 대시보드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BB4D41D-BAC7-4B85-00AF-A64FAA38AC24}"/>
              </a:ext>
            </a:extLst>
          </p:cNvPr>
          <p:cNvSpPr/>
          <p:nvPr/>
        </p:nvSpPr>
        <p:spPr>
          <a:xfrm>
            <a:off x="186690" y="807253"/>
            <a:ext cx="42748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체험모드 (비로그인)</a:t>
            </a:r>
            <a:endParaRPr lang="en-US" sz="1500" dirty="0"/>
          </a:p>
        </p:txBody>
      </p:sp>
      <p:sp>
        <p:nvSpPr>
          <p:cNvPr id="8" name="Text 13">
            <a:extLst>
              <a:ext uri="{FF2B5EF4-FFF2-40B4-BE49-F238E27FC236}">
                <a16:creationId xmlns:a16="http://schemas.microsoft.com/office/drawing/2014/main" id="{926C065E-702B-BCE5-BA09-8E28782A31EC}"/>
              </a:ext>
            </a:extLst>
          </p:cNvPr>
          <p:cNvSpPr/>
          <p:nvPr/>
        </p:nvSpPr>
        <p:spPr>
          <a:xfrm>
            <a:off x="4682490" y="807253"/>
            <a:ext cx="42748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로그인 회원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8680E-81DC-491E-A86C-050EE2A24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EC8A7A3-138C-2ADB-93EA-6ADA10B0CFB7}"/>
              </a:ext>
            </a:extLst>
          </p:cNvPr>
          <p:cNvSpPr/>
          <p:nvPr/>
        </p:nvSpPr>
        <p:spPr>
          <a:xfrm>
            <a:off x="228600" y="228600"/>
            <a:ext cx="659648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00"/>
              </a:lnSpc>
            </a:pPr>
            <a:r>
              <a:rPr lang="en-US" sz="2250" b="1" dirty="0">
                <a:solidFill>
                  <a:srgbClr val="2C5F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</a:t>
            </a:r>
            <a:r>
              <a:rPr lang="ko-KR" altLang="en-US" sz="2250" b="1" dirty="0">
                <a:solidFill>
                  <a:srgbClr val="2C5F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일반인 </a:t>
            </a:r>
            <a:r>
              <a:rPr lang="en-US" altLang="ko-KR" sz="2250" b="1" dirty="0">
                <a:solidFill>
                  <a:srgbClr val="2C5F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</a:t>
            </a:r>
            <a:r>
              <a:rPr lang="ko-KR" altLang="en-US" sz="2250" b="1" dirty="0" err="1">
                <a:solidFill>
                  <a:srgbClr val="2C5F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노비스</a:t>
            </a:r>
            <a:r>
              <a:rPr lang="en-US" sz="2250" b="1" dirty="0">
                <a:solidFill>
                  <a:srgbClr val="2C5F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250" b="1" dirty="0" err="1">
                <a:solidFill>
                  <a:srgbClr val="2C5F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</a:t>
            </a:r>
            <a:r>
              <a:rPr lang="en-US" sz="2250" b="1" dirty="0">
                <a:solidFill>
                  <a:srgbClr val="2C5F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ko-KR" altLang="en-US" sz="2250" b="1" dirty="0">
                <a:solidFill>
                  <a:srgbClr val="2C5F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시나리오</a:t>
            </a:r>
            <a:endParaRPr lang="en-US" sz="2250" dirty="0"/>
          </a:p>
        </p:txBody>
      </p:sp>
      <p:sp>
        <p:nvSpPr>
          <p:cNvPr id="16" name="TextBox 15"/>
          <p:cNvSpPr txBox="1"/>
          <p:nvPr/>
        </p:nvSpPr>
        <p:spPr>
          <a:xfrm>
            <a:off x="457200" y="992350"/>
            <a:ext cx="4114800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sz="1200" dirty="0"/>
            </a:br>
            <a:r>
              <a:rPr sz="1200" dirty="0" err="1"/>
              <a:t>페르소나</a:t>
            </a:r>
            <a:r>
              <a:rPr sz="1200" dirty="0"/>
              <a:t>: </a:t>
            </a:r>
            <a:r>
              <a:rPr sz="1200" dirty="0" err="1"/>
              <a:t>김미래</a:t>
            </a:r>
            <a:r>
              <a:rPr sz="1200" dirty="0"/>
              <a:t> (35세, </a:t>
            </a:r>
            <a:r>
              <a:rPr sz="1200" dirty="0" err="1"/>
              <a:t>직장인</a:t>
            </a:r>
            <a:r>
              <a:rPr sz="1200" dirty="0"/>
              <a:t>)</a:t>
            </a:r>
            <a:br>
              <a:rPr sz="1200" dirty="0"/>
            </a:br>
            <a:r>
              <a:rPr sz="1200" dirty="0" err="1"/>
              <a:t>상황</a:t>
            </a:r>
            <a:r>
              <a:rPr sz="1200" dirty="0"/>
              <a:t>: </a:t>
            </a:r>
            <a:r>
              <a:rPr sz="1200" dirty="0" err="1"/>
              <a:t>최근</a:t>
            </a:r>
            <a:r>
              <a:rPr sz="1200" dirty="0"/>
              <a:t> </a:t>
            </a:r>
            <a:r>
              <a:rPr sz="1200" dirty="0" err="1"/>
              <a:t>건강검진에서</a:t>
            </a:r>
            <a:r>
              <a:rPr sz="1200" dirty="0"/>
              <a:t> </a:t>
            </a:r>
            <a:r>
              <a:rPr sz="1200" dirty="0" err="1"/>
              <a:t>신장</a:t>
            </a:r>
            <a:r>
              <a:rPr sz="1200" dirty="0"/>
              <a:t> </a:t>
            </a:r>
            <a:r>
              <a:rPr sz="1200" dirty="0" err="1"/>
              <a:t>수치가</a:t>
            </a:r>
            <a:r>
              <a:rPr sz="1200" dirty="0"/>
              <a:t> </a:t>
            </a:r>
            <a:r>
              <a:rPr sz="1200" dirty="0" err="1"/>
              <a:t>경계선</a:t>
            </a:r>
            <a:r>
              <a:rPr sz="1200" dirty="0"/>
              <a:t>. </a:t>
            </a:r>
            <a:br>
              <a:rPr sz="1200" dirty="0"/>
            </a:br>
            <a:r>
              <a:rPr lang="ko-KR" altLang="en-US" sz="1200" dirty="0"/>
              <a:t>신장병에</a:t>
            </a:r>
            <a:r>
              <a:rPr sz="1200" dirty="0"/>
              <a:t> </a:t>
            </a:r>
            <a:r>
              <a:rPr sz="1200" dirty="0" err="1"/>
              <a:t>대해</a:t>
            </a:r>
            <a:r>
              <a:rPr sz="1200" dirty="0"/>
              <a:t> </a:t>
            </a:r>
            <a:r>
              <a:rPr sz="1200" dirty="0" err="1"/>
              <a:t>알고</a:t>
            </a:r>
            <a:r>
              <a:rPr sz="1200" dirty="0"/>
              <a:t> </a:t>
            </a:r>
            <a:r>
              <a:rPr sz="1200" dirty="0" err="1"/>
              <a:t>싶지만</a:t>
            </a:r>
            <a:r>
              <a:rPr sz="1200" dirty="0"/>
              <a:t> </a:t>
            </a:r>
            <a:r>
              <a:rPr sz="1200" dirty="0" err="1"/>
              <a:t>의학</a:t>
            </a:r>
            <a:r>
              <a:rPr sz="1200" dirty="0"/>
              <a:t> </a:t>
            </a:r>
            <a:r>
              <a:rPr sz="1200" dirty="0" err="1"/>
              <a:t>용어가</a:t>
            </a:r>
            <a:r>
              <a:rPr sz="1200" dirty="0"/>
              <a:t> </a:t>
            </a:r>
            <a:r>
              <a:rPr sz="1200" dirty="0" err="1"/>
              <a:t>어려움</a:t>
            </a:r>
            <a:r>
              <a:rPr sz="1200" dirty="0"/>
              <a:t>.</a:t>
            </a:r>
            <a:br>
              <a:rPr sz="1200" dirty="0"/>
            </a:br>
            <a:br>
              <a:rPr sz="1200" dirty="0"/>
            </a:br>
            <a:r>
              <a:rPr sz="1200" dirty="0" err="1"/>
              <a:t>행동</a:t>
            </a:r>
            <a:r>
              <a:rPr sz="1200" dirty="0"/>
              <a:t> </a:t>
            </a:r>
            <a:r>
              <a:rPr sz="1200" dirty="0" err="1"/>
              <a:t>흐름</a:t>
            </a:r>
            <a:r>
              <a:rPr sz="1200" dirty="0"/>
              <a:t>:</a:t>
            </a:r>
            <a:br>
              <a:rPr sz="1200" dirty="0"/>
            </a:br>
            <a:r>
              <a:rPr sz="1200" dirty="0"/>
              <a:t>1. </a:t>
            </a:r>
            <a:r>
              <a:rPr sz="1200" dirty="0" err="1"/>
              <a:t>앱</a:t>
            </a:r>
            <a:r>
              <a:rPr sz="1200" dirty="0"/>
              <a:t> </a:t>
            </a:r>
            <a:r>
              <a:rPr sz="1200" dirty="0" err="1"/>
              <a:t>다운로드</a:t>
            </a:r>
            <a:r>
              <a:rPr sz="1200" dirty="0"/>
              <a:t> </a:t>
            </a:r>
            <a:r>
              <a:rPr sz="1200" dirty="0" err="1"/>
              <a:t>후</a:t>
            </a:r>
            <a:r>
              <a:rPr sz="1200" dirty="0"/>
              <a:t> </a:t>
            </a:r>
            <a:r>
              <a:rPr sz="1200" dirty="0" err="1"/>
              <a:t>체험모드로</a:t>
            </a:r>
            <a:r>
              <a:rPr sz="1200" dirty="0"/>
              <a:t> </a:t>
            </a:r>
            <a:r>
              <a:rPr sz="1200" dirty="0" err="1"/>
              <a:t>접속</a:t>
            </a:r>
            <a:br>
              <a:rPr sz="1200" dirty="0"/>
            </a:br>
            <a:r>
              <a:rPr sz="1200" dirty="0"/>
              <a:t>2. "</a:t>
            </a:r>
            <a:r>
              <a:rPr sz="1200" dirty="0" err="1"/>
              <a:t>신장</a:t>
            </a:r>
            <a:r>
              <a:rPr sz="1200" dirty="0"/>
              <a:t> </a:t>
            </a:r>
            <a:r>
              <a:rPr sz="1200" dirty="0" err="1"/>
              <a:t>건강이</a:t>
            </a:r>
            <a:r>
              <a:rPr sz="1200" dirty="0"/>
              <a:t> </a:t>
            </a:r>
            <a:r>
              <a:rPr sz="1200" dirty="0" err="1"/>
              <a:t>안</a:t>
            </a:r>
            <a:r>
              <a:rPr sz="1200" dirty="0"/>
              <a:t> </a:t>
            </a:r>
            <a:r>
              <a:rPr sz="1200" dirty="0" err="1"/>
              <a:t>좋다는데</a:t>
            </a:r>
            <a:r>
              <a:rPr sz="1200" dirty="0"/>
              <a:t> </a:t>
            </a:r>
            <a:r>
              <a:rPr sz="1200" dirty="0" err="1"/>
              <a:t>어떻게</a:t>
            </a:r>
            <a:r>
              <a:rPr sz="1200" dirty="0"/>
              <a:t> </a:t>
            </a:r>
            <a:r>
              <a:rPr sz="1200" dirty="0" err="1"/>
              <a:t>해야</a:t>
            </a:r>
            <a:r>
              <a:rPr sz="1200" dirty="0"/>
              <a:t> </a:t>
            </a:r>
            <a:r>
              <a:rPr sz="1200" dirty="0" err="1"/>
              <a:t>하나요</a:t>
            </a:r>
            <a:r>
              <a:rPr sz="1200" dirty="0"/>
              <a:t>?" </a:t>
            </a:r>
            <a:r>
              <a:rPr sz="1200" dirty="0" err="1"/>
              <a:t>질문</a:t>
            </a:r>
            <a:br>
              <a:rPr sz="1200" dirty="0"/>
            </a:br>
            <a:r>
              <a:rPr sz="1200" dirty="0"/>
              <a:t>3. </a:t>
            </a:r>
            <a:r>
              <a:rPr sz="1200" dirty="0" err="1"/>
              <a:t>AI가</a:t>
            </a:r>
            <a:r>
              <a:rPr sz="1200" dirty="0"/>
              <a:t> </a:t>
            </a:r>
            <a:r>
              <a:rPr sz="1200" dirty="0" err="1"/>
              <a:t>쉬운</a:t>
            </a:r>
            <a:r>
              <a:rPr sz="1200" dirty="0"/>
              <a:t> </a:t>
            </a:r>
            <a:r>
              <a:rPr sz="1200" dirty="0" err="1"/>
              <a:t>용어로</a:t>
            </a:r>
            <a:r>
              <a:rPr sz="1200" dirty="0"/>
              <a:t> CKD </a:t>
            </a:r>
            <a:r>
              <a:rPr sz="1200" dirty="0" err="1"/>
              <a:t>기초</a:t>
            </a:r>
            <a:r>
              <a:rPr sz="1200" dirty="0"/>
              <a:t> </a:t>
            </a:r>
            <a:r>
              <a:rPr sz="1200" dirty="0" err="1"/>
              <a:t>정보</a:t>
            </a:r>
            <a:r>
              <a:rPr sz="1200" dirty="0"/>
              <a:t> </a:t>
            </a:r>
            <a:r>
              <a:rPr sz="1200" dirty="0" err="1"/>
              <a:t>제공</a:t>
            </a:r>
            <a:br>
              <a:rPr sz="1200" dirty="0"/>
            </a:br>
            <a:r>
              <a:rPr sz="1200" dirty="0"/>
              <a:t>4. </a:t>
            </a:r>
            <a:r>
              <a:rPr sz="1200" dirty="0" err="1"/>
              <a:t>예방</a:t>
            </a:r>
            <a:r>
              <a:rPr sz="1200" dirty="0"/>
              <a:t> </a:t>
            </a:r>
            <a:r>
              <a:rPr sz="1200" dirty="0" err="1"/>
              <a:t>식단</a:t>
            </a:r>
            <a:r>
              <a:rPr sz="1200" dirty="0"/>
              <a:t> </a:t>
            </a:r>
            <a:r>
              <a:rPr sz="1200" dirty="0" err="1"/>
              <a:t>정보</a:t>
            </a:r>
            <a:r>
              <a:rPr sz="1200" dirty="0"/>
              <a:t> </a:t>
            </a:r>
            <a:r>
              <a:rPr sz="1200" dirty="0" err="1"/>
              <a:t>확인</a:t>
            </a:r>
            <a:r>
              <a:rPr sz="1200" dirty="0"/>
              <a:t> (</a:t>
            </a:r>
            <a:r>
              <a:rPr sz="1200" dirty="0" err="1"/>
              <a:t>일부만</a:t>
            </a:r>
            <a:r>
              <a:rPr sz="1200" dirty="0"/>
              <a:t> </a:t>
            </a:r>
            <a:r>
              <a:rPr sz="1200" dirty="0" err="1"/>
              <a:t>열람</a:t>
            </a:r>
            <a:r>
              <a:rPr sz="1200" dirty="0"/>
              <a:t> </a:t>
            </a:r>
            <a:r>
              <a:rPr sz="1200" dirty="0" err="1"/>
              <a:t>가능</a:t>
            </a:r>
            <a:r>
              <a:rPr sz="1200" dirty="0"/>
              <a:t>)</a:t>
            </a:r>
            <a:br>
              <a:rPr sz="1200" dirty="0"/>
            </a:br>
            <a:r>
              <a:rPr sz="1200" dirty="0"/>
              <a:t>5. </a:t>
            </a:r>
            <a:r>
              <a:rPr sz="1200" dirty="0" err="1"/>
              <a:t>간단한</a:t>
            </a:r>
            <a:r>
              <a:rPr sz="1200" dirty="0"/>
              <a:t> </a:t>
            </a:r>
            <a:r>
              <a:rPr sz="1200" dirty="0" err="1"/>
              <a:t>퀴즈</a:t>
            </a:r>
            <a:r>
              <a:rPr sz="1200" dirty="0"/>
              <a:t> </a:t>
            </a:r>
            <a:r>
              <a:rPr sz="1200" dirty="0" err="1"/>
              <a:t>풀기</a:t>
            </a:r>
            <a:r>
              <a:rPr sz="1200" dirty="0"/>
              <a:t> (3문제 </a:t>
            </a:r>
            <a:r>
              <a:rPr sz="1200" dirty="0" err="1"/>
              <a:t>제한</a:t>
            </a:r>
            <a:r>
              <a:rPr sz="1200" dirty="0"/>
              <a:t>)</a:t>
            </a:r>
            <a:br>
              <a:rPr sz="1200" dirty="0"/>
            </a:br>
            <a:r>
              <a:rPr sz="1200" dirty="0"/>
              <a:t>6. </a:t>
            </a:r>
            <a:r>
              <a:rPr sz="1200" dirty="0" err="1"/>
              <a:t>더</a:t>
            </a:r>
            <a:r>
              <a:rPr sz="1200" dirty="0"/>
              <a:t> </a:t>
            </a:r>
            <a:r>
              <a:rPr sz="1200" dirty="0" err="1"/>
              <a:t>많은</a:t>
            </a:r>
            <a:r>
              <a:rPr sz="1200" dirty="0"/>
              <a:t> </a:t>
            </a:r>
            <a:r>
              <a:rPr sz="1200" dirty="0" err="1"/>
              <a:t>정보를</a:t>
            </a:r>
            <a:r>
              <a:rPr sz="1200" dirty="0"/>
              <a:t> </a:t>
            </a:r>
            <a:r>
              <a:rPr sz="1200" dirty="0" err="1"/>
              <a:t>위해</a:t>
            </a:r>
            <a:r>
              <a:rPr sz="1200" dirty="0"/>
              <a:t> </a:t>
            </a:r>
            <a:r>
              <a:rPr sz="1200" dirty="0" err="1"/>
              <a:t>회원가입</a:t>
            </a:r>
            <a:r>
              <a:rPr sz="1200" dirty="0"/>
              <a:t> </a:t>
            </a:r>
            <a:r>
              <a:rPr sz="1200" dirty="0" err="1"/>
              <a:t>결정</a:t>
            </a:r>
            <a:br>
              <a:rPr sz="1200" dirty="0"/>
            </a:br>
            <a:r>
              <a:rPr sz="1200" dirty="0"/>
              <a:t>7. </a:t>
            </a:r>
            <a:r>
              <a:rPr sz="1200" dirty="0" err="1"/>
              <a:t>전체</a:t>
            </a:r>
            <a:r>
              <a:rPr sz="1200" dirty="0"/>
              <a:t> </a:t>
            </a:r>
            <a:r>
              <a:rPr sz="1200" dirty="0" err="1"/>
              <a:t>기능</a:t>
            </a:r>
            <a:r>
              <a:rPr sz="1200" dirty="0"/>
              <a:t> </a:t>
            </a:r>
            <a:r>
              <a:rPr sz="1200" dirty="0" err="1"/>
              <a:t>이용</a:t>
            </a:r>
            <a:r>
              <a:rPr sz="1200" dirty="0"/>
              <a:t> </a:t>
            </a:r>
            <a:r>
              <a:rPr sz="1200" dirty="0" err="1"/>
              <a:t>시작</a:t>
            </a:r>
            <a:br>
              <a:rPr sz="1200" dirty="0"/>
            </a:br>
            <a:br>
              <a:rPr sz="1200" dirty="0"/>
            </a:br>
            <a:r>
              <a:rPr sz="1200" dirty="0" err="1"/>
              <a:t>니즈</a:t>
            </a:r>
            <a:r>
              <a:rPr sz="1200" dirty="0"/>
              <a:t>: </a:t>
            </a:r>
            <a:br>
              <a:rPr sz="1200" dirty="0"/>
            </a:br>
            <a:r>
              <a:rPr sz="1200" dirty="0"/>
              <a:t>✓ </a:t>
            </a:r>
            <a:r>
              <a:rPr sz="1200" dirty="0" err="1"/>
              <a:t>의학</a:t>
            </a:r>
            <a:r>
              <a:rPr sz="1200" dirty="0"/>
              <a:t> </a:t>
            </a:r>
            <a:r>
              <a:rPr sz="1200" dirty="0" err="1"/>
              <a:t>용어를</a:t>
            </a:r>
            <a:r>
              <a:rPr sz="1200" dirty="0"/>
              <a:t> </a:t>
            </a:r>
            <a:r>
              <a:rPr sz="1200" dirty="0" err="1"/>
              <a:t>쉽게</a:t>
            </a:r>
            <a:r>
              <a:rPr sz="1200" dirty="0"/>
              <a:t> </a:t>
            </a:r>
            <a:r>
              <a:rPr sz="1200" dirty="0" err="1"/>
              <a:t>이해하고</a:t>
            </a:r>
            <a:r>
              <a:rPr sz="1200" dirty="0"/>
              <a:t> </a:t>
            </a:r>
            <a:r>
              <a:rPr sz="1200" dirty="0" err="1"/>
              <a:t>싶음</a:t>
            </a:r>
            <a:br>
              <a:rPr sz="1200" dirty="0"/>
            </a:br>
            <a:r>
              <a:rPr sz="1200" dirty="0"/>
              <a:t>✓ </a:t>
            </a:r>
            <a:r>
              <a:rPr sz="1200" dirty="0" err="1"/>
              <a:t>예방법을</a:t>
            </a:r>
            <a:r>
              <a:rPr sz="1200" dirty="0"/>
              <a:t> </a:t>
            </a:r>
            <a:r>
              <a:rPr sz="1200" dirty="0" err="1"/>
              <a:t>빠르게</a:t>
            </a:r>
            <a:r>
              <a:rPr sz="1200" dirty="0"/>
              <a:t> </a:t>
            </a:r>
            <a:r>
              <a:rPr sz="1200" dirty="0" err="1"/>
              <a:t>알고</a:t>
            </a:r>
            <a:r>
              <a:rPr sz="1200" dirty="0"/>
              <a:t> </a:t>
            </a:r>
            <a:r>
              <a:rPr sz="1200" dirty="0" err="1"/>
              <a:t>싶음</a:t>
            </a:r>
            <a:br>
              <a:rPr sz="1200" dirty="0"/>
            </a:br>
            <a:r>
              <a:rPr sz="1200" dirty="0"/>
              <a:t>✓ </a:t>
            </a:r>
            <a:r>
              <a:rPr sz="1200" dirty="0" err="1"/>
              <a:t>부담</a:t>
            </a:r>
            <a:r>
              <a:rPr sz="1200" dirty="0"/>
              <a:t> </a:t>
            </a:r>
            <a:r>
              <a:rPr sz="1200" dirty="0" err="1"/>
              <a:t>없이</a:t>
            </a:r>
            <a:r>
              <a:rPr sz="1200" dirty="0"/>
              <a:t> </a:t>
            </a:r>
            <a:r>
              <a:rPr sz="1200" dirty="0" err="1"/>
              <a:t>체험하고</a:t>
            </a:r>
            <a:r>
              <a:rPr sz="1200" dirty="0"/>
              <a:t> </a:t>
            </a:r>
            <a:r>
              <a:rPr sz="1200" dirty="0" err="1"/>
              <a:t>싶음</a:t>
            </a:r>
            <a:br>
              <a:rPr sz="1200" dirty="0"/>
            </a:br>
            <a:endParaRPr sz="1200" dirty="0"/>
          </a:p>
        </p:txBody>
      </p:sp>
      <p:sp>
        <p:nvSpPr>
          <p:cNvPr id="17" name="TextBox 16"/>
          <p:cNvSpPr txBox="1"/>
          <p:nvPr/>
        </p:nvSpPr>
        <p:spPr>
          <a:xfrm>
            <a:off x="4572000" y="992350"/>
            <a:ext cx="41148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sz="1200" dirty="0"/>
            </a:br>
            <a:r>
              <a:rPr sz="1200" dirty="0" err="1"/>
              <a:t>페르소나</a:t>
            </a:r>
            <a:r>
              <a:rPr sz="1200" dirty="0"/>
              <a:t>: </a:t>
            </a:r>
            <a:r>
              <a:rPr sz="1200" dirty="0" err="1"/>
              <a:t>박건강</a:t>
            </a:r>
            <a:r>
              <a:rPr sz="1200" dirty="0"/>
              <a:t> (42세, </a:t>
            </a:r>
            <a:r>
              <a:rPr sz="1200" dirty="0" err="1"/>
              <a:t>자영업</a:t>
            </a:r>
            <a:r>
              <a:rPr sz="1200" dirty="0"/>
              <a:t>)</a:t>
            </a:r>
            <a:br>
              <a:rPr sz="1200" dirty="0"/>
            </a:br>
            <a:r>
              <a:rPr sz="1200" dirty="0" err="1"/>
              <a:t>상황</a:t>
            </a:r>
            <a:r>
              <a:rPr sz="1200" dirty="0"/>
              <a:t>: </a:t>
            </a:r>
            <a:r>
              <a:rPr sz="1200" dirty="0" err="1"/>
              <a:t>가족력으로</a:t>
            </a:r>
            <a:r>
              <a:rPr sz="1200" dirty="0"/>
              <a:t> CKD </a:t>
            </a:r>
            <a:r>
              <a:rPr sz="1200" dirty="0" err="1"/>
              <a:t>위험</a:t>
            </a:r>
            <a:r>
              <a:rPr sz="1200" dirty="0"/>
              <a:t> </a:t>
            </a:r>
            <a:r>
              <a:rPr sz="1200" dirty="0" err="1"/>
              <a:t>인지</a:t>
            </a:r>
            <a:r>
              <a:rPr sz="1200" dirty="0"/>
              <a:t>. </a:t>
            </a:r>
            <a:br>
              <a:rPr sz="1200" dirty="0"/>
            </a:br>
            <a:r>
              <a:rPr sz="1200" dirty="0" err="1"/>
              <a:t>예방과</a:t>
            </a:r>
            <a:r>
              <a:rPr sz="1200" dirty="0"/>
              <a:t> </a:t>
            </a:r>
            <a:r>
              <a:rPr sz="1200" dirty="0" err="1"/>
              <a:t>건강관리에</a:t>
            </a:r>
            <a:r>
              <a:rPr sz="1200" dirty="0"/>
              <a:t> </a:t>
            </a:r>
            <a:r>
              <a:rPr sz="1200" dirty="0" err="1"/>
              <a:t>관심</a:t>
            </a:r>
            <a:r>
              <a:rPr sz="1200" dirty="0"/>
              <a:t> </a:t>
            </a:r>
            <a:r>
              <a:rPr sz="1200" dirty="0" err="1"/>
              <a:t>많음</a:t>
            </a:r>
            <a:r>
              <a:rPr sz="1200" dirty="0"/>
              <a:t>.</a:t>
            </a:r>
            <a:br>
              <a:rPr sz="1200" dirty="0"/>
            </a:br>
            <a:br>
              <a:rPr sz="1200" dirty="0"/>
            </a:br>
            <a:r>
              <a:rPr sz="1200" dirty="0" err="1"/>
              <a:t>행동</a:t>
            </a:r>
            <a:r>
              <a:rPr sz="1200" dirty="0"/>
              <a:t> </a:t>
            </a:r>
            <a:r>
              <a:rPr sz="1200" dirty="0" err="1"/>
              <a:t>흐름</a:t>
            </a:r>
            <a:r>
              <a:rPr sz="1200" dirty="0"/>
              <a:t>:</a:t>
            </a:r>
            <a:br>
              <a:rPr sz="1200" dirty="0"/>
            </a:br>
            <a:r>
              <a:rPr sz="1200" dirty="0"/>
              <a:t>1. </a:t>
            </a:r>
            <a:r>
              <a:rPr sz="1200" dirty="0" err="1"/>
              <a:t>로그인</a:t>
            </a:r>
            <a:r>
              <a:rPr sz="1200" dirty="0"/>
              <a:t> </a:t>
            </a:r>
            <a:r>
              <a:rPr sz="1200" dirty="0" err="1"/>
              <a:t>후</a:t>
            </a:r>
            <a:r>
              <a:rPr sz="1200" dirty="0"/>
              <a:t> </a:t>
            </a:r>
            <a:r>
              <a:rPr sz="1200" dirty="0" err="1"/>
              <a:t>메인</a:t>
            </a:r>
            <a:r>
              <a:rPr sz="1200" dirty="0"/>
              <a:t> </a:t>
            </a:r>
            <a:r>
              <a:rPr sz="1200" dirty="0" err="1"/>
              <a:t>화면</a:t>
            </a:r>
            <a:r>
              <a:rPr sz="1200" dirty="0"/>
              <a:t> </a:t>
            </a:r>
            <a:r>
              <a:rPr sz="1200" dirty="0" err="1"/>
              <a:t>접속</a:t>
            </a:r>
            <a:br>
              <a:rPr sz="1200" dirty="0"/>
            </a:br>
            <a:r>
              <a:rPr sz="1200" dirty="0"/>
              <a:t>2. </a:t>
            </a:r>
            <a:r>
              <a:rPr sz="1200" dirty="0" err="1"/>
              <a:t>오늘의</a:t>
            </a:r>
            <a:r>
              <a:rPr sz="1200" dirty="0"/>
              <a:t> </a:t>
            </a:r>
            <a:r>
              <a:rPr sz="1200" dirty="0" err="1"/>
              <a:t>학습</a:t>
            </a:r>
            <a:r>
              <a:rPr sz="1200" dirty="0"/>
              <a:t> </a:t>
            </a:r>
            <a:r>
              <a:rPr sz="1200" dirty="0" err="1"/>
              <a:t>퀴즈</a:t>
            </a:r>
            <a:r>
              <a:rPr sz="1200" dirty="0"/>
              <a:t> </a:t>
            </a:r>
            <a:r>
              <a:rPr sz="1200" dirty="0" err="1"/>
              <a:t>풀기</a:t>
            </a:r>
            <a:r>
              <a:rPr sz="1200" dirty="0"/>
              <a:t> (</a:t>
            </a:r>
            <a:r>
              <a:rPr sz="1200" dirty="0" err="1"/>
              <a:t>레벨</a:t>
            </a:r>
            <a:r>
              <a:rPr sz="1200" dirty="0"/>
              <a:t> 2)</a:t>
            </a:r>
            <a:br>
              <a:rPr sz="1200" dirty="0"/>
            </a:br>
            <a:r>
              <a:rPr sz="1200" dirty="0"/>
              <a:t>3. </a:t>
            </a:r>
            <a:r>
              <a:rPr sz="1200" dirty="0" err="1"/>
              <a:t>정답</a:t>
            </a:r>
            <a:r>
              <a:rPr sz="1200" dirty="0"/>
              <a:t> </a:t>
            </a:r>
            <a:r>
              <a:rPr sz="1200" dirty="0" err="1"/>
              <a:t>후</a:t>
            </a:r>
            <a:r>
              <a:rPr sz="1200" dirty="0"/>
              <a:t> </a:t>
            </a:r>
            <a:r>
              <a:rPr sz="1200" dirty="0" err="1"/>
              <a:t>포인트</a:t>
            </a:r>
            <a:r>
              <a:rPr sz="1200" dirty="0"/>
              <a:t> 100점 </a:t>
            </a:r>
            <a:r>
              <a:rPr sz="1200" dirty="0" err="1"/>
              <a:t>획득</a:t>
            </a:r>
            <a:br>
              <a:rPr sz="1200" dirty="0"/>
            </a:br>
            <a:r>
              <a:rPr sz="1200" dirty="0"/>
              <a:t>4. "</a:t>
            </a:r>
            <a:r>
              <a:rPr sz="1200" dirty="0" err="1"/>
              <a:t>저염식</a:t>
            </a:r>
            <a:r>
              <a:rPr sz="1200" dirty="0"/>
              <a:t> </a:t>
            </a:r>
            <a:r>
              <a:rPr sz="1200" dirty="0" err="1"/>
              <a:t>레시피</a:t>
            </a:r>
            <a:r>
              <a:rPr sz="1200" dirty="0"/>
              <a:t>" </a:t>
            </a:r>
            <a:r>
              <a:rPr sz="1200" dirty="0" err="1"/>
              <a:t>검색</a:t>
            </a:r>
            <a:br>
              <a:rPr sz="1200" dirty="0"/>
            </a:br>
            <a:r>
              <a:rPr sz="1200" dirty="0"/>
              <a:t>5. </a:t>
            </a:r>
            <a:r>
              <a:rPr sz="1200" dirty="0" err="1"/>
              <a:t>추천</a:t>
            </a:r>
            <a:r>
              <a:rPr sz="1200" dirty="0"/>
              <a:t> </a:t>
            </a:r>
            <a:r>
              <a:rPr sz="1200" dirty="0" err="1"/>
              <a:t>식단</a:t>
            </a:r>
            <a:r>
              <a:rPr sz="1200" dirty="0"/>
              <a:t> 3가지 </a:t>
            </a:r>
            <a:r>
              <a:rPr sz="1200" dirty="0" err="1"/>
              <a:t>확인</a:t>
            </a:r>
            <a:r>
              <a:rPr sz="1200" dirty="0"/>
              <a:t> </a:t>
            </a:r>
            <a:r>
              <a:rPr sz="1200" dirty="0" err="1"/>
              <a:t>및</a:t>
            </a:r>
            <a:r>
              <a:rPr sz="1200" dirty="0"/>
              <a:t> </a:t>
            </a:r>
            <a:r>
              <a:rPr sz="1200" dirty="0" err="1"/>
              <a:t>저장</a:t>
            </a:r>
            <a:br>
              <a:rPr sz="1200" dirty="0"/>
            </a:br>
            <a:r>
              <a:rPr sz="1200" dirty="0"/>
              <a:t>6. </a:t>
            </a:r>
            <a:r>
              <a:rPr sz="1200" dirty="0" err="1"/>
              <a:t>신장</a:t>
            </a:r>
            <a:r>
              <a:rPr sz="1200" dirty="0"/>
              <a:t> </a:t>
            </a:r>
            <a:r>
              <a:rPr sz="1200" dirty="0" err="1"/>
              <a:t>건강</a:t>
            </a:r>
            <a:r>
              <a:rPr sz="1200" dirty="0"/>
              <a:t> </a:t>
            </a:r>
            <a:r>
              <a:rPr sz="1200" dirty="0" err="1"/>
              <a:t>체크리스트</a:t>
            </a:r>
            <a:r>
              <a:rPr sz="1200" dirty="0"/>
              <a:t> </a:t>
            </a:r>
            <a:r>
              <a:rPr sz="1200" dirty="0" err="1"/>
              <a:t>설문</a:t>
            </a:r>
            <a:r>
              <a:rPr sz="1200" dirty="0"/>
              <a:t> </a:t>
            </a:r>
            <a:r>
              <a:rPr sz="1200" dirty="0" err="1"/>
              <a:t>참여</a:t>
            </a:r>
            <a:br>
              <a:rPr sz="1200" dirty="0"/>
            </a:br>
            <a:r>
              <a:rPr sz="1200" dirty="0"/>
              <a:t>7. </a:t>
            </a:r>
            <a:r>
              <a:rPr sz="1200" dirty="0" err="1"/>
              <a:t>설문</a:t>
            </a:r>
            <a:r>
              <a:rPr sz="1200" dirty="0"/>
              <a:t> </a:t>
            </a:r>
            <a:r>
              <a:rPr sz="1200" dirty="0" err="1"/>
              <a:t>완료</a:t>
            </a:r>
            <a:r>
              <a:rPr sz="1200" dirty="0"/>
              <a:t> </a:t>
            </a:r>
            <a:r>
              <a:rPr sz="1200" dirty="0" err="1"/>
              <a:t>후</a:t>
            </a:r>
            <a:r>
              <a:rPr sz="1200" dirty="0"/>
              <a:t> </a:t>
            </a:r>
            <a:r>
              <a:rPr sz="1200" dirty="0" err="1"/>
              <a:t>포인트</a:t>
            </a:r>
            <a:r>
              <a:rPr sz="1200" dirty="0"/>
              <a:t> 50점 </a:t>
            </a:r>
            <a:r>
              <a:rPr sz="1200" dirty="0" err="1"/>
              <a:t>추가</a:t>
            </a:r>
            <a:r>
              <a:rPr sz="1200" dirty="0"/>
              <a:t> </a:t>
            </a:r>
            <a:r>
              <a:rPr sz="1200" dirty="0" err="1"/>
              <a:t>획득</a:t>
            </a:r>
            <a:br>
              <a:rPr sz="1200" dirty="0"/>
            </a:br>
            <a:r>
              <a:rPr sz="1200" dirty="0"/>
              <a:t>8. </a:t>
            </a:r>
            <a:r>
              <a:rPr sz="1200" dirty="0" err="1"/>
              <a:t>주간</a:t>
            </a:r>
            <a:r>
              <a:rPr sz="1200" dirty="0"/>
              <a:t> </a:t>
            </a:r>
            <a:r>
              <a:rPr sz="1200" dirty="0" err="1"/>
              <a:t>건강</a:t>
            </a:r>
            <a:r>
              <a:rPr sz="1200" dirty="0"/>
              <a:t> </a:t>
            </a:r>
            <a:r>
              <a:rPr sz="1200" dirty="0" err="1"/>
              <a:t>팁</a:t>
            </a:r>
            <a:r>
              <a:rPr sz="1200" dirty="0"/>
              <a:t> </a:t>
            </a:r>
            <a:r>
              <a:rPr sz="1200" dirty="0" err="1"/>
              <a:t>알림</a:t>
            </a:r>
            <a:r>
              <a:rPr sz="1200" dirty="0"/>
              <a:t> </a:t>
            </a:r>
            <a:r>
              <a:rPr sz="1200" dirty="0" err="1"/>
              <a:t>설정</a:t>
            </a:r>
            <a:br>
              <a:rPr sz="1200" dirty="0"/>
            </a:br>
            <a:br>
              <a:rPr sz="1200" dirty="0"/>
            </a:br>
            <a:r>
              <a:rPr sz="1200" dirty="0" err="1"/>
              <a:t>니즈</a:t>
            </a:r>
            <a:r>
              <a:rPr sz="1200" dirty="0"/>
              <a:t>:</a:t>
            </a:r>
            <a:br>
              <a:rPr sz="1200" dirty="0"/>
            </a:br>
            <a:r>
              <a:rPr sz="1200" dirty="0"/>
              <a:t>✓ </a:t>
            </a:r>
            <a:r>
              <a:rPr sz="1200" dirty="0" err="1"/>
              <a:t>재미있게</a:t>
            </a:r>
            <a:r>
              <a:rPr sz="1200" dirty="0"/>
              <a:t> </a:t>
            </a:r>
            <a:r>
              <a:rPr sz="1200" dirty="0" err="1"/>
              <a:t>학습하면서</a:t>
            </a:r>
            <a:r>
              <a:rPr sz="1200" dirty="0"/>
              <a:t> </a:t>
            </a:r>
            <a:r>
              <a:rPr sz="1200" dirty="0" err="1"/>
              <a:t>포인트</a:t>
            </a:r>
            <a:r>
              <a:rPr sz="1200" dirty="0"/>
              <a:t> </a:t>
            </a:r>
            <a:r>
              <a:rPr sz="1200" dirty="0" err="1"/>
              <a:t>모으기</a:t>
            </a:r>
            <a:br>
              <a:rPr sz="1200" dirty="0"/>
            </a:br>
            <a:r>
              <a:rPr sz="1200" dirty="0"/>
              <a:t>✓ </a:t>
            </a:r>
            <a:r>
              <a:rPr sz="1200" dirty="0" err="1"/>
              <a:t>실용적인</a:t>
            </a:r>
            <a:r>
              <a:rPr sz="1200" dirty="0"/>
              <a:t> </a:t>
            </a:r>
            <a:r>
              <a:rPr sz="1200" dirty="0" err="1"/>
              <a:t>식단</a:t>
            </a:r>
            <a:r>
              <a:rPr sz="1200" dirty="0"/>
              <a:t> </a:t>
            </a:r>
            <a:r>
              <a:rPr sz="1200" dirty="0" err="1"/>
              <a:t>정보</a:t>
            </a:r>
            <a:br>
              <a:rPr sz="1200" dirty="0"/>
            </a:br>
            <a:r>
              <a:rPr sz="1200" dirty="0"/>
              <a:t>✓ </a:t>
            </a:r>
            <a:r>
              <a:rPr sz="1200" dirty="0" err="1"/>
              <a:t>지속적인</a:t>
            </a:r>
            <a:r>
              <a:rPr sz="1200" dirty="0"/>
              <a:t> </a:t>
            </a:r>
            <a:r>
              <a:rPr sz="1200" dirty="0" err="1"/>
              <a:t>건강</a:t>
            </a:r>
            <a:r>
              <a:rPr sz="1200" dirty="0"/>
              <a:t> </a:t>
            </a:r>
            <a:r>
              <a:rPr sz="1200" dirty="0" err="1"/>
              <a:t>관리</a:t>
            </a:r>
            <a:r>
              <a:rPr sz="1200" dirty="0"/>
              <a:t> </a:t>
            </a:r>
            <a:r>
              <a:rPr sz="1200" dirty="0" err="1"/>
              <a:t>습관</a:t>
            </a:r>
            <a:r>
              <a:rPr sz="1200" dirty="0"/>
              <a:t> </a:t>
            </a:r>
            <a:r>
              <a:rPr sz="1200" dirty="0" err="1"/>
              <a:t>형성</a:t>
            </a:r>
            <a:br>
              <a:rPr sz="1200" dirty="0"/>
            </a:br>
            <a:endParaRPr sz="12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D1DED2CF-BC05-9E6A-E7C2-5A2299205182}"/>
              </a:ext>
            </a:extLst>
          </p:cNvPr>
          <p:cNvSpPr/>
          <p:nvPr/>
        </p:nvSpPr>
        <p:spPr>
          <a:xfrm>
            <a:off x="186690" y="807253"/>
            <a:ext cx="42748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체험모드 (비로그인)</a:t>
            </a:r>
            <a:endParaRPr lang="en-US" sz="1500" dirty="0"/>
          </a:p>
        </p:txBody>
      </p:sp>
      <p:sp>
        <p:nvSpPr>
          <p:cNvPr id="5" name="Text 13">
            <a:extLst>
              <a:ext uri="{FF2B5EF4-FFF2-40B4-BE49-F238E27FC236}">
                <a16:creationId xmlns:a16="http://schemas.microsoft.com/office/drawing/2014/main" id="{A396326E-9234-2581-5423-7E6C788914B1}"/>
              </a:ext>
            </a:extLst>
          </p:cNvPr>
          <p:cNvSpPr/>
          <p:nvPr/>
        </p:nvSpPr>
        <p:spPr>
          <a:xfrm>
            <a:off x="4682490" y="807253"/>
            <a:ext cx="42748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로그인 회원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8804884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052B1-D3B0-06B7-121D-507B735B5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5921413-C11F-D75A-CEB6-C4652A2E5CD0}"/>
              </a:ext>
            </a:extLst>
          </p:cNvPr>
          <p:cNvSpPr/>
          <p:nvPr/>
        </p:nvSpPr>
        <p:spPr>
          <a:xfrm>
            <a:off x="228600" y="228600"/>
            <a:ext cx="44399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🏥</a:t>
            </a:r>
            <a:r>
              <a:rPr lang="ko-KR" altLang="en-US" sz="225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250" b="1" dirty="0" err="1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질환자</a:t>
            </a:r>
            <a:r>
              <a:rPr lang="en-US" sz="225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250" b="1" dirty="0" err="1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</a:t>
            </a:r>
            <a:r>
              <a:rPr lang="en-US" sz="225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ko-KR" altLang="en-US" sz="225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시나리오</a:t>
            </a:r>
            <a:endParaRPr lang="en-US" sz="2250"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992350"/>
            <a:ext cx="4114800" cy="2074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 sz="900"/>
            </a:pPr>
            <a:br>
              <a:rPr dirty="0"/>
            </a:br>
            <a:r>
              <a:rPr dirty="0" err="1"/>
              <a:t>페르소나</a:t>
            </a:r>
            <a:r>
              <a:rPr dirty="0"/>
              <a:t>: </a:t>
            </a:r>
            <a:r>
              <a:rPr dirty="0" err="1"/>
              <a:t>이병원</a:t>
            </a:r>
            <a:r>
              <a:rPr dirty="0"/>
              <a:t> (52세, </a:t>
            </a:r>
            <a:r>
              <a:rPr dirty="0" err="1"/>
              <a:t>회사원</a:t>
            </a:r>
            <a:r>
              <a:rPr dirty="0"/>
              <a:t>)</a:t>
            </a:r>
            <a:br>
              <a:rPr dirty="0"/>
            </a:br>
            <a:r>
              <a:rPr dirty="0" err="1"/>
              <a:t>상황</a:t>
            </a:r>
            <a:r>
              <a:rPr dirty="0"/>
              <a:t>: </a:t>
            </a:r>
            <a:r>
              <a:rPr dirty="0" err="1"/>
              <a:t>최근</a:t>
            </a:r>
            <a:r>
              <a:rPr dirty="0"/>
              <a:t> </a:t>
            </a:r>
            <a:r>
              <a:rPr dirty="0" err="1"/>
              <a:t>건강검진에서</a:t>
            </a:r>
            <a:r>
              <a:rPr dirty="0"/>
              <a:t> </a:t>
            </a:r>
            <a:r>
              <a:rPr dirty="0" err="1"/>
              <a:t>크레아티닌</a:t>
            </a:r>
            <a:r>
              <a:rPr dirty="0"/>
              <a:t> </a:t>
            </a:r>
            <a:r>
              <a:rPr dirty="0" err="1"/>
              <a:t>수치</a:t>
            </a:r>
            <a:r>
              <a:rPr dirty="0"/>
              <a:t> 1.8mg/dL. </a:t>
            </a:r>
            <a:br>
              <a:rPr dirty="0"/>
            </a:br>
            <a:r>
              <a:rPr dirty="0"/>
              <a:t>CKD 3기 </a:t>
            </a:r>
            <a:r>
              <a:rPr dirty="0" err="1"/>
              <a:t>초기</a:t>
            </a:r>
            <a:r>
              <a:rPr dirty="0"/>
              <a:t> </a:t>
            </a:r>
            <a:r>
              <a:rPr dirty="0" err="1"/>
              <a:t>진단받았으나</a:t>
            </a:r>
            <a:r>
              <a:rPr dirty="0"/>
              <a:t> </a:t>
            </a:r>
            <a:r>
              <a:rPr dirty="0" err="1"/>
              <a:t>무엇을</a:t>
            </a:r>
            <a:r>
              <a:rPr dirty="0"/>
              <a:t> </a:t>
            </a:r>
            <a:r>
              <a:rPr dirty="0" err="1"/>
              <a:t>어떻게</a:t>
            </a:r>
            <a:r>
              <a:rPr dirty="0"/>
              <a:t> </a:t>
            </a:r>
            <a:r>
              <a:rPr dirty="0" err="1"/>
              <a:t>해야</a:t>
            </a:r>
            <a:r>
              <a:rPr dirty="0"/>
              <a:t> </a:t>
            </a:r>
            <a:r>
              <a:rPr dirty="0" err="1"/>
              <a:t>할지</a:t>
            </a:r>
            <a:r>
              <a:rPr dirty="0"/>
              <a:t> </a:t>
            </a:r>
            <a:r>
              <a:rPr dirty="0" err="1"/>
              <a:t>모름</a:t>
            </a:r>
            <a:r>
              <a:rPr dirty="0"/>
              <a:t>.</a:t>
            </a:r>
            <a:br>
              <a:rPr dirty="0"/>
            </a:br>
            <a:br>
              <a:rPr dirty="0"/>
            </a:br>
            <a:r>
              <a:rPr dirty="0" err="1"/>
              <a:t>행동</a:t>
            </a:r>
            <a:r>
              <a:rPr dirty="0"/>
              <a:t> </a:t>
            </a:r>
            <a:r>
              <a:rPr dirty="0" err="1"/>
              <a:t>흐름</a:t>
            </a:r>
            <a:r>
              <a:rPr dirty="0"/>
              <a:t>:</a:t>
            </a:r>
            <a:br>
              <a:rPr dirty="0"/>
            </a:br>
            <a:r>
              <a:rPr dirty="0"/>
              <a:t>1. </a:t>
            </a:r>
            <a:r>
              <a:rPr dirty="0" err="1"/>
              <a:t>앱</a:t>
            </a:r>
            <a:r>
              <a:rPr dirty="0"/>
              <a:t> </a:t>
            </a:r>
            <a:r>
              <a:rPr dirty="0" err="1"/>
              <a:t>다운로드</a:t>
            </a:r>
            <a:r>
              <a:rPr dirty="0"/>
              <a:t> </a:t>
            </a:r>
            <a:r>
              <a:rPr dirty="0" err="1"/>
              <a:t>후</a:t>
            </a:r>
            <a:r>
              <a:rPr dirty="0"/>
              <a:t> </a:t>
            </a:r>
            <a:r>
              <a:rPr dirty="0" err="1"/>
              <a:t>체험모드로</a:t>
            </a:r>
            <a:r>
              <a:rPr dirty="0"/>
              <a:t> </a:t>
            </a:r>
            <a:r>
              <a:rPr dirty="0" err="1"/>
              <a:t>접속</a:t>
            </a:r>
            <a:br>
              <a:rPr dirty="0"/>
            </a:br>
            <a:r>
              <a:rPr dirty="0"/>
              <a:t>2. "</a:t>
            </a:r>
            <a:r>
              <a:rPr dirty="0" err="1"/>
              <a:t>크레아티닌</a:t>
            </a:r>
            <a:r>
              <a:rPr dirty="0"/>
              <a:t> 1.8이면 </a:t>
            </a:r>
            <a:r>
              <a:rPr dirty="0" err="1"/>
              <a:t>어떤</a:t>
            </a:r>
            <a:r>
              <a:rPr dirty="0"/>
              <a:t> </a:t>
            </a:r>
            <a:r>
              <a:rPr dirty="0" err="1"/>
              <a:t>단계인가요</a:t>
            </a:r>
            <a:r>
              <a:rPr dirty="0"/>
              <a:t>?" </a:t>
            </a:r>
            <a:r>
              <a:rPr dirty="0" err="1"/>
              <a:t>질문</a:t>
            </a:r>
            <a:br>
              <a:rPr dirty="0"/>
            </a:br>
            <a:r>
              <a:rPr dirty="0"/>
              <a:t>3. </a:t>
            </a:r>
            <a:r>
              <a:rPr dirty="0" err="1"/>
              <a:t>AI가</a:t>
            </a:r>
            <a:r>
              <a:rPr dirty="0"/>
              <a:t> GFR </a:t>
            </a:r>
            <a:r>
              <a:rPr dirty="0" err="1"/>
              <a:t>계산</a:t>
            </a:r>
            <a:r>
              <a:rPr dirty="0"/>
              <a:t> </a:t>
            </a:r>
            <a:r>
              <a:rPr dirty="0" err="1"/>
              <a:t>후</a:t>
            </a:r>
            <a:r>
              <a:rPr dirty="0"/>
              <a:t> CKD 3기 </a:t>
            </a:r>
            <a:r>
              <a:rPr dirty="0" err="1"/>
              <a:t>설명</a:t>
            </a:r>
            <a:r>
              <a:rPr dirty="0"/>
              <a:t> </a:t>
            </a:r>
            <a:r>
              <a:rPr dirty="0" err="1"/>
              <a:t>제공</a:t>
            </a:r>
            <a:br>
              <a:rPr dirty="0"/>
            </a:br>
            <a:r>
              <a:rPr dirty="0"/>
              <a:t>4. "</a:t>
            </a:r>
            <a:r>
              <a:rPr dirty="0" err="1"/>
              <a:t>이제</a:t>
            </a:r>
            <a:r>
              <a:rPr dirty="0"/>
              <a:t> </a:t>
            </a:r>
            <a:r>
              <a:rPr dirty="0" err="1"/>
              <a:t>뭘</a:t>
            </a:r>
            <a:r>
              <a:rPr dirty="0"/>
              <a:t> </a:t>
            </a:r>
            <a:r>
              <a:rPr dirty="0" err="1"/>
              <a:t>먹어야</a:t>
            </a:r>
            <a:r>
              <a:rPr dirty="0"/>
              <a:t> </a:t>
            </a:r>
            <a:r>
              <a:rPr dirty="0" err="1"/>
              <a:t>하나요</a:t>
            </a:r>
            <a:r>
              <a:rPr dirty="0"/>
              <a:t>?" </a:t>
            </a:r>
            <a:r>
              <a:rPr dirty="0" err="1"/>
              <a:t>재질문</a:t>
            </a:r>
            <a:br>
              <a:rPr dirty="0"/>
            </a:br>
            <a:r>
              <a:rPr dirty="0"/>
              <a:t>5. </a:t>
            </a:r>
            <a:r>
              <a:rPr dirty="0" err="1"/>
              <a:t>제한된</a:t>
            </a:r>
            <a:r>
              <a:rPr dirty="0"/>
              <a:t> </a:t>
            </a:r>
            <a:r>
              <a:rPr dirty="0" err="1"/>
              <a:t>식단</a:t>
            </a:r>
            <a:r>
              <a:rPr dirty="0"/>
              <a:t> </a:t>
            </a:r>
            <a:r>
              <a:rPr dirty="0" err="1"/>
              <a:t>정보만</a:t>
            </a:r>
            <a:r>
              <a:rPr dirty="0"/>
              <a:t> </a:t>
            </a:r>
            <a:r>
              <a:rPr dirty="0" err="1"/>
              <a:t>확인</a:t>
            </a:r>
            <a:r>
              <a:rPr dirty="0"/>
              <a:t> (3개만 </a:t>
            </a:r>
            <a:r>
              <a:rPr dirty="0" err="1"/>
              <a:t>열람</a:t>
            </a:r>
            <a:r>
              <a:rPr dirty="0"/>
              <a:t> </a:t>
            </a:r>
            <a:r>
              <a:rPr dirty="0" err="1"/>
              <a:t>가능</a:t>
            </a:r>
            <a:r>
              <a:rPr dirty="0"/>
              <a:t>)</a:t>
            </a:r>
            <a:br>
              <a:rPr dirty="0"/>
            </a:br>
            <a:r>
              <a:rPr dirty="0"/>
              <a:t>6. </a:t>
            </a:r>
            <a:r>
              <a:rPr dirty="0" err="1"/>
              <a:t>로그인</a:t>
            </a:r>
            <a:r>
              <a:rPr dirty="0"/>
              <a:t> </a:t>
            </a:r>
            <a:r>
              <a:rPr dirty="0" err="1"/>
              <a:t>유도</a:t>
            </a:r>
            <a:r>
              <a:rPr dirty="0"/>
              <a:t> </a:t>
            </a:r>
            <a:r>
              <a:rPr dirty="0" err="1"/>
              <a:t>배너</a:t>
            </a:r>
            <a:r>
              <a:rPr dirty="0"/>
              <a:t> </a:t>
            </a:r>
            <a:r>
              <a:rPr dirty="0" err="1"/>
              <a:t>클릭</a:t>
            </a:r>
            <a:r>
              <a:rPr dirty="0"/>
              <a:t> → </a:t>
            </a:r>
            <a:r>
              <a:rPr dirty="0" err="1"/>
              <a:t>회원가입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4572000" y="992350"/>
            <a:ext cx="4114800" cy="2406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 sz="900"/>
            </a:pPr>
            <a:br>
              <a:rPr dirty="0"/>
            </a:br>
            <a:r>
              <a:rPr dirty="0" err="1"/>
              <a:t>페르소나</a:t>
            </a:r>
            <a:r>
              <a:rPr dirty="0"/>
              <a:t>: </a:t>
            </a:r>
            <a:r>
              <a:rPr dirty="0" err="1"/>
              <a:t>최건강</a:t>
            </a:r>
            <a:r>
              <a:rPr dirty="0"/>
              <a:t> (58세, </a:t>
            </a:r>
            <a:r>
              <a:rPr dirty="0" err="1"/>
              <a:t>주부</a:t>
            </a:r>
            <a:r>
              <a:rPr dirty="0"/>
              <a:t>)</a:t>
            </a:r>
            <a:br>
              <a:rPr dirty="0"/>
            </a:br>
            <a:r>
              <a:rPr dirty="0" err="1"/>
              <a:t>상황</a:t>
            </a:r>
            <a:r>
              <a:rPr dirty="0"/>
              <a:t>: CKD 3기 </a:t>
            </a:r>
            <a:r>
              <a:rPr dirty="0" err="1"/>
              <a:t>환자로</a:t>
            </a:r>
            <a:r>
              <a:rPr dirty="0"/>
              <a:t> </a:t>
            </a:r>
            <a:r>
              <a:rPr dirty="0" err="1"/>
              <a:t>칼륨·인</a:t>
            </a:r>
            <a:r>
              <a:rPr dirty="0"/>
              <a:t> </a:t>
            </a:r>
            <a:r>
              <a:rPr dirty="0" err="1"/>
              <a:t>관리</a:t>
            </a:r>
            <a:r>
              <a:rPr dirty="0"/>
              <a:t> </a:t>
            </a:r>
            <a:r>
              <a:rPr dirty="0" err="1"/>
              <a:t>필요</a:t>
            </a:r>
            <a:r>
              <a:rPr dirty="0"/>
              <a:t>. </a:t>
            </a:r>
            <a:br>
              <a:rPr dirty="0"/>
            </a:br>
            <a:r>
              <a:rPr dirty="0" err="1"/>
              <a:t>매일</a:t>
            </a:r>
            <a:r>
              <a:rPr dirty="0"/>
              <a:t> </a:t>
            </a:r>
            <a:r>
              <a:rPr dirty="0" err="1"/>
              <a:t>식단</a:t>
            </a:r>
            <a:r>
              <a:rPr dirty="0"/>
              <a:t> </a:t>
            </a:r>
            <a:r>
              <a:rPr dirty="0" err="1"/>
              <a:t>관리와</a:t>
            </a:r>
            <a:r>
              <a:rPr dirty="0"/>
              <a:t> </a:t>
            </a:r>
            <a:r>
              <a:rPr dirty="0" err="1"/>
              <a:t>건강</a:t>
            </a:r>
            <a:r>
              <a:rPr dirty="0"/>
              <a:t> </a:t>
            </a:r>
            <a:r>
              <a:rPr dirty="0" err="1"/>
              <a:t>기록이</a:t>
            </a:r>
            <a:r>
              <a:rPr dirty="0"/>
              <a:t> </a:t>
            </a:r>
            <a:r>
              <a:rPr dirty="0" err="1"/>
              <a:t>중요함</a:t>
            </a:r>
            <a:r>
              <a:rPr dirty="0"/>
              <a:t>.</a:t>
            </a:r>
            <a:br>
              <a:rPr dirty="0"/>
            </a:br>
            <a:br>
              <a:rPr dirty="0"/>
            </a:br>
            <a:r>
              <a:rPr dirty="0" err="1"/>
              <a:t>행동</a:t>
            </a:r>
            <a:r>
              <a:rPr dirty="0"/>
              <a:t> </a:t>
            </a:r>
            <a:r>
              <a:rPr dirty="0" err="1"/>
              <a:t>흐름</a:t>
            </a:r>
            <a:r>
              <a:rPr dirty="0"/>
              <a:t>:</a:t>
            </a:r>
            <a:br>
              <a:rPr dirty="0"/>
            </a:br>
            <a:r>
              <a:rPr dirty="0"/>
              <a:t>1. </a:t>
            </a:r>
            <a:r>
              <a:rPr dirty="0" err="1"/>
              <a:t>로그인</a:t>
            </a:r>
            <a:r>
              <a:rPr dirty="0"/>
              <a:t> </a:t>
            </a:r>
            <a:r>
              <a:rPr dirty="0" err="1"/>
              <a:t>후</a:t>
            </a:r>
            <a:r>
              <a:rPr dirty="0"/>
              <a:t> </a:t>
            </a:r>
            <a:r>
              <a:rPr lang="ko-KR" altLang="en-US" dirty="0"/>
              <a:t>마이페이지 </a:t>
            </a:r>
            <a:r>
              <a:rPr dirty="0" err="1"/>
              <a:t>건강</a:t>
            </a:r>
            <a:r>
              <a:rPr dirty="0"/>
              <a:t> </a:t>
            </a:r>
            <a:r>
              <a:rPr dirty="0" err="1"/>
              <a:t>기록</a:t>
            </a:r>
            <a:r>
              <a:rPr dirty="0"/>
              <a:t> </a:t>
            </a:r>
            <a:r>
              <a:rPr dirty="0" err="1"/>
              <a:t>화면</a:t>
            </a:r>
            <a:r>
              <a:rPr dirty="0"/>
              <a:t> </a:t>
            </a:r>
            <a:r>
              <a:rPr dirty="0" err="1"/>
              <a:t>이동</a:t>
            </a:r>
            <a:br>
              <a:rPr dirty="0"/>
            </a:br>
            <a:r>
              <a:rPr dirty="0"/>
              <a:t>2. </a:t>
            </a:r>
            <a:r>
              <a:rPr dirty="0" err="1"/>
              <a:t>오늘의</a:t>
            </a:r>
            <a:r>
              <a:rPr dirty="0"/>
              <a:t> </a:t>
            </a:r>
            <a:r>
              <a:rPr dirty="0" err="1"/>
              <a:t>검진</a:t>
            </a:r>
            <a:r>
              <a:rPr dirty="0"/>
              <a:t> </a:t>
            </a:r>
            <a:r>
              <a:rPr dirty="0" err="1"/>
              <a:t>수치</a:t>
            </a:r>
            <a:r>
              <a:rPr dirty="0"/>
              <a:t> </a:t>
            </a:r>
            <a:r>
              <a:rPr dirty="0" err="1"/>
              <a:t>입력</a:t>
            </a:r>
            <a:r>
              <a:rPr dirty="0"/>
              <a:t> (</a:t>
            </a:r>
            <a:r>
              <a:rPr dirty="0" err="1"/>
              <a:t>칼륨</a:t>
            </a:r>
            <a:r>
              <a:rPr dirty="0"/>
              <a:t> 5.2, </a:t>
            </a:r>
            <a:r>
              <a:rPr dirty="0" err="1"/>
              <a:t>인</a:t>
            </a:r>
            <a:r>
              <a:rPr dirty="0"/>
              <a:t> 4.8)</a:t>
            </a:r>
            <a:br>
              <a:rPr dirty="0"/>
            </a:br>
            <a:r>
              <a:rPr dirty="0"/>
              <a:t>3. </a:t>
            </a:r>
            <a:r>
              <a:rPr dirty="0" err="1"/>
              <a:t>AI가</a:t>
            </a:r>
            <a:r>
              <a:rPr dirty="0"/>
              <a:t> "</a:t>
            </a:r>
            <a:r>
              <a:rPr dirty="0" err="1"/>
              <a:t>칼륨</a:t>
            </a:r>
            <a:r>
              <a:rPr dirty="0"/>
              <a:t> </a:t>
            </a:r>
            <a:r>
              <a:rPr dirty="0" err="1"/>
              <a:t>수치가</a:t>
            </a:r>
            <a:r>
              <a:rPr dirty="0"/>
              <a:t> </a:t>
            </a:r>
            <a:r>
              <a:rPr dirty="0" err="1"/>
              <a:t>높습니다</a:t>
            </a:r>
            <a:r>
              <a:rPr dirty="0"/>
              <a:t>" </a:t>
            </a:r>
            <a:r>
              <a:rPr dirty="0" err="1"/>
              <a:t>알림</a:t>
            </a:r>
            <a:r>
              <a:rPr dirty="0"/>
              <a:t> </a:t>
            </a:r>
            <a:r>
              <a:rPr dirty="0" err="1"/>
              <a:t>제공</a:t>
            </a:r>
            <a:br>
              <a:rPr dirty="0"/>
            </a:br>
            <a:r>
              <a:rPr dirty="0"/>
              <a:t>4. "</a:t>
            </a:r>
            <a:r>
              <a:rPr dirty="0" err="1"/>
              <a:t>저칼륨</a:t>
            </a:r>
            <a:r>
              <a:rPr dirty="0"/>
              <a:t> </a:t>
            </a:r>
            <a:r>
              <a:rPr dirty="0" err="1"/>
              <a:t>식단</a:t>
            </a:r>
            <a:r>
              <a:rPr dirty="0"/>
              <a:t> </a:t>
            </a:r>
            <a:r>
              <a:rPr dirty="0" err="1"/>
              <a:t>추천해줘</a:t>
            </a:r>
            <a:r>
              <a:rPr dirty="0"/>
              <a:t>" </a:t>
            </a:r>
            <a:r>
              <a:rPr dirty="0" err="1"/>
              <a:t>요청</a:t>
            </a:r>
            <a:br>
              <a:rPr dirty="0"/>
            </a:br>
            <a:r>
              <a:rPr dirty="0"/>
              <a:t>5. </a:t>
            </a:r>
            <a:r>
              <a:rPr dirty="0" err="1"/>
              <a:t>대체재료</a:t>
            </a:r>
            <a:r>
              <a:rPr dirty="0"/>
              <a:t> </a:t>
            </a:r>
            <a:r>
              <a:rPr dirty="0" err="1"/>
              <a:t>추천</a:t>
            </a:r>
            <a:r>
              <a:rPr dirty="0"/>
              <a:t>: </a:t>
            </a:r>
            <a:r>
              <a:rPr dirty="0" err="1"/>
              <a:t>바나나</a:t>
            </a:r>
            <a:r>
              <a:rPr dirty="0"/>
              <a:t> → </a:t>
            </a:r>
            <a:r>
              <a:rPr dirty="0" err="1"/>
              <a:t>사과</a:t>
            </a:r>
            <a:r>
              <a:rPr dirty="0"/>
              <a:t>, </a:t>
            </a:r>
            <a:r>
              <a:rPr dirty="0" err="1"/>
              <a:t>감자</a:t>
            </a:r>
            <a:r>
              <a:rPr dirty="0"/>
              <a:t> → </a:t>
            </a:r>
            <a:r>
              <a:rPr dirty="0" err="1"/>
              <a:t>당근</a:t>
            </a:r>
            <a:br>
              <a:rPr dirty="0"/>
            </a:br>
            <a:r>
              <a:rPr dirty="0"/>
              <a:t>6. </a:t>
            </a:r>
            <a:r>
              <a:rPr dirty="0" err="1"/>
              <a:t>추천</a:t>
            </a:r>
            <a:r>
              <a:rPr dirty="0"/>
              <a:t> </a:t>
            </a:r>
            <a:r>
              <a:rPr dirty="0" err="1"/>
              <a:t>레시피</a:t>
            </a:r>
            <a:r>
              <a:rPr dirty="0"/>
              <a:t> 3개 </a:t>
            </a:r>
            <a:r>
              <a:rPr dirty="0" err="1"/>
              <a:t>확인</a:t>
            </a:r>
            <a:r>
              <a:rPr dirty="0"/>
              <a:t> </a:t>
            </a:r>
            <a:r>
              <a:rPr dirty="0" err="1"/>
              <a:t>및</a:t>
            </a:r>
            <a:r>
              <a:rPr dirty="0"/>
              <a:t> </a:t>
            </a:r>
            <a:r>
              <a:rPr dirty="0" err="1"/>
              <a:t>저장</a:t>
            </a:r>
            <a:br>
              <a:rPr dirty="0"/>
            </a:br>
            <a:r>
              <a:rPr dirty="0"/>
              <a:t>7. </a:t>
            </a:r>
            <a:r>
              <a:rPr dirty="0" err="1"/>
              <a:t>식단</a:t>
            </a:r>
            <a:r>
              <a:rPr dirty="0"/>
              <a:t> </a:t>
            </a:r>
            <a:r>
              <a:rPr dirty="0" err="1"/>
              <a:t>챌린지</a:t>
            </a:r>
            <a:r>
              <a:rPr dirty="0"/>
              <a:t> </a:t>
            </a:r>
            <a:r>
              <a:rPr dirty="0" err="1"/>
              <a:t>참여</a:t>
            </a:r>
            <a:r>
              <a:rPr dirty="0"/>
              <a:t> </a:t>
            </a:r>
            <a:r>
              <a:rPr dirty="0" err="1"/>
              <a:t>후</a:t>
            </a:r>
            <a:r>
              <a:rPr dirty="0"/>
              <a:t> </a:t>
            </a:r>
            <a:r>
              <a:rPr dirty="0" err="1"/>
              <a:t>포인트</a:t>
            </a:r>
            <a:r>
              <a:rPr dirty="0"/>
              <a:t> 100점 </a:t>
            </a:r>
            <a:r>
              <a:rPr dirty="0" err="1"/>
              <a:t>획득</a:t>
            </a:r>
            <a:br>
              <a:rPr dirty="0"/>
            </a:br>
            <a:r>
              <a:rPr dirty="0"/>
              <a:t>8. </a:t>
            </a:r>
            <a:r>
              <a:rPr dirty="0" err="1"/>
              <a:t>학습</a:t>
            </a:r>
            <a:r>
              <a:rPr dirty="0"/>
              <a:t> </a:t>
            </a:r>
            <a:r>
              <a:rPr dirty="0" err="1"/>
              <a:t>퀴즈</a:t>
            </a:r>
            <a:r>
              <a:rPr dirty="0"/>
              <a:t>: "CKD 3기 </a:t>
            </a:r>
            <a:r>
              <a:rPr dirty="0" err="1"/>
              <a:t>관리법</a:t>
            </a:r>
            <a:r>
              <a:rPr dirty="0"/>
              <a:t>" </a:t>
            </a:r>
            <a:r>
              <a:rPr dirty="0" err="1"/>
              <a:t>문제</a:t>
            </a:r>
            <a:r>
              <a:rPr dirty="0"/>
              <a:t> </a:t>
            </a:r>
            <a:r>
              <a:rPr dirty="0" err="1"/>
              <a:t>풀고</a:t>
            </a:r>
            <a:r>
              <a:rPr dirty="0"/>
              <a:t> </a:t>
            </a:r>
            <a:r>
              <a:rPr dirty="0" err="1"/>
              <a:t>레벨업</a:t>
            </a:r>
            <a:endParaRPr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A20CF01-F16D-4E1E-DB55-DF5ED4255635}"/>
              </a:ext>
            </a:extLst>
          </p:cNvPr>
          <p:cNvSpPr/>
          <p:nvPr/>
        </p:nvSpPr>
        <p:spPr>
          <a:xfrm>
            <a:off x="186690" y="807253"/>
            <a:ext cx="42748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체험모드 (비로그인)</a:t>
            </a:r>
            <a:endParaRPr lang="en-US" sz="1500" dirty="0"/>
          </a:p>
        </p:txBody>
      </p:sp>
      <p:sp>
        <p:nvSpPr>
          <p:cNvPr id="8" name="Text 13">
            <a:extLst>
              <a:ext uri="{FF2B5EF4-FFF2-40B4-BE49-F238E27FC236}">
                <a16:creationId xmlns:a16="http://schemas.microsoft.com/office/drawing/2014/main" id="{22A6E663-051C-5412-3899-20DCD21AFB6B}"/>
              </a:ext>
            </a:extLst>
          </p:cNvPr>
          <p:cNvSpPr/>
          <p:nvPr/>
        </p:nvSpPr>
        <p:spPr>
          <a:xfrm>
            <a:off x="4682490" y="807253"/>
            <a:ext cx="42748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로그인 회원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591791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93A44-F0F4-7B96-FD0E-D38DCFFBF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70C898A-968E-F52B-0B79-6C606FB8750E}"/>
              </a:ext>
            </a:extLst>
          </p:cNvPr>
          <p:cNvSpPr/>
          <p:nvPr/>
        </p:nvSpPr>
        <p:spPr>
          <a:xfrm>
            <a:off x="228600" y="228600"/>
            <a:ext cx="44399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🔬 연구자 </a:t>
            </a:r>
            <a:r>
              <a:rPr lang="en-US" sz="2250" b="1" dirty="0" err="1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</a:t>
            </a:r>
            <a:r>
              <a:rPr lang="en-US" sz="22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ko-KR" altLang="en-US" sz="22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시나리오</a:t>
            </a:r>
            <a:endParaRPr lang="en-US" sz="2250"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999845"/>
            <a:ext cx="4114800" cy="2074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 sz="900"/>
            </a:pPr>
            <a:br>
              <a:rPr dirty="0"/>
            </a:br>
            <a:r>
              <a:rPr dirty="0" err="1"/>
              <a:t>페르소나</a:t>
            </a:r>
            <a:r>
              <a:rPr dirty="0"/>
              <a:t>: </a:t>
            </a:r>
            <a:r>
              <a:rPr dirty="0" err="1"/>
              <a:t>김연구</a:t>
            </a:r>
            <a:r>
              <a:rPr dirty="0"/>
              <a:t> (29세, </a:t>
            </a:r>
            <a:r>
              <a:rPr dirty="0" err="1"/>
              <a:t>대학원생</a:t>
            </a:r>
            <a:r>
              <a:rPr dirty="0"/>
              <a:t>)</a:t>
            </a:r>
            <a:br>
              <a:rPr dirty="0"/>
            </a:br>
            <a:r>
              <a:rPr dirty="0" err="1"/>
              <a:t>상황</a:t>
            </a:r>
            <a:r>
              <a:rPr dirty="0"/>
              <a:t>: CKD </a:t>
            </a:r>
            <a:r>
              <a:rPr dirty="0" err="1"/>
              <a:t>관련</a:t>
            </a:r>
            <a:r>
              <a:rPr dirty="0"/>
              <a:t> </a:t>
            </a:r>
            <a:r>
              <a:rPr dirty="0" err="1"/>
              <a:t>석사</a:t>
            </a:r>
            <a:r>
              <a:rPr dirty="0"/>
              <a:t> </a:t>
            </a:r>
            <a:r>
              <a:rPr dirty="0" err="1"/>
              <a:t>논문</a:t>
            </a:r>
            <a:r>
              <a:rPr dirty="0"/>
              <a:t> </a:t>
            </a:r>
            <a:r>
              <a:rPr dirty="0" err="1"/>
              <a:t>작성</a:t>
            </a:r>
            <a:r>
              <a:rPr dirty="0"/>
              <a:t> </a:t>
            </a:r>
            <a:r>
              <a:rPr dirty="0" err="1"/>
              <a:t>중</a:t>
            </a:r>
            <a:r>
              <a:rPr dirty="0"/>
              <a:t>. </a:t>
            </a:r>
            <a:br>
              <a:rPr dirty="0"/>
            </a:br>
            <a:r>
              <a:rPr dirty="0" err="1"/>
              <a:t>최신</a:t>
            </a:r>
            <a:r>
              <a:rPr dirty="0"/>
              <a:t> </a:t>
            </a:r>
            <a:r>
              <a:rPr dirty="0" err="1"/>
              <a:t>연구</a:t>
            </a:r>
            <a:r>
              <a:rPr dirty="0"/>
              <a:t> </a:t>
            </a:r>
            <a:r>
              <a:rPr dirty="0" err="1"/>
              <a:t>동향</a:t>
            </a:r>
            <a:r>
              <a:rPr dirty="0"/>
              <a:t> </a:t>
            </a:r>
            <a:r>
              <a:rPr dirty="0" err="1"/>
              <a:t>파악</a:t>
            </a:r>
            <a:r>
              <a:rPr dirty="0"/>
              <a:t> </a:t>
            </a:r>
            <a:r>
              <a:rPr dirty="0" err="1"/>
              <a:t>필요</a:t>
            </a:r>
            <a:r>
              <a:rPr dirty="0"/>
              <a:t>.</a:t>
            </a:r>
            <a:br>
              <a:rPr dirty="0"/>
            </a:br>
            <a:br>
              <a:rPr dirty="0"/>
            </a:br>
            <a:r>
              <a:rPr dirty="0" err="1"/>
              <a:t>행동</a:t>
            </a:r>
            <a:r>
              <a:rPr dirty="0"/>
              <a:t> </a:t>
            </a:r>
            <a:r>
              <a:rPr dirty="0" err="1"/>
              <a:t>흐름</a:t>
            </a:r>
            <a:r>
              <a:rPr dirty="0"/>
              <a:t>:</a:t>
            </a:r>
            <a:br>
              <a:rPr dirty="0"/>
            </a:br>
            <a:r>
              <a:rPr dirty="0"/>
              <a:t>1. </a:t>
            </a:r>
            <a:r>
              <a:rPr dirty="0" err="1"/>
              <a:t>앱</a:t>
            </a:r>
            <a:r>
              <a:rPr dirty="0"/>
              <a:t> </a:t>
            </a:r>
            <a:r>
              <a:rPr dirty="0" err="1"/>
              <a:t>다운로드</a:t>
            </a:r>
            <a:r>
              <a:rPr dirty="0"/>
              <a:t> </a:t>
            </a:r>
            <a:r>
              <a:rPr dirty="0" err="1"/>
              <a:t>후</a:t>
            </a:r>
            <a:r>
              <a:rPr dirty="0"/>
              <a:t> </a:t>
            </a:r>
            <a:r>
              <a:rPr dirty="0" err="1"/>
              <a:t>체험모드로</a:t>
            </a:r>
            <a:r>
              <a:rPr dirty="0"/>
              <a:t> </a:t>
            </a:r>
            <a:r>
              <a:rPr dirty="0" err="1"/>
              <a:t>접속</a:t>
            </a:r>
            <a:br>
              <a:rPr dirty="0"/>
            </a:br>
            <a:r>
              <a:rPr dirty="0"/>
              <a:t>2. "CKD treatment 2024" </a:t>
            </a:r>
            <a:r>
              <a:rPr dirty="0" err="1"/>
              <a:t>논문</a:t>
            </a:r>
            <a:r>
              <a:rPr dirty="0"/>
              <a:t> </a:t>
            </a:r>
            <a:r>
              <a:rPr dirty="0" err="1"/>
              <a:t>검색</a:t>
            </a:r>
            <a:br>
              <a:rPr dirty="0"/>
            </a:br>
            <a:r>
              <a:rPr dirty="0"/>
              <a:t>3. </a:t>
            </a:r>
            <a:r>
              <a:rPr dirty="0" err="1"/>
              <a:t>상위</a:t>
            </a:r>
            <a:r>
              <a:rPr dirty="0"/>
              <a:t> 5개 </a:t>
            </a:r>
            <a:r>
              <a:rPr dirty="0" err="1"/>
              <a:t>논문</a:t>
            </a:r>
            <a:r>
              <a:rPr dirty="0"/>
              <a:t> </a:t>
            </a:r>
            <a:r>
              <a:rPr dirty="0" err="1"/>
              <a:t>제목과</a:t>
            </a:r>
            <a:r>
              <a:rPr dirty="0"/>
              <a:t> </a:t>
            </a:r>
            <a:r>
              <a:rPr dirty="0" err="1"/>
              <a:t>초록만</a:t>
            </a:r>
            <a:r>
              <a:rPr dirty="0"/>
              <a:t> </a:t>
            </a:r>
            <a:r>
              <a:rPr dirty="0" err="1"/>
              <a:t>확인</a:t>
            </a:r>
            <a:r>
              <a:rPr dirty="0"/>
              <a:t> </a:t>
            </a:r>
            <a:r>
              <a:rPr dirty="0" err="1"/>
              <a:t>가능</a:t>
            </a:r>
            <a:br>
              <a:rPr dirty="0"/>
            </a:br>
            <a:r>
              <a:rPr dirty="0"/>
              <a:t>4. </a:t>
            </a:r>
            <a:r>
              <a:rPr dirty="0" err="1"/>
              <a:t>논문</a:t>
            </a:r>
            <a:r>
              <a:rPr dirty="0"/>
              <a:t> </a:t>
            </a:r>
            <a:r>
              <a:rPr dirty="0" err="1"/>
              <a:t>전문</a:t>
            </a:r>
            <a:r>
              <a:rPr dirty="0"/>
              <a:t> </a:t>
            </a:r>
            <a:r>
              <a:rPr dirty="0" err="1"/>
              <a:t>열람</a:t>
            </a:r>
            <a:r>
              <a:rPr dirty="0"/>
              <a:t> </a:t>
            </a:r>
            <a:r>
              <a:rPr dirty="0" err="1"/>
              <a:t>시도</a:t>
            </a:r>
            <a:r>
              <a:rPr dirty="0"/>
              <a:t> → "</a:t>
            </a:r>
            <a:r>
              <a:rPr dirty="0" err="1"/>
              <a:t>로그인</a:t>
            </a:r>
            <a:r>
              <a:rPr dirty="0"/>
              <a:t> </a:t>
            </a:r>
            <a:r>
              <a:rPr dirty="0" err="1"/>
              <a:t>필요</a:t>
            </a:r>
            <a:r>
              <a:rPr dirty="0"/>
              <a:t>" </a:t>
            </a:r>
            <a:r>
              <a:rPr dirty="0" err="1"/>
              <a:t>메시지</a:t>
            </a:r>
            <a:br>
              <a:rPr dirty="0"/>
            </a:br>
            <a:r>
              <a:rPr dirty="0"/>
              <a:t>5. </a:t>
            </a:r>
            <a:r>
              <a:rPr dirty="0" err="1"/>
              <a:t>논문</a:t>
            </a:r>
            <a:r>
              <a:rPr dirty="0"/>
              <a:t> </a:t>
            </a:r>
            <a:r>
              <a:rPr dirty="0" err="1"/>
              <a:t>비교</a:t>
            </a:r>
            <a:r>
              <a:rPr dirty="0"/>
              <a:t> </a:t>
            </a:r>
            <a:r>
              <a:rPr dirty="0" err="1"/>
              <a:t>분석</a:t>
            </a:r>
            <a:r>
              <a:rPr dirty="0"/>
              <a:t> </a:t>
            </a:r>
            <a:r>
              <a:rPr dirty="0" err="1"/>
              <a:t>기능</a:t>
            </a:r>
            <a:r>
              <a:rPr dirty="0"/>
              <a:t> </a:t>
            </a:r>
            <a:r>
              <a:rPr dirty="0" err="1"/>
              <a:t>체험</a:t>
            </a:r>
            <a:r>
              <a:rPr dirty="0"/>
              <a:t> </a:t>
            </a:r>
            <a:r>
              <a:rPr dirty="0" err="1"/>
              <a:t>불가</a:t>
            </a:r>
            <a:r>
              <a:rPr dirty="0"/>
              <a:t> </a:t>
            </a:r>
            <a:r>
              <a:rPr dirty="0" err="1"/>
              <a:t>안내</a:t>
            </a:r>
            <a:br>
              <a:rPr dirty="0"/>
            </a:br>
            <a:r>
              <a:rPr dirty="0"/>
              <a:t>6. </a:t>
            </a:r>
            <a:r>
              <a:rPr dirty="0" err="1"/>
              <a:t>회원가입</a:t>
            </a:r>
            <a:r>
              <a:rPr dirty="0"/>
              <a:t> </a:t>
            </a:r>
            <a:r>
              <a:rPr dirty="0" err="1"/>
              <a:t>유도</a:t>
            </a:r>
            <a:r>
              <a:rPr dirty="0"/>
              <a:t> → </a:t>
            </a:r>
            <a:r>
              <a:rPr dirty="0" err="1"/>
              <a:t>연구자</a:t>
            </a:r>
            <a:r>
              <a:rPr dirty="0"/>
              <a:t> </a:t>
            </a:r>
            <a:r>
              <a:rPr dirty="0" err="1"/>
              <a:t>계정</a:t>
            </a:r>
            <a:r>
              <a:rPr dirty="0"/>
              <a:t> </a:t>
            </a:r>
            <a:r>
              <a:rPr dirty="0" err="1"/>
              <a:t>생성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4572000" y="999845"/>
            <a:ext cx="4114800" cy="2739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 sz="900"/>
            </a:pPr>
            <a:br>
              <a:rPr dirty="0"/>
            </a:br>
            <a:r>
              <a:rPr dirty="0" err="1"/>
              <a:t>페르소나</a:t>
            </a:r>
            <a:r>
              <a:rPr dirty="0"/>
              <a:t>: </a:t>
            </a:r>
            <a:r>
              <a:rPr dirty="0" err="1"/>
              <a:t>박교수</a:t>
            </a:r>
            <a:r>
              <a:rPr dirty="0"/>
              <a:t> (45세, </a:t>
            </a:r>
            <a:r>
              <a:rPr dirty="0" err="1"/>
              <a:t>의과대학</a:t>
            </a:r>
            <a:r>
              <a:rPr dirty="0"/>
              <a:t> </a:t>
            </a:r>
            <a:r>
              <a:rPr dirty="0" err="1"/>
              <a:t>교수</a:t>
            </a:r>
            <a:r>
              <a:rPr dirty="0"/>
              <a:t>)</a:t>
            </a:r>
            <a:br>
              <a:rPr dirty="0"/>
            </a:br>
            <a:r>
              <a:rPr dirty="0" err="1"/>
              <a:t>상황</a:t>
            </a:r>
            <a:r>
              <a:rPr dirty="0"/>
              <a:t>: </a:t>
            </a:r>
            <a:r>
              <a:rPr dirty="0" err="1"/>
              <a:t>신장내과</a:t>
            </a:r>
            <a:r>
              <a:rPr dirty="0"/>
              <a:t> </a:t>
            </a:r>
            <a:r>
              <a:rPr dirty="0" err="1"/>
              <a:t>전문의로</a:t>
            </a:r>
            <a:r>
              <a:rPr dirty="0"/>
              <a:t> </a:t>
            </a:r>
            <a:r>
              <a:rPr dirty="0" err="1"/>
              <a:t>최신</a:t>
            </a:r>
            <a:r>
              <a:rPr dirty="0"/>
              <a:t> </a:t>
            </a:r>
            <a:r>
              <a:rPr dirty="0" err="1"/>
              <a:t>연구</a:t>
            </a:r>
            <a:r>
              <a:rPr dirty="0"/>
              <a:t> </a:t>
            </a:r>
            <a:r>
              <a:rPr dirty="0" err="1"/>
              <a:t>트렌드</a:t>
            </a:r>
            <a:r>
              <a:rPr dirty="0"/>
              <a:t> </a:t>
            </a:r>
            <a:r>
              <a:rPr dirty="0" err="1"/>
              <a:t>파악</a:t>
            </a:r>
            <a:r>
              <a:rPr dirty="0"/>
              <a:t> </a:t>
            </a:r>
            <a:r>
              <a:rPr dirty="0" err="1"/>
              <a:t>필요</a:t>
            </a:r>
            <a:r>
              <a:rPr dirty="0"/>
              <a:t>. </a:t>
            </a:r>
            <a:br>
              <a:rPr dirty="0"/>
            </a:br>
            <a:r>
              <a:rPr dirty="0" err="1"/>
              <a:t>환자</a:t>
            </a:r>
            <a:r>
              <a:rPr dirty="0"/>
              <a:t> </a:t>
            </a:r>
            <a:r>
              <a:rPr dirty="0" err="1"/>
              <a:t>교육</a:t>
            </a:r>
            <a:r>
              <a:rPr dirty="0"/>
              <a:t> </a:t>
            </a:r>
            <a:r>
              <a:rPr dirty="0" err="1"/>
              <a:t>자료</a:t>
            </a:r>
            <a:r>
              <a:rPr dirty="0"/>
              <a:t> </a:t>
            </a:r>
            <a:r>
              <a:rPr dirty="0" err="1"/>
              <a:t>준비</a:t>
            </a:r>
            <a:r>
              <a:rPr dirty="0"/>
              <a:t>.</a:t>
            </a:r>
            <a:br>
              <a:rPr dirty="0"/>
            </a:br>
            <a:br>
              <a:rPr dirty="0"/>
            </a:br>
            <a:r>
              <a:rPr dirty="0" err="1"/>
              <a:t>행동</a:t>
            </a:r>
            <a:r>
              <a:rPr dirty="0"/>
              <a:t> </a:t>
            </a:r>
            <a:r>
              <a:rPr dirty="0" err="1"/>
              <a:t>흐름</a:t>
            </a:r>
            <a:r>
              <a:rPr dirty="0"/>
              <a:t>:</a:t>
            </a:r>
            <a:br>
              <a:rPr dirty="0"/>
            </a:br>
            <a:r>
              <a:rPr dirty="0"/>
              <a:t>1. </a:t>
            </a:r>
            <a:r>
              <a:rPr dirty="0" err="1"/>
              <a:t>로그인</a:t>
            </a:r>
            <a:r>
              <a:rPr dirty="0"/>
              <a:t> </a:t>
            </a:r>
            <a:r>
              <a:rPr dirty="0" err="1"/>
              <a:t>후</a:t>
            </a:r>
            <a:r>
              <a:rPr dirty="0"/>
              <a:t> </a:t>
            </a:r>
            <a:r>
              <a:rPr dirty="0" err="1"/>
              <a:t>연구자</a:t>
            </a:r>
            <a:r>
              <a:rPr dirty="0"/>
              <a:t> </a:t>
            </a:r>
            <a:r>
              <a:rPr dirty="0" err="1"/>
              <a:t>대시보드</a:t>
            </a:r>
            <a:r>
              <a:rPr dirty="0"/>
              <a:t> </a:t>
            </a:r>
            <a:r>
              <a:rPr dirty="0" err="1"/>
              <a:t>접속</a:t>
            </a:r>
            <a:br>
              <a:rPr dirty="0"/>
            </a:br>
            <a:r>
              <a:rPr dirty="0"/>
              <a:t>2. "chronic kidney disease machine learning" </a:t>
            </a:r>
            <a:r>
              <a:rPr dirty="0" err="1"/>
              <a:t>검색</a:t>
            </a:r>
            <a:br>
              <a:rPr dirty="0"/>
            </a:br>
            <a:r>
              <a:rPr dirty="0"/>
              <a:t>3. </a:t>
            </a:r>
            <a:r>
              <a:rPr dirty="0" err="1"/>
              <a:t>최근</a:t>
            </a:r>
            <a:r>
              <a:rPr dirty="0"/>
              <a:t> 6개월 </a:t>
            </a:r>
            <a:r>
              <a:rPr dirty="0" err="1"/>
              <a:t>논문</a:t>
            </a:r>
            <a:r>
              <a:rPr dirty="0"/>
              <a:t> 30편 </a:t>
            </a:r>
            <a:r>
              <a:rPr dirty="0" err="1"/>
              <a:t>리스트</a:t>
            </a:r>
            <a:r>
              <a:rPr dirty="0"/>
              <a:t> </a:t>
            </a:r>
            <a:r>
              <a:rPr dirty="0" err="1"/>
              <a:t>확인</a:t>
            </a:r>
            <a:br>
              <a:rPr dirty="0"/>
            </a:br>
            <a:r>
              <a:rPr dirty="0"/>
              <a:t>4. </a:t>
            </a:r>
            <a:r>
              <a:rPr dirty="0" err="1"/>
              <a:t>상위</a:t>
            </a:r>
            <a:r>
              <a:rPr dirty="0"/>
              <a:t> 5개 </a:t>
            </a:r>
            <a:r>
              <a:rPr dirty="0" err="1"/>
              <a:t>논문</a:t>
            </a:r>
            <a:r>
              <a:rPr dirty="0"/>
              <a:t> </a:t>
            </a:r>
            <a:r>
              <a:rPr dirty="0" err="1"/>
              <a:t>비교</a:t>
            </a:r>
            <a:r>
              <a:rPr dirty="0"/>
              <a:t> </a:t>
            </a:r>
            <a:r>
              <a:rPr dirty="0" err="1"/>
              <a:t>분석</a:t>
            </a:r>
            <a:r>
              <a:rPr dirty="0"/>
              <a:t> </a:t>
            </a:r>
            <a:r>
              <a:rPr dirty="0" err="1"/>
              <a:t>요청</a:t>
            </a:r>
            <a:br>
              <a:rPr dirty="0"/>
            </a:br>
            <a:r>
              <a:rPr dirty="0"/>
              <a:t>5. </a:t>
            </a:r>
            <a:r>
              <a:rPr dirty="0" err="1"/>
              <a:t>AI가</a:t>
            </a:r>
            <a:r>
              <a:rPr dirty="0"/>
              <a:t> </a:t>
            </a:r>
            <a:r>
              <a:rPr dirty="0" err="1"/>
              <a:t>공통점·차이점·핵심</a:t>
            </a:r>
            <a:r>
              <a:rPr dirty="0"/>
              <a:t> </a:t>
            </a:r>
            <a:r>
              <a:rPr dirty="0" err="1"/>
              <a:t>인사이트</a:t>
            </a:r>
            <a:r>
              <a:rPr dirty="0"/>
              <a:t> </a:t>
            </a:r>
            <a:r>
              <a:rPr dirty="0" err="1"/>
              <a:t>요약</a:t>
            </a:r>
            <a:r>
              <a:rPr dirty="0"/>
              <a:t> </a:t>
            </a:r>
            <a:r>
              <a:rPr dirty="0" err="1"/>
              <a:t>제공</a:t>
            </a:r>
            <a:br>
              <a:rPr dirty="0"/>
            </a:br>
            <a:r>
              <a:rPr dirty="0"/>
              <a:t>6. </a:t>
            </a:r>
            <a:r>
              <a:rPr dirty="0" err="1"/>
              <a:t>연구</a:t>
            </a:r>
            <a:r>
              <a:rPr dirty="0"/>
              <a:t> </a:t>
            </a:r>
            <a:r>
              <a:rPr dirty="0" err="1"/>
              <a:t>트렌드</a:t>
            </a:r>
            <a:r>
              <a:rPr dirty="0"/>
              <a:t> </a:t>
            </a:r>
            <a:r>
              <a:rPr dirty="0" err="1"/>
              <a:t>시각화</a:t>
            </a:r>
            <a:r>
              <a:rPr dirty="0"/>
              <a:t>: ML </a:t>
            </a:r>
            <a:r>
              <a:rPr dirty="0" err="1"/>
              <a:t>기반</a:t>
            </a:r>
            <a:r>
              <a:rPr dirty="0"/>
              <a:t> </a:t>
            </a:r>
            <a:r>
              <a:rPr dirty="0" err="1"/>
              <a:t>진단</a:t>
            </a:r>
            <a:r>
              <a:rPr dirty="0"/>
              <a:t> </a:t>
            </a:r>
            <a:r>
              <a:rPr dirty="0" err="1"/>
              <a:t>기술</a:t>
            </a:r>
            <a:r>
              <a:rPr dirty="0"/>
              <a:t> </a:t>
            </a:r>
            <a:r>
              <a:rPr dirty="0" err="1"/>
              <a:t>급증</a:t>
            </a:r>
            <a:br>
              <a:rPr dirty="0"/>
            </a:br>
            <a:r>
              <a:rPr dirty="0"/>
              <a:t>7. </a:t>
            </a:r>
            <a:r>
              <a:rPr dirty="0" err="1"/>
              <a:t>관심</a:t>
            </a:r>
            <a:r>
              <a:rPr dirty="0"/>
              <a:t> </a:t>
            </a:r>
            <a:r>
              <a:rPr dirty="0" err="1"/>
              <a:t>논문</a:t>
            </a:r>
            <a:r>
              <a:rPr dirty="0"/>
              <a:t> 3편 </a:t>
            </a:r>
            <a:r>
              <a:rPr dirty="0" err="1"/>
              <a:t>북마크</a:t>
            </a:r>
            <a:r>
              <a:rPr dirty="0"/>
              <a:t> </a:t>
            </a:r>
            <a:r>
              <a:rPr dirty="0" err="1"/>
              <a:t>저장</a:t>
            </a:r>
            <a:br>
              <a:rPr dirty="0"/>
            </a:br>
            <a:r>
              <a:rPr dirty="0"/>
              <a:t>8. "Early CKD detection using AI" </a:t>
            </a:r>
            <a:r>
              <a:rPr dirty="0" err="1"/>
              <a:t>주제로</a:t>
            </a:r>
            <a:r>
              <a:rPr dirty="0"/>
              <a:t> </a:t>
            </a:r>
            <a:br>
              <a:rPr dirty="0"/>
            </a:br>
            <a:r>
              <a:rPr dirty="0"/>
              <a:t>   RAG </a:t>
            </a:r>
            <a:r>
              <a:rPr dirty="0" err="1"/>
              <a:t>기반</a:t>
            </a:r>
            <a:r>
              <a:rPr dirty="0"/>
              <a:t> </a:t>
            </a:r>
            <a:r>
              <a:rPr dirty="0" err="1"/>
              <a:t>심층</a:t>
            </a:r>
            <a:r>
              <a:rPr dirty="0"/>
              <a:t> </a:t>
            </a:r>
            <a:r>
              <a:rPr dirty="0" err="1"/>
              <a:t>질의응답</a:t>
            </a:r>
            <a:br>
              <a:rPr dirty="0"/>
            </a:br>
            <a:r>
              <a:rPr dirty="0"/>
              <a:t>9. </a:t>
            </a:r>
            <a:r>
              <a:rPr dirty="0" err="1"/>
              <a:t>대시보드에서</a:t>
            </a:r>
            <a:r>
              <a:rPr dirty="0"/>
              <a:t> </a:t>
            </a:r>
            <a:r>
              <a:rPr dirty="0" err="1"/>
              <a:t>최신</a:t>
            </a:r>
            <a:r>
              <a:rPr dirty="0"/>
              <a:t> </a:t>
            </a:r>
            <a:r>
              <a:rPr dirty="0" err="1"/>
              <a:t>알림</a:t>
            </a:r>
            <a:r>
              <a:rPr dirty="0"/>
              <a:t> </a:t>
            </a:r>
            <a:r>
              <a:rPr dirty="0" err="1"/>
              <a:t>확인</a:t>
            </a:r>
            <a:endParaRPr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12F037D-682B-847E-A44F-1FFFB7EDE446}"/>
              </a:ext>
            </a:extLst>
          </p:cNvPr>
          <p:cNvSpPr/>
          <p:nvPr/>
        </p:nvSpPr>
        <p:spPr>
          <a:xfrm>
            <a:off x="186690" y="807253"/>
            <a:ext cx="42748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체험모드 (비로그인)</a:t>
            </a:r>
            <a:endParaRPr lang="en-US" sz="1500" dirty="0"/>
          </a:p>
        </p:txBody>
      </p:sp>
      <p:sp>
        <p:nvSpPr>
          <p:cNvPr id="8" name="Text 13">
            <a:extLst>
              <a:ext uri="{FF2B5EF4-FFF2-40B4-BE49-F238E27FC236}">
                <a16:creationId xmlns:a16="http://schemas.microsoft.com/office/drawing/2014/main" id="{3D903B38-8D45-226F-3BE4-3BD8E7BC0316}"/>
              </a:ext>
            </a:extLst>
          </p:cNvPr>
          <p:cNvSpPr/>
          <p:nvPr/>
        </p:nvSpPr>
        <p:spPr>
          <a:xfrm>
            <a:off x="4682490" y="807253"/>
            <a:ext cx="42748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로그인 회원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6782967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E2628-89ED-CEE7-E21F-B9F5D4014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432F53C-BD99-724C-178F-187531E7B430}"/>
              </a:ext>
            </a:extLst>
          </p:cNvPr>
          <p:cNvSpPr txBox="1"/>
          <p:nvPr/>
        </p:nvSpPr>
        <p:spPr>
          <a:xfrm>
            <a:off x="457200" y="274320"/>
            <a:ext cx="3457998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C5F8D"/>
                </a:solidFill>
              </a:defRPr>
            </a:pPr>
            <a:r>
              <a:rPr dirty="0"/>
              <a:t>🗣️ </a:t>
            </a:r>
            <a:r>
              <a:rPr dirty="0" err="1"/>
              <a:t>의도분류</a:t>
            </a:r>
            <a:r>
              <a:rPr dirty="0"/>
              <a:t> </a:t>
            </a:r>
            <a:r>
              <a:rPr lang="ko-KR" altLang="en-US" dirty="0"/>
              <a:t>시나리오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C92A9A-6280-815B-1EDC-FAC3D2834A03}"/>
              </a:ext>
            </a:extLst>
          </p:cNvPr>
          <p:cNvSpPr txBox="1"/>
          <p:nvPr/>
        </p:nvSpPr>
        <p:spPr>
          <a:xfrm>
            <a:off x="457199" y="1034122"/>
            <a:ext cx="2840477" cy="1980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800">
                <a:solidFill>
                  <a:srgbClr val="323232"/>
                </a:solidFill>
              </a:defRPr>
            </a:pPr>
            <a:r>
              <a:rPr dirty="0"/>
              <a:t>🎯 </a:t>
            </a:r>
            <a:r>
              <a:rPr dirty="0" err="1"/>
              <a:t>의</a:t>
            </a:r>
            <a:r>
              <a:rPr lang="ko-KR" altLang="en-US" dirty="0"/>
              <a:t>료</a:t>
            </a:r>
            <a:r>
              <a:rPr dirty="0"/>
              <a:t> </a:t>
            </a:r>
            <a:r>
              <a:rPr dirty="0" err="1"/>
              <a:t>정보</a:t>
            </a:r>
            <a:r>
              <a:rPr dirty="0"/>
              <a:t> </a:t>
            </a:r>
            <a:r>
              <a:rPr dirty="0" err="1"/>
              <a:t>질의</a:t>
            </a:r>
            <a:r>
              <a:rPr dirty="0"/>
              <a:t> (MEDICAL_INFO)</a:t>
            </a:r>
          </a:p>
          <a:p>
            <a:pPr>
              <a:lnSpc>
                <a:spcPct val="110000"/>
              </a:lnSpc>
              <a:defRPr sz="800">
                <a:solidFill>
                  <a:srgbClr val="323232"/>
                </a:solidFill>
              </a:defRPr>
            </a:pPr>
            <a:endParaRPr dirty="0"/>
          </a:p>
          <a:p>
            <a:pPr>
              <a:lnSpc>
                <a:spcPct val="110000"/>
              </a:lnSpc>
              <a:defRPr sz="800">
                <a:solidFill>
                  <a:srgbClr val="323232"/>
                </a:solidFill>
              </a:defRPr>
            </a:pPr>
            <a:r>
              <a:rPr lang="ko-KR" altLang="en-US" dirty="0"/>
              <a:t>발화 예시</a:t>
            </a:r>
            <a:r>
              <a:rPr lang="en-US" altLang="ko-KR" dirty="0"/>
              <a:t>:</a:t>
            </a:r>
          </a:p>
          <a:p>
            <a:pPr>
              <a:lnSpc>
                <a:spcPct val="110000"/>
              </a:lnSpc>
              <a:defRPr sz="800">
                <a:solidFill>
                  <a:srgbClr val="323232"/>
                </a:solidFill>
              </a:defRPr>
            </a:pPr>
            <a:r>
              <a:rPr lang="en-US" altLang="ko-KR" dirty="0"/>
              <a:t>• "</a:t>
            </a:r>
            <a:r>
              <a:rPr lang="ko-KR" altLang="en-US" dirty="0" err="1"/>
              <a:t>크레아티닌</a:t>
            </a:r>
            <a:r>
              <a:rPr lang="ko-KR" altLang="en-US" dirty="0"/>
              <a:t> </a:t>
            </a:r>
            <a:r>
              <a:rPr lang="en-US" altLang="ko-KR" dirty="0"/>
              <a:t>2.1</a:t>
            </a:r>
            <a:r>
              <a:rPr lang="ko-KR" altLang="en-US" dirty="0"/>
              <a:t>은 위험한가요</a:t>
            </a:r>
            <a:r>
              <a:rPr lang="en-US" altLang="ko-KR" dirty="0"/>
              <a:t>?"</a:t>
            </a:r>
          </a:p>
          <a:p>
            <a:pPr>
              <a:lnSpc>
                <a:spcPct val="110000"/>
              </a:lnSpc>
              <a:defRPr sz="800">
                <a:solidFill>
                  <a:srgbClr val="323232"/>
                </a:solidFill>
              </a:defRPr>
            </a:pPr>
            <a:r>
              <a:rPr lang="en-US" altLang="ko-KR" dirty="0"/>
              <a:t>• "CKD 3</a:t>
            </a:r>
            <a:r>
              <a:rPr lang="ko-KR" altLang="en-US" dirty="0"/>
              <a:t>기에서 뭘 해야 하나요</a:t>
            </a:r>
            <a:r>
              <a:rPr lang="en-US" altLang="ko-KR" dirty="0"/>
              <a:t>?"</a:t>
            </a:r>
          </a:p>
          <a:p>
            <a:pPr>
              <a:lnSpc>
                <a:spcPct val="110000"/>
              </a:lnSpc>
              <a:defRPr sz="800">
                <a:solidFill>
                  <a:srgbClr val="323232"/>
                </a:solidFill>
              </a:defRPr>
            </a:pPr>
            <a:r>
              <a:rPr lang="en-US" altLang="ko-KR" dirty="0"/>
              <a:t>• "</a:t>
            </a:r>
            <a:r>
              <a:rPr lang="ko-KR" altLang="en-US" dirty="0"/>
              <a:t>투석 준비 뭐 해야 해요</a:t>
            </a:r>
            <a:r>
              <a:rPr lang="en-US" altLang="ko-KR" dirty="0"/>
              <a:t>?", "</a:t>
            </a:r>
            <a:r>
              <a:rPr lang="ko-KR" altLang="en-US" dirty="0"/>
              <a:t>투석 부작용은</a:t>
            </a:r>
            <a:r>
              <a:rPr lang="en-US" altLang="ko-KR" dirty="0"/>
              <a:t>?"</a:t>
            </a:r>
          </a:p>
          <a:p>
            <a:pPr>
              <a:lnSpc>
                <a:spcPct val="110000"/>
              </a:lnSpc>
              <a:defRPr sz="800">
                <a:solidFill>
                  <a:srgbClr val="323232"/>
                </a:solidFill>
              </a:defRPr>
            </a:pPr>
            <a:endParaRPr lang="ko-KR" altLang="en-US" dirty="0"/>
          </a:p>
          <a:p>
            <a:pPr>
              <a:lnSpc>
                <a:spcPct val="110000"/>
              </a:lnSpc>
              <a:defRPr sz="800">
                <a:solidFill>
                  <a:srgbClr val="323232"/>
                </a:solidFill>
              </a:defRPr>
            </a:pPr>
            <a:r>
              <a:rPr lang="ko-KR" altLang="en-US" dirty="0"/>
              <a:t>처리 흐름</a:t>
            </a:r>
            <a:r>
              <a:rPr lang="en-US" altLang="ko-KR" dirty="0"/>
              <a:t>:</a:t>
            </a:r>
          </a:p>
          <a:p>
            <a:pPr>
              <a:lnSpc>
                <a:spcPct val="110000"/>
              </a:lnSpc>
              <a:defRPr sz="800">
                <a:solidFill>
                  <a:srgbClr val="323232"/>
                </a:solidFill>
              </a:defRPr>
            </a:pPr>
            <a:r>
              <a:rPr lang="en-US" altLang="ko-KR" dirty="0"/>
              <a:t>→ </a:t>
            </a:r>
            <a:r>
              <a:rPr lang="ko-KR" altLang="en-US" dirty="0"/>
              <a:t>사용자 프로필</a:t>
            </a:r>
            <a:r>
              <a:rPr lang="en-US" altLang="ko-KR" dirty="0"/>
              <a:t>(</a:t>
            </a:r>
            <a:r>
              <a:rPr lang="ko-KR" altLang="en-US" dirty="0"/>
              <a:t>일반인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ko-KR" altLang="en-US" dirty="0" err="1"/>
              <a:t>질환자</a:t>
            </a:r>
            <a:r>
              <a:rPr lang="en-US" altLang="ko-KR" dirty="0"/>
              <a:t>,</a:t>
            </a:r>
            <a:r>
              <a:rPr lang="ko-KR" altLang="en-US" dirty="0"/>
              <a:t> 전문가</a:t>
            </a:r>
            <a:r>
              <a:rPr lang="en-US" altLang="ko-KR" dirty="0"/>
              <a:t>)</a:t>
            </a:r>
            <a:r>
              <a:rPr lang="ko-KR" altLang="en-US" dirty="0"/>
              <a:t> 확인 </a:t>
            </a:r>
          </a:p>
          <a:p>
            <a:pPr>
              <a:lnSpc>
                <a:spcPct val="110000"/>
              </a:lnSpc>
              <a:defRPr sz="800">
                <a:solidFill>
                  <a:srgbClr val="323232"/>
                </a:solidFill>
              </a:defRPr>
            </a:pPr>
            <a:r>
              <a:rPr lang="ko-KR" altLang="en-US" dirty="0"/>
              <a:t>→ 맞춤형 답변 생성 </a:t>
            </a:r>
            <a:r>
              <a:rPr lang="en-US" altLang="ko-KR" dirty="0"/>
              <a:t>+ </a:t>
            </a:r>
            <a:r>
              <a:rPr lang="ko-KR" altLang="en-US" dirty="0"/>
              <a:t>출처 제공</a:t>
            </a:r>
          </a:p>
          <a:p>
            <a:pPr>
              <a:lnSpc>
                <a:spcPct val="110000"/>
              </a:lnSpc>
              <a:defRPr sz="800">
                <a:solidFill>
                  <a:srgbClr val="323232"/>
                </a:solidFill>
              </a:defRPr>
            </a:pPr>
            <a:r>
              <a:rPr lang="en-US" altLang="ko-KR" dirty="0"/>
              <a:t>-</a:t>
            </a:r>
            <a:r>
              <a:rPr lang="ko-KR" altLang="en-US" dirty="0"/>
              <a:t>일반인</a:t>
            </a:r>
            <a:r>
              <a:rPr lang="en-US" altLang="ko-KR" dirty="0"/>
              <a:t>:</a:t>
            </a:r>
            <a:r>
              <a:rPr lang="ko-KR" altLang="en-US" dirty="0"/>
              <a:t> 기초 의학</a:t>
            </a:r>
            <a:r>
              <a:rPr lang="en-US" altLang="ko-KR" dirty="0"/>
              <a:t>,</a:t>
            </a:r>
            <a:r>
              <a:rPr lang="ko-KR" altLang="en-US" dirty="0"/>
              <a:t> 국내 의료 정보 </a:t>
            </a:r>
          </a:p>
          <a:p>
            <a:pPr>
              <a:lnSpc>
                <a:spcPct val="110000"/>
              </a:lnSpc>
              <a:defRPr sz="800">
                <a:solidFill>
                  <a:srgbClr val="323232"/>
                </a:solidFill>
              </a:defRPr>
            </a:pPr>
            <a:r>
              <a:rPr lang="en-US" altLang="ko-KR" dirty="0"/>
              <a:t>-</a:t>
            </a:r>
            <a:r>
              <a:rPr lang="ko-KR" altLang="en-US" dirty="0" err="1"/>
              <a:t>질환자</a:t>
            </a:r>
            <a:r>
              <a:rPr lang="en-US" altLang="ko-KR" dirty="0"/>
              <a:t>:</a:t>
            </a:r>
            <a:r>
              <a:rPr lang="ko-KR" altLang="en-US" dirty="0"/>
              <a:t> 기초 의학</a:t>
            </a:r>
            <a:r>
              <a:rPr lang="en-US" altLang="ko-KR" dirty="0"/>
              <a:t>,</a:t>
            </a:r>
            <a:r>
              <a:rPr lang="ko-KR" altLang="en-US" dirty="0"/>
              <a:t> 국내 의료 정보 </a:t>
            </a:r>
          </a:p>
          <a:p>
            <a:pPr>
              <a:lnSpc>
                <a:spcPct val="110000"/>
              </a:lnSpc>
              <a:defRPr sz="800">
                <a:solidFill>
                  <a:srgbClr val="323232"/>
                </a:solidFill>
              </a:defRPr>
            </a:pPr>
            <a:r>
              <a:rPr lang="ko-KR" altLang="en-US" dirty="0"/>
              <a:t> </a:t>
            </a:r>
            <a:r>
              <a:rPr lang="en-US" altLang="ko-KR" dirty="0"/>
              <a:t>+</a:t>
            </a:r>
            <a:r>
              <a:rPr lang="ko-KR" altLang="en-US" dirty="0"/>
              <a:t> “관련 연구 정보 원하세요</a:t>
            </a:r>
            <a:r>
              <a:rPr lang="en-US" altLang="ko-KR" dirty="0"/>
              <a:t>?" → YES </a:t>
            </a:r>
            <a:r>
              <a:rPr lang="ko-KR" altLang="en-US" dirty="0"/>
              <a:t>시 </a:t>
            </a:r>
            <a:r>
              <a:rPr lang="en-US" altLang="ko-KR" dirty="0"/>
              <a:t>PubMed </a:t>
            </a:r>
            <a:r>
              <a:rPr lang="ko-KR" altLang="en-US" dirty="0"/>
              <a:t>논문 연동</a:t>
            </a:r>
          </a:p>
          <a:p>
            <a:pPr>
              <a:lnSpc>
                <a:spcPct val="110000"/>
              </a:lnSpc>
              <a:defRPr sz="800">
                <a:solidFill>
                  <a:srgbClr val="323232"/>
                </a:solidFill>
              </a:defRPr>
            </a:pPr>
            <a:r>
              <a:rPr lang="en-US" altLang="ko-KR" dirty="0"/>
              <a:t>-</a:t>
            </a:r>
            <a:r>
              <a:rPr lang="ko-KR" altLang="en-US" dirty="0"/>
              <a:t>전문가</a:t>
            </a:r>
            <a:r>
              <a:rPr lang="en-US" altLang="ko-KR" dirty="0"/>
              <a:t>:</a:t>
            </a:r>
            <a:r>
              <a:rPr lang="ko-KR" altLang="en-US" dirty="0"/>
              <a:t> 바로 </a:t>
            </a:r>
            <a:r>
              <a:rPr lang="en-US" altLang="ko-KR" dirty="0"/>
              <a:t>PubMed </a:t>
            </a:r>
            <a:r>
              <a:rPr lang="ko-KR" altLang="en-US" dirty="0"/>
              <a:t>논문 검색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85E6B1-04C4-1684-208B-7BF3A63E6DE1}"/>
              </a:ext>
            </a:extLst>
          </p:cNvPr>
          <p:cNvSpPr txBox="1"/>
          <p:nvPr/>
        </p:nvSpPr>
        <p:spPr>
          <a:xfrm>
            <a:off x="4686243" y="528235"/>
            <a:ext cx="3335311" cy="219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800">
                <a:solidFill>
                  <a:srgbClr val="323232"/>
                </a:solidFill>
              </a:defRPr>
            </a:pPr>
            <a:r>
              <a:rPr lang="en-US" altLang="ko-KR" dirty="0"/>
              <a:t>[</a:t>
            </a:r>
            <a:r>
              <a:rPr lang="ko-KR" altLang="en-US" dirty="0"/>
              <a:t>사용자 발화 → </a:t>
            </a:r>
            <a:r>
              <a:rPr lang="en-US" altLang="ko-KR" dirty="0">
                <a:solidFill>
                  <a:srgbClr val="0070C0"/>
                </a:solidFill>
              </a:rPr>
              <a:t>AI </a:t>
            </a:r>
            <a:r>
              <a:rPr lang="ko-KR" altLang="en-US" dirty="0">
                <a:solidFill>
                  <a:srgbClr val="0070C0"/>
                </a:solidFill>
              </a:rPr>
              <a:t>의도 분류 → 정책</a:t>
            </a:r>
            <a:r>
              <a:rPr lang="en-US" altLang="ko-KR" dirty="0">
                <a:solidFill>
                  <a:srgbClr val="0070C0"/>
                </a:solidFill>
              </a:rPr>
              <a:t>/</a:t>
            </a:r>
            <a:r>
              <a:rPr lang="ko-KR" altLang="en-US" dirty="0">
                <a:solidFill>
                  <a:srgbClr val="0070C0"/>
                </a:solidFill>
              </a:rPr>
              <a:t>지침 적용 </a:t>
            </a:r>
            <a:r>
              <a:rPr lang="ko-KR" altLang="en-US" dirty="0"/>
              <a:t>→ 적절한 응답</a:t>
            </a:r>
            <a:r>
              <a:rPr lang="en-US" altLang="ko-KR" dirty="0"/>
              <a:t>]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53281D-277F-2C45-916F-5B0A3CA724FC}"/>
              </a:ext>
            </a:extLst>
          </p:cNvPr>
          <p:cNvSpPr txBox="1"/>
          <p:nvPr/>
        </p:nvSpPr>
        <p:spPr>
          <a:xfrm>
            <a:off x="6697383" y="994457"/>
            <a:ext cx="1940781" cy="170963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800">
                <a:solidFill>
                  <a:srgbClr val="323232"/>
                </a:solidFill>
              </a:defRPr>
            </a:pPr>
            <a:r>
              <a:rPr lang="ko-KR" altLang="en-US" dirty="0"/>
              <a:t>🔬 논문 검색 </a:t>
            </a:r>
            <a:r>
              <a:rPr lang="en-US" altLang="ko-KR" dirty="0"/>
              <a:t>(RESEARCH - </a:t>
            </a:r>
            <a:r>
              <a:rPr lang="ko-KR" altLang="en-US" dirty="0"/>
              <a:t>연구자용</a:t>
            </a:r>
            <a:r>
              <a:rPr lang="en-US" altLang="ko-KR" dirty="0"/>
              <a:t>)</a:t>
            </a:r>
          </a:p>
          <a:p>
            <a:pPr>
              <a:lnSpc>
                <a:spcPct val="110000"/>
              </a:lnSpc>
              <a:defRPr sz="800">
                <a:solidFill>
                  <a:srgbClr val="323232"/>
                </a:solidFill>
              </a:defRPr>
            </a:pPr>
            <a:endParaRPr lang="en-US" altLang="ko-KR" dirty="0"/>
          </a:p>
          <a:p>
            <a:pPr>
              <a:lnSpc>
                <a:spcPct val="110000"/>
              </a:lnSpc>
              <a:defRPr sz="800">
                <a:solidFill>
                  <a:srgbClr val="323232"/>
                </a:solidFill>
              </a:defRPr>
            </a:pPr>
            <a:r>
              <a:rPr lang="ko-KR" altLang="en-US" dirty="0"/>
              <a:t>발화 예시</a:t>
            </a:r>
            <a:r>
              <a:rPr lang="en-US" altLang="ko-KR" dirty="0"/>
              <a:t>:</a:t>
            </a:r>
          </a:p>
          <a:p>
            <a:pPr>
              <a:lnSpc>
                <a:spcPct val="110000"/>
              </a:lnSpc>
              <a:defRPr sz="800">
                <a:solidFill>
                  <a:srgbClr val="323232"/>
                </a:solidFill>
              </a:defRPr>
            </a:pPr>
            <a:r>
              <a:rPr lang="en-US" altLang="ko-KR" dirty="0"/>
              <a:t>• "CKD </a:t>
            </a:r>
            <a:r>
              <a:rPr lang="ko-KR" altLang="en-US" dirty="0"/>
              <a:t>조기진단 관련 최신 논문</a:t>
            </a:r>
            <a:r>
              <a:rPr lang="en-US" altLang="ko-KR" dirty="0"/>
              <a:t>"</a:t>
            </a:r>
          </a:p>
          <a:p>
            <a:pPr>
              <a:lnSpc>
                <a:spcPct val="110000"/>
              </a:lnSpc>
              <a:defRPr sz="800">
                <a:solidFill>
                  <a:srgbClr val="323232"/>
                </a:solidFill>
              </a:defRPr>
            </a:pPr>
            <a:r>
              <a:rPr lang="en-US" altLang="ko-KR" dirty="0"/>
              <a:t>• "</a:t>
            </a:r>
            <a:r>
              <a:rPr lang="ko-KR" altLang="en-US" dirty="0"/>
              <a:t>이 </a:t>
            </a:r>
            <a:r>
              <a:rPr lang="en-US" altLang="ko-KR" dirty="0"/>
              <a:t>3</a:t>
            </a:r>
            <a:r>
              <a:rPr lang="ko-KR" altLang="en-US" dirty="0"/>
              <a:t>개 논문의 차이점 비교</a:t>
            </a:r>
            <a:r>
              <a:rPr lang="en-US" altLang="ko-KR" dirty="0"/>
              <a:t>"</a:t>
            </a:r>
          </a:p>
          <a:p>
            <a:pPr>
              <a:lnSpc>
                <a:spcPct val="110000"/>
              </a:lnSpc>
              <a:defRPr sz="800">
                <a:solidFill>
                  <a:srgbClr val="323232"/>
                </a:solidFill>
              </a:defRPr>
            </a:pPr>
            <a:r>
              <a:rPr lang="en-US" altLang="ko-KR" dirty="0"/>
              <a:t>• "</a:t>
            </a:r>
            <a:r>
              <a:rPr lang="ko-KR" altLang="en-US" dirty="0" err="1"/>
              <a:t>바이오마커</a:t>
            </a:r>
            <a:r>
              <a:rPr lang="ko-KR" altLang="en-US" dirty="0"/>
              <a:t> 연구 트렌드는</a:t>
            </a:r>
            <a:r>
              <a:rPr lang="en-US" altLang="ko-KR" dirty="0"/>
              <a:t>?"</a:t>
            </a:r>
          </a:p>
          <a:p>
            <a:pPr>
              <a:lnSpc>
                <a:spcPct val="110000"/>
              </a:lnSpc>
              <a:defRPr sz="800">
                <a:solidFill>
                  <a:srgbClr val="323232"/>
                </a:solidFill>
              </a:defRPr>
            </a:pPr>
            <a:endParaRPr lang="en-US" altLang="ko-KR" dirty="0"/>
          </a:p>
          <a:p>
            <a:pPr>
              <a:lnSpc>
                <a:spcPct val="110000"/>
              </a:lnSpc>
              <a:defRPr sz="800">
                <a:solidFill>
                  <a:srgbClr val="323232"/>
                </a:solidFill>
              </a:defRPr>
            </a:pPr>
            <a:r>
              <a:rPr lang="ko-KR" altLang="en-US" dirty="0"/>
              <a:t>처리 흐름</a:t>
            </a:r>
            <a:r>
              <a:rPr lang="en-US" altLang="ko-KR" dirty="0"/>
              <a:t>:</a:t>
            </a:r>
          </a:p>
          <a:p>
            <a:pPr>
              <a:lnSpc>
                <a:spcPct val="110000"/>
              </a:lnSpc>
              <a:defRPr sz="800">
                <a:solidFill>
                  <a:srgbClr val="323232"/>
                </a:solidFill>
              </a:defRPr>
            </a:pPr>
            <a:r>
              <a:rPr lang="en-US" altLang="ko-KR" dirty="0"/>
              <a:t>→ PubMed </a:t>
            </a:r>
            <a:r>
              <a:rPr lang="ko-KR" altLang="en-US" dirty="0"/>
              <a:t>검색 또는 내부 </a:t>
            </a:r>
            <a:r>
              <a:rPr lang="en-US" altLang="ko-KR" dirty="0"/>
              <a:t>DB </a:t>
            </a:r>
            <a:r>
              <a:rPr lang="ko-KR" altLang="en-US" dirty="0"/>
              <a:t>검색</a:t>
            </a:r>
          </a:p>
          <a:p>
            <a:pPr>
              <a:lnSpc>
                <a:spcPct val="110000"/>
              </a:lnSpc>
              <a:defRPr sz="800">
                <a:solidFill>
                  <a:srgbClr val="323232"/>
                </a:solidFill>
              </a:defRPr>
            </a:pPr>
            <a:r>
              <a:rPr lang="ko-KR" altLang="en-US" dirty="0"/>
              <a:t>→ </a:t>
            </a:r>
            <a:r>
              <a:rPr lang="en-US" altLang="ko-KR" dirty="0"/>
              <a:t>RAG </a:t>
            </a:r>
            <a:r>
              <a:rPr lang="ko-KR" altLang="en-US" dirty="0"/>
              <a:t>기반 논문 요약</a:t>
            </a:r>
          </a:p>
          <a:p>
            <a:pPr>
              <a:lnSpc>
                <a:spcPct val="110000"/>
              </a:lnSpc>
              <a:defRPr sz="800">
                <a:solidFill>
                  <a:srgbClr val="323232"/>
                </a:solidFill>
              </a:defRPr>
            </a:pPr>
            <a:r>
              <a:rPr lang="ko-KR" altLang="en-US" dirty="0"/>
              <a:t>→ 다중 논문 비교 분석</a:t>
            </a:r>
          </a:p>
          <a:p>
            <a:pPr>
              <a:lnSpc>
                <a:spcPct val="110000"/>
              </a:lnSpc>
              <a:defRPr sz="800">
                <a:solidFill>
                  <a:srgbClr val="323232"/>
                </a:solidFill>
              </a:defRPr>
            </a:pPr>
            <a:r>
              <a:rPr lang="ko-KR" altLang="en-US" dirty="0"/>
              <a:t>→ 트렌드 시각화 </a:t>
            </a:r>
            <a:r>
              <a:rPr lang="en-US" altLang="ko-KR" dirty="0"/>
              <a:t>(</a:t>
            </a:r>
            <a:r>
              <a:rPr lang="ko-KR" altLang="en-US" dirty="0"/>
              <a:t>시계열</a:t>
            </a:r>
            <a:r>
              <a:rPr lang="en-US" altLang="ko-KR" dirty="0"/>
              <a:t>, </a:t>
            </a:r>
            <a:r>
              <a:rPr lang="ko-KR" altLang="en-US" dirty="0"/>
              <a:t>네트워크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D2419D-1F76-8EF5-37AB-14B8C218A35D}"/>
              </a:ext>
            </a:extLst>
          </p:cNvPr>
          <p:cNvSpPr txBox="1"/>
          <p:nvPr/>
        </p:nvSpPr>
        <p:spPr>
          <a:xfrm>
            <a:off x="2901218" y="3554839"/>
            <a:ext cx="3005207" cy="14441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700">
                <a:solidFill>
                  <a:srgbClr val="282828"/>
                </a:solidFill>
              </a:defRPr>
            </a:pPr>
            <a:r>
              <a:rPr lang="ko-KR" altLang="en-US" dirty="0"/>
              <a:t>발화 예시</a:t>
            </a:r>
            <a:r>
              <a:rPr lang="en-US" altLang="ko-KR" dirty="0"/>
              <a:t>:</a:t>
            </a:r>
          </a:p>
          <a:p>
            <a:pPr>
              <a:lnSpc>
                <a:spcPct val="105000"/>
              </a:lnSpc>
              <a:defRPr sz="700">
                <a:solidFill>
                  <a:srgbClr val="282828"/>
                </a:solidFill>
              </a:defRPr>
            </a:pPr>
            <a:r>
              <a:rPr lang="en-US" altLang="ko-KR" dirty="0"/>
              <a:t>“</a:t>
            </a:r>
            <a:r>
              <a:rPr lang="ko-KR" altLang="en-US" dirty="0"/>
              <a:t>신장 이식 수술  잘하는 병원이 어디야</a:t>
            </a:r>
            <a:r>
              <a:rPr lang="en-US" altLang="ko-KR" dirty="0"/>
              <a:t>?”</a:t>
            </a:r>
          </a:p>
          <a:p>
            <a:pPr>
              <a:lnSpc>
                <a:spcPct val="105000"/>
              </a:lnSpc>
              <a:defRPr sz="700">
                <a:solidFill>
                  <a:srgbClr val="282828"/>
                </a:solidFill>
              </a:defRPr>
            </a:pPr>
            <a:r>
              <a:rPr lang="en-US" altLang="ko-KR" dirty="0"/>
              <a:t>“</a:t>
            </a:r>
            <a:r>
              <a:rPr lang="ko-KR" altLang="en-US" dirty="0"/>
              <a:t>강원도에서 신장 이식할 수 있는 병원이 어디야 </a:t>
            </a:r>
            <a:r>
              <a:rPr lang="en-US" altLang="ko-KR" dirty="0"/>
              <a:t>?”</a:t>
            </a:r>
          </a:p>
          <a:p>
            <a:pPr>
              <a:lnSpc>
                <a:spcPct val="105000"/>
              </a:lnSpc>
              <a:defRPr sz="700">
                <a:solidFill>
                  <a:srgbClr val="282828"/>
                </a:solidFill>
              </a:defRPr>
            </a:pPr>
            <a:r>
              <a:rPr lang="en-US" altLang="ko-KR" dirty="0"/>
              <a:t>“</a:t>
            </a:r>
            <a:r>
              <a:rPr lang="ko-KR" altLang="en-US" dirty="0"/>
              <a:t>미국가서 신장 수술 받을 수 있어 </a:t>
            </a:r>
            <a:r>
              <a:rPr lang="en-US" altLang="ko-KR" dirty="0"/>
              <a:t>?"</a:t>
            </a:r>
          </a:p>
          <a:p>
            <a:pPr>
              <a:lnSpc>
                <a:spcPct val="105000"/>
              </a:lnSpc>
              <a:defRPr sz="700">
                <a:solidFill>
                  <a:srgbClr val="282828"/>
                </a:solidFill>
              </a:defRPr>
            </a:pPr>
            <a:endParaRPr lang="en-US" altLang="ko-KR" dirty="0"/>
          </a:p>
          <a:p>
            <a:pPr>
              <a:lnSpc>
                <a:spcPct val="105000"/>
              </a:lnSpc>
              <a:defRPr sz="700">
                <a:solidFill>
                  <a:srgbClr val="282828"/>
                </a:solidFill>
              </a:defRPr>
            </a:pPr>
            <a:r>
              <a:rPr lang="ko-KR" altLang="en-US" dirty="0"/>
              <a:t>처리 흐름</a:t>
            </a:r>
            <a:r>
              <a:rPr lang="en-US" altLang="ko-KR" dirty="0"/>
              <a:t>:</a:t>
            </a:r>
          </a:p>
          <a:p>
            <a:pPr>
              <a:lnSpc>
                <a:spcPct val="105000"/>
              </a:lnSpc>
              <a:defRPr sz="700">
                <a:solidFill>
                  <a:srgbClr val="282828"/>
                </a:solidFill>
              </a:defRPr>
            </a:pPr>
            <a:r>
              <a:rPr lang="en-US" altLang="ko-KR" dirty="0"/>
              <a:t>→ </a:t>
            </a:r>
            <a:r>
              <a:rPr lang="ko-KR" altLang="en-US" dirty="0"/>
              <a:t>논문 연구에 대한 발화의도가 아니므로 기초 의학</a:t>
            </a:r>
            <a:r>
              <a:rPr lang="en-US" altLang="ko-KR" dirty="0"/>
              <a:t>,</a:t>
            </a:r>
            <a:r>
              <a:rPr lang="ko-KR" altLang="en-US" dirty="0"/>
              <a:t> 국내 의료 정보 조회</a:t>
            </a:r>
            <a:endParaRPr lang="en-US" altLang="ko-KR" dirty="0"/>
          </a:p>
          <a:p>
            <a:pPr>
              <a:lnSpc>
                <a:spcPct val="105000"/>
              </a:lnSpc>
              <a:defRPr sz="700">
                <a:solidFill>
                  <a:srgbClr val="282828"/>
                </a:solidFill>
              </a:defRPr>
            </a:pPr>
            <a:r>
              <a:rPr lang="en-US" altLang="ko-KR" dirty="0"/>
              <a:t>-</a:t>
            </a:r>
            <a:r>
              <a:rPr lang="ko-KR" altLang="en-US" dirty="0"/>
              <a:t>모든 사용자 프로필 동일 </a:t>
            </a:r>
            <a:endParaRPr lang="en-US" altLang="ko-KR" dirty="0"/>
          </a:p>
          <a:p>
            <a:pPr>
              <a:lnSpc>
                <a:spcPct val="105000"/>
              </a:lnSpc>
              <a:defRPr sz="700">
                <a:solidFill>
                  <a:srgbClr val="282828"/>
                </a:solidFill>
              </a:defRPr>
            </a:pPr>
            <a:r>
              <a:rPr lang="en-US" altLang="ko-KR" dirty="0"/>
              <a:t>→ </a:t>
            </a:r>
            <a:r>
              <a:rPr lang="ko-KR" altLang="en-US" dirty="0"/>
              <a:t>이식 적격성 기준</a:t>
            </a:r>
          </a:p>
          <a:p>
            <a:pPr>
              <a:lnSpc>
                <a:spcPct val="105000"/>
              </a:lnSpc>
              <a:defRPr sz="700">
                <a:solidFill>
                  <a:srgbClr val="282828"/>
                </a:solidFill>
              </a:defRPr>
            </a:pPr>
            <a:r>
              <a:rPr lang="ko-KR" altLang="en-US" dirty="0"/>
              <a:t>→ </a:t>
            </a:r>
            <a:r>
              <a:rPr lang="en-US" altLang="ko-KR" dirty="0"/>
              <a:t>KONOS </a:t>
            </a:r>
            <a:r>
              <a:rPr lang="ko-KR" altLang="en-US" dirty="0"/>
              <a:t>등록 절차</a:t>
            </a:r>
          </a:p>
          <a:p>
            <a:pPr>
              <a:lnSpc>
                <a:spcPct val="105000"/>
              </a:lnSpc>
              <a:defRPr sz="700">
                <a:solidFill>
                  <a:srgbClr val="282828"/>
                </a:solidFill>
              </a:defRPr>
            </a:pPr>
            <a:r>
              <a:rPr lang="ko-KR" altLang="en-US" dirty="0"/>
              <a:t>→ 생체</a:t>
            </a:r>
            <a:r>
              <a:rPr lang="en-US" altLang="ko-KR" dirty="0"/>
              <a:t>/</a:t>
            </a:r>
            <a:r>
              <a:rPr lang="ko-KR" altLang="en-US" dirty="0"/>
              <a:t>뇌사 이식 차이</a:t>
            </a:r>
          </a:p>
          <a:p>
            <a:pPr>
              <a:lnSpc>
                <a:spcPct val="105000"/>
              </a:lnSpc>
              <a:defRPr sz="700">
                <a:solidFill>
                  <a:srgbClr val="282828"/>
                </a:solidFill>
              </a:defRPr>
            </a:pPr>
            <a:r>
              <a:rPr lang="ko-KR" altLang="en-US" dirty="0"/>
              <a:t>→ 이식 후 면역억제제 관리</a:t>
            </a:r>
            <a:r>
              <a:rPr lang="en-US" altLang="ko-KR" dirty="0"/>
              <a:t>, </a:t>
            </a:r>
            <a:r>
              <a:rPr lang="ko-KR" altLang="en-US" dirty="0"/>
              <a:t>생활 가이드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C2B217-8DBF-97FF-6B1D-132914037175}"/>
              </a:ext>
            </a:extLst>
          </p:cNvPr>
          <p:cNvSpPr txBox="1"/>
          <p:nvPr/>
        </p:nvSpPr>
        <p:spPr>
          <a:xfrm>
            <a:off x="486382" y="3265782"/>
            <a:ext cx="2891492" cy="1574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800">
                <a:solidFill>
                  <a:srgbClr val="323232"/>
                </a:solidFill>
              </a:defRPr>
            </a:pPr>
            <a:r>
              <a:rPr lang="ko-KR" altLang="en-US" dirty="0"/>
              <a:t>⚠️ </a:t>
            </a:r>
            <a:r>
              <a:rPr lang="ko-KR" altLang="en-US" b="1" dirty="0">
                <a:solidFill>
                  <a:srgbClr val="FF0000"/>
                </a:solidFill>
              </a:rPr>
              <a:t>의학적 판단 차단</a:t>
            </a:r>
            <a:r>
              <a:rPr lang="en-US" altLang="ko-KR" b="1" dirty="0">
                <a:solidFill>
                  <a:srgbClr val="FF0000"/>
                </a:solidFill>
              </a:rPr>
              <a:t>-</a:t>
            </a:r>
            <a:r>
              <a:rPr lang="ko-KR" altLang="en-US" b="1" dirty="0">
                <a:solidFill>
                  <a:srgbClr val="FF0000"/>
                </a:solidFill>
              </a:rPr>
              <a:t> 진단</a:t>
            </a:r>
            <a:r>
              <a:rPr lang="en-US" altLang="ko-KR" b="1" dirty="0">
                <a:solidFill>
                  <a:srgbClr val="FF0000"/>
                </a:solidFill>
              </a:rPr>
              <a:t>/</a:t>
            </a:r>
            <a:r>
              <a:rPr lang="ko-KR" altLang="en-US" b="1" dirty="0">
                <a:solidFill>
                  <a:srgbClr val="FF0000"/>
                </a:solidFill>
              </a:rPr>
              <a:t>처방</a:t>
            </a:r>
            <a:r>
              <a:rPr lang="en-US" altLang="ko-KR" b="1" dirty="0">
                <a:solidFill>
                  <a:srgbClr val="FF0000"/>
                </a:solidFill>
              </a:rPr>
              <a:t>/</a:t>
            </a:r>
            <a:r>
              <a:rPr lang="ko-KR" altLang="en-US" b="1" dirty="0">
                <a:solidFill>
                  <a:srgbClr val="FF0000"/>
                </a:solidFill>
              </a:rPr>
              <a:t>복약</a:t>
            </a:r>
            <a:r>
              <a:rPr lang="en-US" altLang="ko-KR" b="1" dirty="0">
                <a:solidFill>
                  <a:srgbClr val="FF0000"/>
                </a:solidFill>
              </a:rPr>
              <a:t>/</a:t>
            </a:r>
            <a:r>
              <a:rPr lang="ko-KR" altLang="en-US" b="1" dirty="0">
                <a:solidFill>
                  <a:srgbClr val="FF0000"/>
                </a:solidFill>
              </a:rPr>
              <a:t>병원 제시 </a:t>
            </a:r>
            <a:r>
              <a:rPr lang="en-US" altLang="ko-KR" b="1" dirty="0">
                <a:solidFill>
                  <a:srgbClr val="FF0000"/>
                </a:solidFill>
              </a:rPr>
              <a:t>(POLICY)</a:t>
            </a:r>
          </a:p>
          <a:p>
            <a:pPr>
              <a:lnSpc>
                <a:spcPct val="110000"/>
              </a:lnSpc>
              <a:defRPr sz="800">
                <a:solidFill>
                  <a:srgbClr val="323232"/>
                </a:solidFill>
              </a:defRPr>
            </a:pPr>
            <a:endParaRPr lang="en-US" altLang="ko-KR" b="1" dirty="0">
              <a:solidFill>
                <a:srgbClr val="FF0000"/>
              </a:solidFill>
            </a:endParaRPr>
          </a:p>
          <a:p>
            <a:pPr>
              <a:lnSpc>
                <a:spcPct val="110000"/>
              </a:lnSpc>
              <a:defRPr sz="800">
                <a:solidFill>
                  <a:srgbClr val="323232"/>
                </a:solidFill>
              </a:defRPr>
            </a:pPr>
            <a:r>
              <a:rPr lang="ko-KR" altLang="en-US" dirty="0"/>
              <a:t>발화 예시</a:t>
            </a:r>
            <a:r>
              <a:rPr lang="en-US" altLang="ko-KR" dirty="0"/>
              <a:t>:</a:t>
            </a:r>
          </a:p>
          <a:p>
            <a:pPr>
              <a:lnSpc>
                <a:spcPct val="110000"/>
              </a:lnSpc>
              <a:defRPr sz="800">
                <a:solidFill>
                  <a:srgbClr val="323232"/>
                </a:solidFill>
              </a:defRPr>
            </a:pPr>
            <a:r>
              <a:rPr lang="en-US" altLang="ko-KR" dirty="0"/>
              <a:t>• “</a:t>
            </a:r>
            <a:r>
              <a:rPr lang="ko-KR" altLang="en-US" dirty="0"/>
              <a:t>지금 배가 너무 아픈데 이 증상은 </a:t>
            </a:r>
            <a:r>
              <a:rPr lang="ko-KR" altLang="en-US" dirty="0" err="1"/>
              <a:t>뭔가요</a:t>
            </a:r>
            <a:r>
              <a:rPr lang="en-US" altLang="ko-KR" dirty="0"/>
              <a:t>?"</a:t>
            </a:r>
          </a:p>
          <a:p>
            <a:pPr>
              <a:lnSpc>
                <a:spcPct val="110000"/>
              </a:lnSpc>
              <a:defRPr sz="800">
                <a:solidFill>
                  <a:srgbClr val="323232"/>
                </a:solidFill>
              </a:defRPr>
            </a:pPr>
            <a:r>
              <a:rPr lang="en-US" altLang="ko-KR" dirty="0"/>
              <a:t>• "</a:t>
            </a:r>
            <a:r>
              <a:rPr lang="ko-KR" altLang="en-US" dirty="0"/>
              <a:t>이 약 먹어도 되나요</a:t>
            </a:r>
            <a:r>
              <a:rPr lang="en-US" altLang="ko-KR" dirty="0"/>
              <a:t>?"</a:t>
            </a:r>
          </a:p>
          <a:p>
            <a:pPr>
              <a:lnSpc>
                <a:spcPct val="110000"/>
              </a:lnSpc>
              <a:defRPr sz="800">
                <a:solidFill>
                  <a:srgbClr val="323232"/>
                </a:solidFill>
              </a:defRPr>
            </a:pPr>
            <a:r>
              <a:rPr lang="en-US" altLang="ko-KR" dirty="0"/>
              <a:t>• "</a:t>
            </a:r>
            <a:r>
              <a:rPr lang="ko-KR" altLang="en-US" dirty="0"/>
              <a:t>수술이 필요한가요</a:t>
            </a:r>
            <a:r>
              <a:rPr lang="en-US" altLang="ko-KR" dirty="0"/>
              <a:t>?"</a:t>
            </a:r>
          </a:p>
          <a:p>
            <a:pPr>
              <a:lnSpc>
                <a:spcPct val="110000"/>
              </a:lnSpc>
              <a:defRPr sz="800">
                <a:solidFill>
                  <a:srgbClr val="323232"/>
                </a:solidFill>
              </a:defRPr>
            </a:pPr>
            <a:endParaRPr lang="en-US" altLang="ko-KR" dirty="0"/>
          </a:p>
          <a:p>
            <a:pPr>
              <a:lnSpc>
                <a:spcPct val="110000"/>
              </a:lnSpc>
              <a:defRPr sz="800">
                <a:solidFill>
                  <a:srgbClr val="323232"/>
                </a:solidFill>
              </a:defRPr>
            </a:pPr>
            <a:r>
              <a:rPr lang="ko-KR" altLang="en-US" dirty="0"/>
              <a:t>처리 흐름</a:t>
            </a:r>
            <a:r>
              <a:rPr lang="en-US" altLang="ko-KR" dirty="0"/>
              <a:t>:</a:t>
            </a:r>
          </a:p>
          <a:p>
            <a:pPr>
              <a:lnSpc>
                <a:spcPct val="110000"/>
              </a:lnSpc>
              <a:defRPr sz="800">
                <a:solidFill>
                  <a:srgbClr val="323232"/>
                </a:solidFill>
              </a:defRPr>
            </a:pPr>
            <a:r>
              <a:rPr lang="en-US" altLang="ko-KR" dirty="0"/>
              <a:t>→ </a:t>
            </a:r>
            <a:r>
              <a:rPr lang="ko-KR" altLang="en-US" dirty="0"/>
              <a:t>의도 분류</a:t>
            </a:r>
            <a:r>
              <a:rPr lang="en-US" altLang="ko-KR" dirty="0"/>
              <a:t>: SYMPTOM / PRESCRIPTION</a:t>
            </a:r>
          </a:p>
          <a:p>
            <a:pPr>
              <a:lnSpc>
                <a:spcPct val="110000"/>
              </a:lnSpc>
              <a:defRPr sz="800">
                <a:solidFill>
                  <a:srgbClr val="323232"/>
                </a:solidFill>
              </a:defRPr>
            </a:pPr>
            <a:r>
              <a:rPr lang="en-US" altLang="ko-KR" dirty="0"/>
              <a:t>→ </a:t>
            </a:r>
            <a:r>
              <a:rPr lang="ko-KR" altLang="en-US" dirty="0"/>
              <a:t>자동 응답</a:t>
            </a:r>
            <a:r>
              <a:rPr lang="en-US" altLang="ko-KR" dirty="0"/>
              <a:t>: "</a:t>
            </a:r>
            <a:r>
              <a:rPr lang="ko-KR" altLang="en-US" dirty="0"/>
              <a:t>의사 검진이 필요합니다</a:t>
            </a:r>
            <a:r>
              <a:rPr lang="en-US" altLang="ko-KR" dirty="0"/>
              <a:t>”</a:t>
            </a:r>
          </a:p>
          <a:p>
            <a:pPr>
              <a:lnSpc>
                <a:spcPct val="110000"/>
              </a:lnSpc>
              <a:defRPr sz="800">
                <a:solidFill>
                  <a:srgbClr val="323232"/>
                </a:solidFill>
              </a:defRPr>
            </a:pPr>
            <a:r>
              <a:rPr lang="en-US" altLang="ko-KR" dirty="0">
                <a:solidFill>
                  <a:srgbClr val="FF0000"/>
                </a:solidFill>
              </a:rPr>
              <a:t>→ </a:t>
            </a:r>
            <a:r>
              <a:rPr lang="ko-KR" altLang="en-US" dirty="0">
                <a:solidFill>
                  <a:srgbClr val="FF0000"/>
                </a:solidFill>
              </a:rPr>
              <a:t>응급 시</a:t>
            </a:r>
            <a:r>
              <a:rPr lang="en-US" altLang="ko-KR" dirty="0">
                <a:solidFill>
                  <a:srgbClr val="FF0000"/>
                </a:solidFill>
              </a:rPr>
              <a:t>: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en-US" altLang="ko-KR" dirty="0">
                <a:solidFill>
                  <a:srgbClr val="FF0000"/>
                </a:solidFill>
              </a:rPr>
              <a:t>“</a:t>
            </a:r>
            <a:r>
              <a:rPr lang="ko-KR" altLang="en-US" dirty="0">
                <a:solidFill>
                  <a:srgbClr val="FF0000"/>
                </a:solidFill>
              </a:rPr>
              <a:t>가까운 병원 정보 안내</a:t>
            </a:r>
            <a:r>
              <a:rPr lang="en-US" altLang="ko-KR" dirty="0">
                <a:solidFill>
                  <a:srgbClr val="FF0000"/>
                </a:solidFill>
              </a:rPr>
              <a:t>”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F3FF09D-4F11-4D21-3480-A3DFE1399B30}"/>
              </a:ext>
            </a:extLst>
          </p:cNvPr>
          <p:cNvSpPr/>
          <p:nvPr/>
        </p:nvSpPr>
        <p:spPr>
          <a:xfrm>
            <a:off x="486383" y="927418"/>
            <a:ext cx="5790392" cy="2087670"/>
          </a:xfrm>
          <a:prstGeom prst="rect">
            <a:avLst/>
          </a:prstGeom>
          <a:noFill/>
          <a:ln w="635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6D664A8-C6DE-17BA-F62E-FEDE676CBA3C}"/>
              </a:ext>
            </a:extLst>
          </p:cNvPr>
          <p:cNvSpPr/>
          <p:nvPr/>
        </p:nvSpPr>
        <p:spPr>
          <a:xfrm>
            <a:off x="6629287" y="920272"/>
            <a:ext cx="2115183" cy="2094329"/>
          </a:xfrm>
          <a:prstGeom prst="rect">
            <a:avLst/>
          </a:prstGeom>
          <a:noFill/>
          <a:ln w="635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A01FE8ED-5892-DD0A-FE15-9E4166A5E206}"/>
              </a:ext>
            </a:extLst>
          </p:cNvPr>
          <p:cNvCxnSpPr>
            <a:cxnSpLocks/>
            <a:stCxn id="12" idx="3"/>
            <a:endCxn id="14" idx="1"/>
          </p:cNvCxnSpPr>
          <p:nvPr/>
        </p:nvCxnSpPr>
        <p:spPr>
          <a:xfrm flipV="1">
            <a:off x="6276775" y="1967437"/>
            <a:ext cx="352512" cy="38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B7817DF-ECBE-DA1F-BD2B-4AB4FB06809B}"/>
              </a:ext>
            </a:extLst>
          </p:cNvPr>
          <p:cNvSpPr/>
          <p:nvPr/>
        </p:nvSpPr>
        <p:spPr>
          <a:xfrm>
            <a:off x="478390" y="3164752"/>
            <a:ext cx="5790392" cy="1864448"/>
          </a:xfrm>
          <a:prstGeom prst="rect">
            <a:avLst/>
          </a:prstGeom>
          <a:noFill/>
          <a:ln w="635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t" anchorCtr="0"/>
          <a:lstStyle/>
          <a:p>
            <a:pPr algn="r"/>
            <a:r>
              <a:rPr kumimoji="1" lang="ko-KR" altLang="en-US" sz="900" dirty="0">
                <a:solidFill>
                  <a:srgbClr val="0070C0"/>
                </a:solidFill>
              </a:rPr>
              <a:t>정책적으로 논문 검색을 </a:t>
            </a:r>
            <a:endParaRPr kumimoji="1" lang="en-US" altLang="ko-KR" sz="900" dirty="0">
              <a:solidFill>
                <a:srgbClr val="0070C0"/>
              </a:solidFill>
            </a:endParaRPr>
          </a:p>
          <a:p>
            <a:pPr algn="r"/>
            <a:r>
              <a:rPr kumimoji="1" lang="ko-KR" altLang="en-US" sz="900" dirty="0">
                <a:solidFill>
                  <a:srgbClr val="0070C0"/>
                </a:solidFill>
              </a:rPr>
              <a:t>추천하지 않도록 프롬프트</a:t>
            </a:r>
            <a:endParaRPr kumimoji="1" lang="ko-KR" altLang="en-US" sz="1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13203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D6545-593D-0D0C-3DCE-69FFF3152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1336A7-0C8D-87AB-4CA8-BA94BAF30184}"/>
              </a:ext>
            </a:extLst>
          </p:cNvPr>
          <p:cNvSpPr txBox="1"/>
          <p:nvPr/>
        </p:nvSpPr>
        <p:spPr>
          <a:xfrm>
            <a:off x="457200" y="274320"/>
            <a:ext cx="3457998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C5F8D"/>
                </a:solidFill>
              </a:defRPr>
            </a:pPr>
            <a:r>
              <a:rPr dirty="0"/>
              <a:t>🗣️ </a:t>
            </a:r>
            <a:r>
              <a:rPr dirty="0" err="1"/>
              <a:t>의도분류</a:t>
            </a:r>
            <a:r>
              <a:rPr dirty="0"/>
              <a:t> </a:t>
            </a:r>
            <a:r>
              <a:rPr lang="ko-KR" altLang="en-US" dirty="0"/>
              <a:t>시나리오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7FA4D0-3507-197C-DD62-7BDEDE5A5361}"/>
              </a:ext>
            </a:extLst>
          </p:cNvPr>
          <p:cNvSpPr txBox="1"/>
          <p:nvPr/>
        </p:nvSpPr>
        <p:spPr>
          <a:xfrm>
            <a:off x="4722984" y="921158"/>
            <a:ext cx="2840477" cy="1709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800">
                <a:solidFill>
                  <a:srgbClr val="323232"/>
                </a:solidFill>
              </a:defRPr>
            </a:pPr>
            <a:r>
              <a:rPr lang="ko-KR" altLang="en-US" dirty="0"/>
              <a:t>📊 건강 기록 요청 </a:t>
            </a:r>
            <a:r>
              <a:rPr lang="en-US" altLang="ko-KR" dirty="0"/>
              <a:t>(HEALTH_RECORD)</a:t>
            </a:r>
          </a:p>
          <a:p>
            <a:pPr>
              <a:lnSpc>
                <a:spcPct val="110000"/>
              </a:lnSpc>
              <a:defRPr sz="800">
                <a:solidFill>
                  <a:srgbClr val="323232"/>
                </a:solidFill>
              </a:defRPr>
            </a:pPr>
            <a:endParaRPr lang="en-US" altLang="ko-KR" dirty="0"/>
          </a:p>
          <a:p>
            <a:pPr>
              <a:lnSpc>
                <a:spcPct val="110000"/>
              </a:lnSpc>
              <a:defRPr sz="800">
                <a:solidFill>
                  <a:srgbClr val="323232"/>
                </a:solidFill>
              </a:defRPr>
            </a:pPr>
            <a:r>
              <a:rPr lang="ko-KR" altLang="en-US" dirty="0"/>
              <a:t>발화 예시</a:t>
            </a:r>
            <a:r>
              <a:rPr lang="en-US" altLang="ko-KR" dirty="0"/>
              <a:t>:</a:t>
            </a:r>
          </a:p>
          <a:p>
            <a:pPr>
              <a:lnSpc>
                <a:spcPct val="110000"/>
              </a:lnSpc>
              <a:defRPr sz="800">
                <a:solidFill>
                  <a:srgbClr val="323232"/>
                </a:solidFill>
              </a:defRPr>
            </a:pPr>
            <a:r>
              <a:rPr lang="en-US" altLang="ko-KR" dirty="0"/>
              <a:t>• "</a:t>
            </a:r>
            <a:r>
              <a:rPr lang="ko-KR" altLang="en-US" dirty="0"/>
              <a:t>오늘 </a:t>
            </a:r>
            <a:r>
              <a:rPr lang="ko-KR" altLang="en-US" dirty="0" err="1"/>
              <a:t>크레아티닌</a:t>
            </a:r>
            <a:r>
              <a:rPr lang="ko-KR" altLang="en-US" dirty="0"/>
              <a:t> </a:t>
            </a:r>
            <a:r>
              <a:rPr lang="en-US" altLang="ko-KR" dirty="0"/>
              <a:t>2.3 </a:t>
            </a:r>
            <a:r>
              <a:rPr lang="ko-KR" altLang="en-US" dirty="0"/>
              <a:t>받았는데 사구체여과율이 얼마야</a:t>
            </a:r>
            <a:r>
              <a:rPr lang="en-US" altLang="ko-KR" dirty="0"/>
              <a:t>?"</a:t>
            </a:r>
          </a:p>
          <a:p>
            <a:pPr>
              <a:lnSpc>
                <a:spcPct val="110000"/>
              </a:lnSpc>
              <a:defRPr sz="800">
                <a:solidFill>
                  <a:srgbClr val="323232"/>
                </a:solidFill>
              </a:defRPr>
            </a:pPr>
            <a:r>
              <a:rPr lang="en-US" altLang="ko-KR" dirty="0"/>
              <a:t>• " </a:t>
            </a:r>
            <a:r>
              <a:rPr lang="ko-KR" altLang="en-US" dirty="0"/>
              <a:t>내 몸무게 </a:t>
            </a:r>
            <a:r>
              <a:rPr lang="en-US" altLang="ko-KR" dirty="0"/>
              <a:t>53kg</a:t>
            </a:r>
            <a:r>
              <a:rPr lang="ko-KR" altLang="en-US" dirty="0"/>
              <a:t>로 변한걸로 등록해줘</a:t>
            </a:r>
            <a:r>
              <a:rPr lang="en-US" altLang="ko-KR" dirty="0"/>
              <a:t>"</a:t>
            </a:r>
          </a:p>
          <a:p>
            <a:pPr>
              <a:lnSpc>
                <a:spcPct val="110000"/>
              </a:lnSpc>
              <a:defRPr sz="800">
                <a:solidFill>
                  <a:srgbClr val="323232"/>
                </a:solidFill>
              </a:defRPr>
            </a:pPr>
            <a:r>
              <a:rPr lang="en-US" altLang="ko-KR" dirty="0"/>
              <a:t>• "</a:t>
            </a:r>
            <a:r>
              <a:rPr lang="ko-KR" altLang="en-US" dirty="0"/>
              <a:t>내 </a:t>
            </a:r>
            <a:r>
              <a:rPr lang="en-US" altLang="ko-KR" dirty="0"/>
              <a:t>GFR </a:t>
            </a:r>
            <a:r>
              <a:rPr lang="ko-KR" altLang="en-US" dirty="0"/>
              <a:t>추이 그래프 보고 싶어</a:t>
            </a:r>
            <a:r>
              <a:rPr lang="en-US" altLang="ko-KR" dirty="0"/>
              <a:t>"</a:t>
            </a:r>
          </a:p>
          <a:p>
            <a:pPr>
              <a:lnSpc>
                <a:spcPct val="110000"/>
              </a:lnSpc>
              <a:defRPr sz="800">
                <a:solidFill>
                  <a:srgbClr val="323232"/>
                </a:solidFill>
              </a:defRPr>
            </a:pPr>
            <a:endParaRPr lang="en-US" altLang="ko-KR" dirty="0"/>
          </a:p>
          <a:p>
            <a:pPr>
              <a:lnSpc>
                <a:spcPct val="110000"/>
              </a:lnSpc>
              <a:defRPr sz="800">
                <a:solidFill>
                  <a:srgbClr val="323232"/>
                </a:solidFill>
              </a:defRPr>
            </a:pPr>
            <a:r>
              <a:rPr lang="ko-KR" altLang="en-US" dirty="0"/>
              <a:t>처리 흐름</a:t>
            </a:r>
            <a:r>
              <a:rPr lang="en-US" altLang="ko-KR" dirty="0"/>
              <a:t>:</a:t>
            </a:r>
          </a:p>
          <a:p>
            <a:pPr>
              <a:lnSpc>
                <a:spcPct val="110000"/>
              </a:lnSpc>
              <a:defRPr sz="800">
                <a:solidFill>
                  <a:srgbClr val="323232"/>
                </a:solidFill>
              </a:defRPr>
            </a:pPr>
            <a:r>
              <a:rPr lang="en-US" altLang="ko-KR" dirty="0"/>
              <a:t>→ </a:t>
            </a:r>
            <a:r>
              <a:rPr lang="ko-KR" altLang="en-US" dirty="0"/>
              <a:t>회원 </a:t>
            </a:r>
            <a:r>
              <a:rPr lang="en-US" altLang="ko-KR" dirty="0"/>
              <a:t>DB</a:t>
            </a:r>
            <a:r>
              <a:rPr lang="ko-KR" altLang="en-US" dirty="0" err="1"/>
              <a:t>에</a:t>
            </a:r>
            <a:r>
              <a:rPr lang="ko-KR" altLang="en-US" dirty="0"/>
              <a:t> 검진 수치 저장</a:t>
            </a:r>
          </a:p>
          <a:p>
            <a:pPr>
              <a:lnSpc>
                <a:spcPct val="110000"/>
              </a:lnSpc>
              <a:defRPr sz="800">
                <a:solidFill>
                  <a:srgbClr val="323232"/>
                </a:solidFill>
              </a:defRPr>
            </a:pPr>
            <a:r>
              <a:rPr lang="ko-KR" altLang="en-US" dirty="0"/>
              <a:t>→ 추이 분석 </a:t>
            </a:r>
            <a:r>
              <a:rPr lang="en-US" altLang="ko-KR" dirty="0"/>
              <a:t>(</a:t>
            </a:r>
            <a:r>
              <a:rPr lang="ko-KR" altLang="en-US" dirty="0"/>
              <a:t>이전 데이터 비교</a:t>
            </a:r>
            <a:r>
              <a:rPr lang="en-US" altLang="ko-KR" dirty="0"/>
              <a:t>)</a:t>
            </a:r>
          </a:p>
          <a:p>
            <a:pPr>
              <a:lnSpc>
                <a:spcPct val="110000"/>
              </a:lnSpc>
              <a:defRPr sz="800">
                <a:solidFill>
                  <a:srgbClr val="323232"/>
                </a:solidFill>
              </a:defRPr>
            </a:pPr>
            <a:r>
              <a:rPr lang="en-US" altLang="ko-KR" dirty="0">
                <a:solidFill>
                  <a:srgbClr val="FF0000"/>
                </a:solidFill>
              </a:rPr>
              <a:t>→ </a:t>
            </a:r>
            <a:r>
              <a:rPr lang="ko-KR" altLang="en-US" dirty="0">
                <a:solidFill>
                  <a:srgbClr val="FF0000"/>
                </a:solidFill>
              </a:rPr>
              <a:t>경고</a:t>
            </a:r>
            <a:r>
              <a:rPr lang="en-US" altLang="ko-KR" dirty="0">
                <a:solidFill>
                  <a:srgbClr val="FF0000"/>
                </a:solidFill>
              </a:rPr>
              <a:t>/</a:t>
            </a:r>
            <a:r>
              <a:rPr lang="ko-KR" altLang="en-US" dirty="0">
                <a:solidFill>
                  <a:srgbClr val="FF0000"/>
                </a:solidFill>
              </a:rPr>
              <a:t>피드백 </a:t>
            </a:r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악화 시 알림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</a:p>
          <a:p>
            <a:pPr>
              <a:lnSpc>
                <a:spcPct val="110000"/>
              </a:lnSpc>
              <a:defRPr sz="800">
                <a:solidFill>
                  <a:srgbClr val="323232"/>
                </a:solidFill>
              </a:defRPr>
            </a:pPr>
            <a:r>
              <a:rPr lang="en-US" altLang="ko-KR" dirty="0"/>
              <a:t>→ </a:t>
            </a:r>
            <a:r>
              <a:rPr lang="ko-KR" altLang="en-US" dirty="0"/>
              <a:t>시각화 </a:t>
            </a:r>
            <a:r>
              <a:rPr lang="en-US" altLang="ko-KR" dirty="0"/>
              <a:t>(</a:t>
            </a:r>
            <a:r>
              <a:rPr lang="ko-KR" altLang="en-US" dirty="0"/>
              <a:t>그래프</a:t>
            </a:r>
            <a:r>
              <a:rPr lang="en-US" altLang="ko-KR" dirty="0"/>
              <a:t>, </a:t>
            </a:r>
            <a:r>
              <a:rPr lang="ko-KR" altLang="en-US" dirty="0"/>
              <a:t>차트</a:t>
            </a:r>
            <a:r>
              <a:rPr lang="en-US" altLang="ko-KR" dirty="0"/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3F69B6-617D-8959-5E2D-3D637DFDD3F9}"/>
              </a:ext>
            </a:extLst>
          </p:cNvPr>
          <p:cNvSpPr txBox="1"/>
          <p:nvPr/>
        </p:nvSpPr>
        <p:spPr>
          <a:xfrm>
            <a:off x="4686243" y="528235"/>
            <a:ext cx="3335311" cy="219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800">
                <a:solidFill>
                  <a:srgbClr val="323232"/>
                </a:solidFill>
              </a:defRPr>
            </a:pPr>
            <a:r>
              <a:rPr lang="en-US" altLang="ko-KR" dirty="0"/>
              <a:t>[</a:t>
            </a:r>
            <a:r>
              <a:rPr lang="ko-KR" altLang="en-US" dirty="0"/>
              <a:t>사용자 발화 → </a:t>
            </a:r>
            <a:r>
              <a:rPr lang="en-US" altLang="ko-KR" dirty="0">
                <a:solidFill>
                  <a:srgbClr val="0070C0"/>
                </a:solidFill>
              </a:rPr>
              <a:t>AI </a:t>
            </a:r>
            <a:r>
              <a:rPr lang="ko-KR" altLang="en-US" dirty="0">
                <a:solidFill>
                  <a:srgbClr val="0070C0"/>
                </a:solidFill>
              </a:rPr>
              <a:t>의도 분류 → 정책</a:t>
            </a:r>
            <a:r>
              <a:rPr lang="en-US" altLang="ko-KR" dirty="0">
                <a:solidFill>
                  <a:srgbClr val="0070C0"/>
                </a:solidFill>
              </a:rPr>
              <a:t>/</a:t>
            </a:r>
            <a:r>
              <a:rPr lang="ko-KR" altLang="en-US" dirty="0">
                <a:solidFill>
                  <a:srgbClr val="0070C0"/>
                </a:solidFill>
              </a:rPr>
              <a:t>지침 적용 </a:t>
            </a:r>
            <a:r>
              <a:rPr lang="ko-KR" altLang="en-US" dirty="0"/>
              <a:t>→ 적절한 응답</a:t>
            </a:r>
            <a:r>
              <a:rPr lang="en-US" altLang="ko-KR" dirty="0"/>
              <a:t>]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E1DC672-61C2-A667-2423-41EBCE916D07}"/>
              </a:ext>
            </a:extLst>
          </p:cNvPr>
          <p:cNvSpPr/>
          <p:nvPr/>
        </p:nvSpPr>
        <p:spPr>
          <a:xfrm>
            <a:off x="4729017" y="890404"/>
            <a:ext cx="4003172" cy="3978776"/>
          </a:xfrm>
          <a:prstGeom prst="rect">
            <a:avLst/>
          </a:prstGeom>
          <a:noFill/>
          <a:ln w="635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b" anchorCtr="0"/>
          <a:lstStyle/>
          <a:p>
            <a:pPr algn="r"/>
            <a:r>
              <a:rPr kumimoji="1" lang="ko-KR" altLang="en-US" sz="900" dirty="0">
                <a:solidFill>
                  <a:srgbClr val="0070C0"/>
                </a:solidFill>
              </a:rPr>
              <a:t>정책적으로 논문 검색을 </a:t>
            </a:r>
            <a:endParaRPr kumimoji="1" lang="en-US" altLang="ko-KR" sz="900" dirty="0">
              <a:solidFill>
                <a:srgbClr val="0070C0"/>
              </a:solidFill>
            </a:endParaRPr>
          </a:p>
          <a:p>
            <a:pPr algn="r"/>
            <a:r>
              <a:rPr kumimoji="1" lang="ko-KR" altLang="en-US" sz="900" dirty="0">
                <a:solidFill>
                  <a:srgbClr val="0070C0"/>
                </a:solidFill>
              </a:rPr>
              <a:t>추천하지 않도록 프롬프트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FC6300-3D52-70BF-0C14-8E5DBB37CBB5}"/>
              </a:ext>
            </a:extLst>
          </p:cNvPr>
          <p:cNvSpPr txBox="1"/>
          <p:nvPr/>
        </p:nvSpPr>
        <p:spPr>
          <a:xfrm>
            <a:off x="502170" y="931869"/>
            <a:ext cx="3411062" cy="29299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700">
                <a:solidFill>
                  <a:srgbClr val="282828"/>
                </a:solidFill>
              </a:defRPr>
            </a:pPr>
            <a:r>
              <a:rPr lang="ko-KR" altLang="en-US" sz="800" dirty="0"/>
              <a:t>🏥 복지 문의 </a:t>
            </a:r>
            <a:r>
              <a:rPr lang="en-US" altLang="ko-KR" sz="800" dirty="0"/>
              <a:t>(WELFARE_INFO) ★</a:t>
            </a:r>
            <a:r>
              <a:rPr lang="ko-KR" altLang="en-US" sz="800" dirty="0"/>
              <a:t>신규</a:t>
            </a:r>
          </a:p>
          <a:p>
            <a:pPr>
              <a:lnSpc>
                <a:spcPct val="105000"/>
              </a:lnSpc>
              <a:defRPr sz="700">
                <a:solidFill>
                  <a:srgbClr val="282828"/>
                </a:solidFill>
              </a:defRPr>
            </a:pPr>
            <a:endParaRPr lang="ko-KR" altLang="en-US" sz="800" dirty="0"/>
          </a:p>
          <a:p>
            <a:pPr>
              <a:lnSpc>
                <a:spcPct val="105000"/>
              </a:lnSpc>
              <a:defRPr sz="700">
                <a:solidFill>
                  <a:srgbClr val="282828"/>
                </a:solidFill>
              </a:defRPr>
            </a:pPr>
            <a:r>
              <a:rPr lang="ko-KR" altLang="en-US" sz="800" dirty="0"/>
              <a:t>발화</a:t>
            </a:r>
            <a:r>
              <a:rPr lang="en-US" altLang="ko-KR" sz="800" dirty="0"/>
              <a:t>: "</a:t>
            </a:r>
            <a:r>
              <a:rPr lang="ko-KR" altLang="en-US" sz="800" dirty="0"/>
              <a:t>경기도 사는데 서울 병원 </a:t>
            </a:r>
            <a:r>
              <a:rPr lang="ko-KR" altLang="en-US" sz="800" dirty="0" err="1"/>
              <a:t>다녀요</a:t>
            </a:r>
            <a:r>
              <a:rPr lang="en-US" altLang="ko-KR" sz="800" dirty="0"/>
              <a:t>, </a:t>
            </a:r>
            <a:r>
              <a:rPr lang="ko-KR" altLang="en-US" sz="800" dirty="0"/>
              <a:t>이동 복지는 어디 신청</a:t>
            </a:r>
            <a:r>
              <a:rPr lang="en-US" altLang="ko-KR" sz="800" dirty="0"/>
              <a:t>?", </a:t>
            </a:r>
          </a:p>
          <a:p>
            <a:pPr>
              <a:lnSpc>
                <a:spcPct val="105000"/>
              </a:lnSpc>
              <a:defRPr sz="700">
                <a:solidFill>
                  <a:srgbClr val="282828"/>
                </a:solidFill>
              </a:defRPr>
            </a:pPr>
            <a:r>
              <a:rPr lang="en-US" altLang="ko-KR" sz="800" dirty="0"/>
              <a:t>      "</a:t>
            </a:r>
            <a:r>
              <a:rPr lang="ko-KR" altLang="en-US" sz="800" dirty="0"/>
              <a:t>복지 혜택 뭐 받을 수 있어요</a:t>
            </a:r>
            <a:r>
              <a:rPr lang="en-US" altLang="ko-KR" sz="800" dirty="0"/>
              <a:t>?", "</a:t>
            </a:r>
            <a:r>
              <a:rPr lang="ko-KR" altLang="en-US" sz="800" dirty="0"/>
              <a:t>장애등급 신청 방법</a:t>
            </a:r>
            <a:r>
              <a:rPr lang="en-US" altLang="ko-KR" sz="800" dirty="0"/>
              <a:t>?"</a:t>
            </a:r>
          </a:p>
          <a:p>
            <a:pPr>
              <a:lnSpc>
                <a:spcPct val="105000"/>
              </a:lnSpc>
              <a:defRPr sz="700">
                <a:solidFill>
                  <a:srgbClr val="282828"/>
                </a:solidFill>
              </a:defRPr>
            </a:pPr>
            <a:r>
              <a:rPr lang="ko-KR" altLang="en-US" sz="800" dirty="0"/>
              <a:t>처리</a:t>
            </a:r>
            <a:r>
              <a:rPr lang="en-US" altLang="ko-KR" sz="800" dirty="0"/>
              <a:t>:</a:t>
            </a:r>
          </a:p>
          <a:p>
            <a:pPr>
              <a:lnSpc>
                <a:spcPct val="105000"/>
              </a:lnSpc>
              <a:defRPr sz="700">
                <a:solidFill>
                  <a:srgbClr val="282828"/>
                </a:solidFill>
              </a:defRPr>
            </a:pPr>
            <a:r>
              <a:rPr lang="en-US" altLang="ko-KR" sz="800" dirty="0"/>
              <a:t>→ 1</a:t>
            </a:r>
            <a:r>
              <a:rPr lang="ko-KR" altLang="en-US" sz="800" dirty="0"/>
              <a:t>단계</a:t>
            </a:r>
            <a:r>
              <a:rPr lang="en-US" altLang="ko-KR" sz="800" dirty="0"/>
              <a:t>: </a:t>
            </a:r>
            <a:r>
              <a:rPr lang="ko-KR" altLang="en-US" sz="800" dirty="0"/>
              <a:t>사용자 거주지</a:t>
            </a:r>
            <a:r>
              <a:rPr lang="en-US" altLang="ko-KR" sz="800" dirty="0"/>
              <a:t>/</a:t>
            </a:r>
            <a:r>
              <a:rPr lang="ko-KR" altLang="en-US" sz="800" dirty="0"/>
              <a:t>병원 위치 확인 질문</a:t>
            </a:r>
          </a:p>
          <a:p>
            <a:pPr>
              <a:lnSpc>
                <a:spcPct val="105000"/>
              </a:lnSpc>
              <a:defRPr sz="700">
                <a:solidFill>
                  <a:srgbClr val="282828"/>
                </a:solidFill>
              </a:defRPr>
            </a:pPr>
            <a:r>
              <a:rPr lang="ko-KR" altLang="en-US" sz="800" dirty="0"/>
              <a:t>→ </a:t>
            </a:r>
            <a:r>
              <a:rPr lang="en-US" altLang="ko-KR" sz="800" dirty="0"/>
              <a:t>2</a:t>
            </a:r>
            <a:r>
              <a:rPr lang="ko-KR" altLang="en-US" sz="800" dirty="0"/>
              <a:t>단계</a:t>
            </a:r>
            <a:r>
              <a:rPr lang="en-US" altLang="ko-KR" sz="800" dirty="0"/>
              <a:t>: </a:t>
            </a:r>
            <a:r>
              <a:rPr lang="ko-KR" altLang="en-US" sz="800" dirty="0"/>
              <a:t>가능한 복지 목록 먼저 나열</a:t>
            </a:r>
          </a:p>
          <a:p>
            <a:pPr>
              <a:lnSpc>
                <a:spcPct val="105000"/>
              </a:lnSpc>
              <a:defRPr sz="700">
                <a:solidFill>
                  <a:srgbClr val="282828"/>
                </a:solidFill>
              </a:defRPr>
            </a:pPr>
            <a:r>
              <a:rPr lang="ko-KR" altLang="en-US" sz="800" dirty="0"/>
              <a:t>   </a:t>
            </a:r>
            <a:r>
              <a:rPr lang="en-US" altLang="ko-KR" sz="800" dirty="0"/>
              <a:t>• </a:t>
            </a:r>
            <a:r>
              <a:rPr lang="ko-KR" altLang="en-US" sz="800" dirty="0"/>
              <a:t>중앙정부</a:t>
            </a:r>
            <a:r>
              <a:rPr lang="en-US" altLang="ko-KR" sz="800" dirty="0"/>
              <a:t>: </a:t>
            </a:r>
            <a:r>
              <a:rPr lang="ko-KR" altLang="en-US" sz="800" dirty="0"/>
              <a:t>복지로</a:t>
            </a:r>
            <a:r>
              <a:rPr lang="en-US" altLang="ko-KR" sz="800" dirty="0"/>
              <a:t>(</a:t>
            </a:r>
            <a:r>
              <a:rPr lang="en-US" altLang="ko-KR" sz="800" dirty="0" err="1"/>
              <a:t>bokjiro.go.kr</a:t>
            </a:r>
            <a:r>
              <a:rPr lang="en-US" altLang="ko-KR" sz="800" dirty="0"/>
              <a:t>) </a:t>
            </a:r>
            <a:r>
              <a:rPr lang="ko-KR" altLang="en-US" sz="800" dirty="0"/>
              <a:t>신청 가능 항목</a:t>
            </a:r>
          </a:p>
          <a:p>
            <a:pPr>
              <a:lnSpc>
                <a:spcPct val="105000"/>
              </a:lnSpc>
              <a:defRPr sz="700">
                <a:solidFill>
                  <a:srgbClr val="282828"/>
                </a:solidFill>
              </a:defRPr>
            </a:pPr>
            <a:r>
              <a:rPr lang="ko-KR" altLang="en-US" sz="800" dirty="0"/>
              <a:t>   </a:t>
            </a:r>
            <a:r>
              <a:rPr lang="en-US" altLang="ko-KR" sz="800" dirty="0"/>
              <a:t>• </a:t>
            </a:r>
            <a:r>
              <a:rPr lang="ko-KR" altLang="en-US" sz="800" dirty="0"/>
              <a:t>거주 지자체</a:t>
            </a:r>
            <a:r>
              <a:rPr lang="en-US" altLang="ko-KR" sz="800" dirty="0"/>
              <a:t>: </a:t>
            </a:r>
            <a:r>
              <a:rPr lang="ko-KR" altLang="en-US" sz="800" dirty="0"/>
              <a:t>경기도 복지 포털 신청 항목</a:t>
            </a:r>
          </a:p>
          <a:p>
            <a:pPr>
              <a:lnSpc>
                <a:spcPct val="105000"/>
              </a:lnSpc>
              <a:defRPr sz="700">
                <a:solidFill>
                  <a:srgbClr val="282828"/>
                </a:solidFill>
              </a:defRPr>
            </a:pPr>
            <a:r>
              <a:rPr lang="ko-KR" altLang="en-US" sz="800" dirty="0"/>
              <a:t>   </a:t>
            </a:r>
            <a:r>
              <a:rPr lang="en-US" altLang="ko-KR" sz="800" dirty="0"/>
              <a:t>• </a:t>
            </a:r>
            <a:r>
              <a:rPr lang="ko-KR" altLang="en-US" sz="800" dirty="0"/>
              <a:t>병원 소재지</a:t>
            </a:r>
            <a:r>
              <a:rPr lang="en-US" altLang="ko-KR" sz="800" dirty="0"/>
              <a:t>: </a:t>
            </a:r>
            <a:r>
              <a:rPr lang="ko-KR" altLang="en-US" sz="800" dirty="0"/>
              <a:t>서울시 의료비 지원 사업</a:t>
            </a:r>
          </a:p>
          <a:p>
            <a:pPr>
              <a:lnSpc>
                <a:spcPct val="105000"/>
              </a:lnSpc>
              <a:defRPr sz="700">
                <a:solidFill>
                  <a:srgbClr val="282828"/>
                </a:solidFill>
              </a:defRPr>
            </a:pPr>
            <a:r>
              <a:rPr lang="ko-KR" altLang="en-US" sz="800" dirty="0"/>
              <a:t>   </a:t>
            </a:r>
            <a:r>
              <a:rPr lang="en-US" altLang="ko-KR" sz="800" dirty="0"/>
              <a:t>• </a:t>
            </a:r>
            <a:r>
              <a:rPr lang="ko-KR" altLang="en-US" sz="800" dirty="0"/>
              <a:t>국민건강보험공단</a:t>
            </a:r>
            <a:r>
              <a:rPr lang="en-US" altLang="ko-KR" sz="800" dirty="0"/>
              <a:t>: </a:t>
            </a:r>
            <a:r>
              <a:rPr lang="ko-KR" altLang="en-US" sz="800" dirty="0"/>
              <a:t>본인부담금 상한제</a:t>
            </a:r>
            <a:r>
              <a:rPr lang="en-US" altLang="ko-KR" sz="800" dirty="0"/>
              <a:t>, </a:t>
            </a:r>
            <a:r>
              <a:rPr lang="ko-KR" altLang="en-US" sz="800" dirty="0"/>
              <a:t>산정특례</a:t>
            </a:r>
          </a:p>
          <a:p>
            <a:pPr>
              <a:lnSpc>
                <a:spcPct val="105000"/>
              </a:lnSpc>
              <a:defRPr sz="700">
                <a:solidFill>
                  <a:srgbClr val="282828"/>
                </a:solidFill>
              </a:defRPr>
            </a:pPr>
            <a:r>
              <a:rPr lang="ko-KR" altLang="en-US" sz="800" dirty="0"/>
              <a:t>→ </a:t>
            </a:r>
            <a:r>
              <a:rPr lang="en-US" altLang="ko-KR" sz="800" dirty="0"/>
              <a:t>3</a:t>
            </a:r>
            <a:r>
              <a:rPr lang="ko-KR" altLang="en-US" sz="800" dirty="0"/>
              <a:t>단계</a:t>
            </a:r>
            <a:r>
              <a:rPr lang="en-US" altLang="ko-KR" sz="800" dirty="0"/>
              <a:t>: </a:t>
            </a:r>
            <a:r>
              <a:rPr lang="ko-KR" altLang="en-US" sz="800" dirty="0"/>
              <a:t>친절한 질문 유도</a:t>
            </a:r>
          </a:p>
          <a:p>
            <a:pPr>
              <a:lnSpc>
                <a:spcPct val="105000"/>
              </a:lnSpc>
              <a:defRPr sz="700">
                <a:solidFill>
                  <a:srgbClr val="282828"/>
                </a:solidFill>
              </a:defRPr>
            </a:pPr>
            <a:r>
              <a:rPr lang="ko-KR" altLang="en-US" sz="800" dirty="0"/>
              <a:t>   </a:t>
            </a:r>
            <a:r>
              <a:rPr lang="en-US" altLang="ko-KR" sz="800" dirty="0"/>
              <a:t>"</a:t>
            </a:r>
            <a:r>
              <a:rPr lang="ko-KR" altLang="en-US" sz="800" dirty="0"/>
              <a:t>어떤 복지가 가장 </a:t>
            </a:r>
            <a:r>
              <a:rPr lang="ko-KR" altLang="en-US" sz="800" dirty="0" err="1"/>
              <a:t>필요하신가요</a:t>
            </a:r>
            <a:r>
              <a:rPr lang="en-US" altLang="ko-KR" sz="800" dirty="0"/>
              <a:t>?"</a:t>
            </a:r>
          </a:p>
          <a:p>
            <a:pPr>
              <a:lnSpc>
                <a:spcPct val="105000"/>
              </a:lnSpc>
              <a:defRPr sz="700">
                <a:solidFill>
                  <a:srgbClr val="282828"/>
                </a:solidFill>
              </a:defRPr>
            </a:pPr>
            <a:r>
              <a:rPr lang="en-US" altLang="ko-KR" sz="800" dirty="0"/>
              <a:t>   "</a:t>
            </a:r>
            <a:r>
              <a:rPr lang="ko-KR" altLang="en-US" sz="800" dirty="0"/>
              <a:t>현재 받고 계신 복지가 </a:t>
            </a:r>
            <a:r>
              <a:rPr lang="ko-KR" altLang="en-US" sz="800" dirty="0" err="1"/>
              <a:t>있으신가요</a:t>
            </a:r>
            <a:r>
              <a:rPr lang="en-US" altLang="ko-KR" sz="800" dirty="0"/>
              <a:t>?"</a:t>
            </a:r>
          </a:p>
          <a:p>
            <a:pPr>
              <a:lnSpc>
                <a:spcPct val="105000"/>
              </a:lnSpc>
              <a:defRPr sz="700">
                <a:solidFill>
                  <a:srgbClr val="282828"/>
                </a:solidFill>
              </a:defRPr>
            </a:pPr>
            <a:r>
              <a:rPr lang="en-US" altLang="ko-KR" sz="800" dirty="0"/>
              <a:t>→ 4</a:t>
            </a:r>
            <a:r>
              <a:rPr lang="ko-KR" altLang="en-US" sz="800" dirty="0"/>
              <a:t>단계</a:t>
            </a:r>
            <a:r>
              <a:rPr lang="en-US" altLang="ko-KR" sz="800" dirty="0"/>
              <a:t>: </a:t>
            </a:r>
            <a:r>
              <a:rPr lang="ko-KR" altLang="en-US" sz="800" dirty="0"/>
              <a:t>맞춤 안내 </a:t>
            </a:r>
            <a:r>
              <a:rPr lang="en-US" altLang="ko-KR" sz="800" dirty="0"/>
              <a:t>+ </a:t>
            </a:r>
            <a:r>
              <a:rPr lang="ko-KR" altLang="en-US" sz="800" dirty="0"/>
              <a:t>신청 방법 </a:t>
            </a:r>
            <a:r>
              <a:rPr lang="en-US" altLang="ko-KR" sz="800" dirty="0"/>
              <a:t>+ </a:t>
            </a:r>
            <a:r>
              <a:rPr lang="ko-KR" altLang="en-US" sz="800" dirty="0"/>
              <a:t>필요 서류</a:t>
            </a:r>
          </a:p>
          <a:p>
            <a:pPr>
              <a:lnSpc>
                <a:spcPct val="105000"/>
              </a:lnSpc>
              <a:defRPr sz="700">
                <a:solidFill>
                  <a:srgbClr val="282828"/>
                </a:solidFill>
              </a:defRPr>
            </a:pPr>
            <a:endParaRPr lang="ko-KR" altLang="en-US" sz="800" dirty="0"/>
          </a:p>
          <a:p>
            <a:pPr>
              <a:lnSpc>
                <a:spcPct val="105000"/>
              </a:lnSpc>
              <a:defRPr sz="700">
                <a:solidFill>
                  <a:srgbClr val="282828"/>
                </a:solidFill>
              </a:defRPr>
            </a:pPr>
            <a:r>
              <a:rPr lang="ko-KR" altLang="en-US" sz="800" dirty="0"/>
              <a:t>복지 카테고리</a:t>
            </a:r>
            <a:r>
              <a:rPr lang="en-US" altLang="ko-KR" sz="800" dirty="0"/>
              <a:t>:</a:t>
            </a:r>
          </a:p>
          <a:p>
            <a:pPr>
              <a:lnSpc>
                <a:spcPct val="105000"/>
              </a:lnSpc>
              <a:defRPr sz="700">
                <a:solidFill>
                  <a:srgbClr val="282828"/>
                </a:solidFill>
              </a:defRPr>
            </a:pPr>
            <a:r>
              <a:rPr lang="en-US" altLang="ko-KR" sz="800" dirty="0"/>
              <a:t>• </a:t>
            </a:r>
            <a:r>
              <a:rPr lang="ko-KR" altLang="en-US" sz="800" dirty="0"/>
              <a:t>의료비 지원 </a:t>
            </a:r>
            <a:r>
              <a:rPr lang="en-US" altLang="ko-KR" sz="800" dirty="0"/>
              <a:t>(</a:t>
            </a:r>
            <a:r>
              <a:rPr lang="ko-KR" altLang="en-US" sz="800" dirty="0"/>
              <a:t>본인부담금</a:t>
            </a:r>
            <a:r>
              <a:rPr lang="en-US" altLang="ko-KR" sz="800" dirty="0"/>
              <a:t>, </a:t>
            </a:r>
            <a:r>
              <a:rPr lang="ko-KR" altLang="en-US" sz="800" dirty="0"/>
              <a:t>산정특례</a:t>
            </a:r>
            <a:r>
              <a:rPr lang="en-US" altLang="ko-KR" sz="800" dirty="0"/>
              <a:t>)</a:t>
            </a:r>
          </a:p>
          <a:p>
            <a:pPr>
              <a:lnSpc>
                <a:spcPct val="105000"/>
              </a:lnSpc>
              <a:defRPr sz="700">
                <a:solidFill>
                  <a:srgbClr val="282828"/>
                </a:solidFill>
              </a:defRPr>
            </a:pPr>
            <a:r>
              <a:rPr lang="en-US" altLang="ko-KR" sz="800" dirty="0"/>
              <a:t>• </a:t>
            </a:r>
            <a:r>
              <a:rPr lang="ko-KR" altLang="en-US" sz="800" dirty="0"/>
              <a:t>이동 지원 </a:t>
            </a:r>
            <a:r>
              <a:rPr lang="en-US" altLang="ko-KR" sz="800" dirty="0"/>
              <a:t>(</a:t>
            </a:r>
            <a:r>
              <a:rPr lang="ko-KR" altLang="en-US" sz="800" dirty="0" err="1"/>
              <a:t>장애인콜택시</a:t>
            </a:r>
            <a:r>
              <a:rPr lang="en-US" altLang="ko-KR" sz="800" dirty="0"/>
              <a:t>, </a:t>
            </a:r>
            <a:r>
              <a:rPr lang="ko-KR" altLang="en-US" sz="800" dirty="0"/>
              <a:t>교통비</a:t>
            </a:r>
            <a:r>
              <a:rPr lang="en-US" altLang="ko-KR" sz="800" dirty="0"/>
              <a:t>)</a:t>
            </a:r>
          </a:p>
          <a:p>
            <a:pPr>
              <a:lnSpc>
                <a:spcPct val="105000"/>
              </a:lnSpc>
              <a:defRPr sz="700">
                <a:solidFill>
                  <a:srgbClr val="282828"/>
                </a:solidFill>
              </a:defRPr>
            </a:pPr>
            <a:r>
              <a:rPr lang="en-US" altLang="ko-KR" sz="800" dirty="0"/>
              <a:t>• </a:t>
            </a:r>
            <a:r>
              <a:rPr lang="ko-KR" altLang="en-US" sz="800" dirty="0"/>
              <a:t>간병 지원 </a:t>
            </a:r>
            <a:r>
              <a:rPr lang="en-US" altLang="ko-KR" sz="800" dirty="0"/>
              <a:t>(</a:t>
            </a:r>
            <a:r>
              <a:rPr lang="ko-KR" altLang="en-US" sz="800" dirty="0"/>
              <a:t>간병인</a:t>
            </a:r>
            <a:r>
              <a:rPr lang="en-US" altLang="ko-KR" sz="800" dirty="0"/>
              <a:t>, </a:t>
            </a:r>
            <a:r>
              <a:rPr lang="ko-KR" altLang="en-US" sz="800" dirty="0"/>
              <a:t>요양보호사</a:t>
            </a:r>
            <a:r>
              <a:rPr lang="en-US" altLang="ko-KR" sz="800" dirty="0"/>
              <a:t>)</a:t>
            </a:r>
          </a:p>
          <a:p>
            <a:pPr>
              <a:lnSpc>
                <a:spcPct val="105000"/>
              </a:lnSpc>
              <a:defRPr sz="700">
                <a:solidFill>
                  <a:srgbClr val="282828"/>
                </a:solidFill>
              </a:defRPr>
            </a:pPr>
            <a:r>
              <a:rPr lang="en-US" altLang="ko-KR" sz="800" dirty="0"/>
              <a:t>• </a:t>
            </a:r>
            <a:r>
              <a:rPr lang="ko-KR" altLang="en-US" sz="800" dirty="0"/>
              <a:t>생활 지원 </a:t>
            </a:r>
            <a:r>
              <a:rPr lang="en-US" altLang="ko-KR" sz="800" dirty="0"/>
              <a:t>(</a:t>
            </a:r>
            <a:r>
              <a:rPr lang="ko-KR" altLang="en-US" sz="800" dirty="0"/>
              <a:t>생계급여</a:t>
            </a:r>
            <a:r>
              <a:rPr lang="en-US" altLang="ko-KR" sz="800" dirty="0"/>
              <a:t>, </a:t>
            </a:r>
            <a:r>
              <a:rPr lang="ko-KR" altLang="en-US" sz="800" dirty="0"/>
              <a:t>주거급여</a:t>
            </a:r>
            <a:r>
              <a:rPr lang="en-US" altLang="ko-KR" sz="800" dirty="0"/>
              <a:t>)</a:t>
            </a:r>
          </a:p>
          <a:p>
            <a:pPr>
              <a:lnSpc>
                <a:spcPct val="105000"/>
              </a:lnSpc>
              <a:defRPr sz="700">
                <a:solidFill>
                  <a:srgbClr val="282828"/>
                </a:solidFill>
              </a:defRPr>
            </a:pPr>
            <a:r>
              <a:rPr lang="en-US" altLang="ko-KR" sz="800" dirty="0"/>
              <a:t>• </a:t>
            </a:r>
            <a:r>
              <a:rPr lang="ko-KR" altLang="en-US" sz="800" dirty="0"/>
              <a:t>장애 등급 </a:t>
            </a:r>
            <a:r>
              <a:rPr lang="en-US" altLang="ko-KR" sz="800" dirty="0"/>
              <a:t>(</a:t>
            </a:r>
            <a:r>
              <a:rPr lang="ko-KR" altLang="en-US" sz="800" dirty="0"/>
              <a:t>장애인복지카드</a:t>
            </a:r>
            <a:r>
              <a:rPr lang="en-US" altLang="ko-KR" sz="800" dirty="0"/>
              <a:t>)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9EDE7AC-5369-1A8A-8609-454DD4CD28B0}"/>
              </a:ext>
            </a:extLst>
          </p:cNvPr>
          <p:cNvSpPr/>
          <p:nvPr/>
        </p:nvSpPr>
        <p:spPr>
          <a:xfrm>
            <a:off x="457200" y="890404"/>
            <a:ext cx="4003172" cy="3978776"/>
          </a:xfrm>
          <a:prstGeom prst="rect">
            <a:avLst/>
          </a:prstGeom>
          <a:noFill/>
          <a:ln w="635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b" anchorCtr="0"/>
          <a:lstStyle/>
          <a:p>
            <a:pPr algn="r"/>
            <a:r>
              <a:rPr kumimoji="1" lang="ko-KR" altLang="en-US" sz="900" dirty="0">
                <a:solidFill>
                  <a:srgbClr val="0070C0"/>
                </a:solidFill>
              </a:rPr>
              <a:t>일반인</a:t>
            </a:r>
            <a:r>
              <a:rPr kumimoji="1" lang="en-US" altLang="ko-KR" sz="900" dirty="0">
                <a:solidFill>
                  <a:srgbClr val="0070C0"/>
                </a:solidFill>
              </a:rPr>
              <a:t>/</a:t>
            </a:r>
            <a:r>
              <a:rPr kumimoji="1" lang="ko-KR" altLang="en-US" sz="900" dirty="0">
                <a:solidFill>
                  <a:srgbClr val="0070C0"/>
                </a:solidFill>
              </a:rPr>
              <a:t>질환자는 논문 검색 추천</a:t>
            </a:r>
            <a:r>
              <a:rPr kumimoji="1" lang="en-US" altLang="ko-KR" sz="900" dirty="0">
                <a:solidFill>
                  <a:srgbClr val="0070C0"/>
                </a:solidFill>
              </a:rPr>
              <a:t>X</a:t>
            </a:r>
          </a:p>
          <a:p>
            <a:pPr algn="r"/>
            <a:r>
              <a:rPr kumimoji="1" lang="ko-KR" altLang="en-US" sz="900" dirty="0">
                <a:solidFill>
                  <a:srgbClr val="0070C0"/>
                </a:solidFill>
              </a:rPr>
              <a:t>연구자는 논문 검색 제공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497BBD9-CF88-3AD8-3D7D-6A6C4EEF49B8}"/>
              </a:ext>
            </a:extLst>
          </p:cNvPr>
          <p:cNvSpPr txBox="1"/>
          <p:nvPr/>
        </p:nvSpPr>
        <p:spPr>
          <a:xfrm>
            <a:off x="4729017" y="2871189"/>
            <a:ext cx="4003172" cy="1438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800">
                <a:solidFill>
                  <a:srgbClr val="323232"/>
                </a:solidFill>
              </a:defRPr>
            </a:pPr>
            <a:endParaRPr lang="en-US" altLang="ko-KR" dirty="0"/>
          </a:p>
          <a:p>
            <a:pPr>
              <a:lnSpc>
                <a:spcPct val="110000"/>
              </a:lnSpc>
              <a:defRPr sz="800">
                <a:solidFill>
                  <a:srgbClr val="323232"/>
                </a:solidFill>
              </a:defRPr>
            </a:pPr>
            <a:r>
              <a:rPr lang="ko-KR" altLang="en-US" dirty="0"/>
              <a:t>💬 일반 대화 </a:t>
            </a:r>
            <a:r>
              <a:rPr lang="en-US" altLang="ko-KR" dirty="0"/>
              <a:t>(CHIT_CHAT)</a:t>
            </a:r>
          </a:p>
          <a:p>
            <a:pPr>
              <a:lnSpc>
                <a:spcPct val="110000"/>
              </a:lnSpc>
              <a:defRPr sz="800">
                <a:solidFill>
                  <a:srgbClr val="323232"/>
                </a:solidFill>
              </a:defRPr>
            </a:pPr>
            <a:endParaRPr lang="en-US" altLang="ko-KR" dirty="0"/>
          </a:p>
          <a:p>
            <a:pPr>
              <a:lnSpc>
                <a:spcPct val="110000"/>
              </a:lnSpc>
              <a:defRPr sz="800">
                <a:solidFill>
                  <a:srgbClr val="323232"/>
                </a:solidFill>
              </a:defRPr>
            </a:pPr>
            <a:r>
              <a:rPr lang="ko-KR" altLang="en-US" dirty="0"/>
              <a:t>발화 예시</a:t>
            </a:r>
            <a:r>
              <a:rPr lang="en-US" altLang="ko-KR" dirty="0"/>
              <a:t>:</a:t>
            </a:r>
          </a:p>
          <a:p>
            <a:pPr>
              <a:lnSpc>
                <a:spcPct val="110000"/>
              </a:lnSpc>
              <a:defRPr sz="800">
                <a:solidFill>
                  <a:srgbClr val="323232"/>
                </a:solidFill>
              </a:defRPr>
            </a:pPr>
            <a:r>
              <a:rPr lang="en-US" altLang="ko-KR" dirty="0"/>
              <a:t>• "</a:t>
            </a:r>
            <a:r>
              <a:rPr lang="ko-KR" altLang="en-US" dirty="0"/>
              <a:t>안녕</a:t>
            </a:r>
            <a:r>
              <a:rPr lang="en-US" altLang="ko-KR" dirty="0"/>
              <a:t>!", "</a:t>
            </a:r>
            <a:r>
              <a:rPr lang="ko-KR" altLang="en-US" dirty="0"/>
              <a:t>고마워</a:t>
            </a:r>
            <a:r>
              <a:rPr lang="en-US" altLang="ko-KR" dirty="0"/>
              <a:t>", "</a:t>
            </a:r>
            <a:r>
              <a:rPr lang="ko-KR" altLang="en-US" dirty="0"/>
              <a:t>힘들어</a:t>
            </a:r>
            <a:r>
              <a:rPr lang="en-US" altLang="ko-KR" dirty="0"/>
              <a:t>"</a:t>
            </a:r>
          </a:p>
          <a:p>
            <a:pPr>
              <a:lnSpc>
                <a:spcPct val="110000"/>
              </a:lnSpc>
              <a:defRPr sz="800">
                <a:solidFill>
                  <a:srgbClr val="323232"/>
                </a:solidFill>
              </a:defRPr>
            </a:pPr>
            <a:endParaRPr lang="en-US" altLang="ko-KR" dirty="0"/>
          </a:p>
          <a:p>
            <a:pPr>
              <a:lnSpc>
                <a:spcPct val="110000"/>
              </a:lnSpc>
              <a:defRPr sz="800">
                <a:solidFill>
                  <a:srgbClr val="323232"/>
                </a:solidFill>
              </a:defRPr>
            </a:pPr>
            <a:r>
              <a:rPr lang="ko-KR" altLang="en-US" dirty="0"/>
              <a:t>처리 흐름</a:t>
            </a:r>
            <a:r>
              <a:rPr lang="en-US" altLang="ko-KR" dirty="0"/>
              <a:t>:</a:t>
            </a:r>
          </a:p>
          <a:p>
            <a:pPr>
              <a:lnSpc>
                <a:spcPct val="110000"/>
              </a:lnSpc>
              <a:defRPr sz="800">
                <a:solidFill>
                  <a:srgbClr val="323232"/>
                </a:solidFill>
              </a:defRPr>
            </a:pPr>
            <a:r>
              <a:rPr lang="en-US" altLang="ko-KR" dirty="0"/>
              <a:t>→ </a:t>
            </a:r>
            <a:r>
              <a:rPr lang="ko-KR" altLang="en-US" dirty="0"/>
              <a:t>감정 인식 </a:t>
            </a:r>
            <a:r>
              <a:rPr lang="en-US" altLang="ko-KR" dirty="0"/>
              <a:t>(</a:t>
            </a:r>
            <a:r>
              <a:rPr lang="ko-KR" altLang="en-US" dirty="0"/>
              <a:t>긍정</a:t>
            </a:r>
            <a:r>
              <a:rPr lang="en-US" altLang="ko-KR" dirty="0"/>
              <a:t>/</a:t>
            </a:r>
            <a:r>
              <a:rPr lang="ko-KR" altLang="en-US" dirty="0"/>
              <a:t>부정</a:t>
            </a:r>
            <a:r>
              <a:rPr lang="en-US" altLang="ko-KR" dirty="0"/>
              <a:t>)</a:t>
            </a:r>
          </a:p>
          <a:p>
            <a:pPr>
              <a:lnSpc>
                <a:spcPct val="110000"/>
              </a:lnSpc>
              <a:defRPr sz="800">
                <a:solidFill>
                  <a:srgbClr val="323232"/>
                </a:solidFill>
              </a:defRPr>
            </a:pPr>
            <a:r>
              <a:rPr lang="en-US" altLang="ko-KR" dirty="0"/>
              <a:t>→ </a:t>
            </a:r>
            <a:r>
              <a:rPr lang="ko-KR" altLang="en-US" dirty="0"/>
              <a:t>공감 및 위로 멘트 생성</a:t>
            </a:r>
          </a:p>
          <a:p>
            <a:pPr>
              <a:lnSpc>
                <a:spcPct val="110000"/>
              </a:lnSpc>
              <a:defRPr sz="800">
                <a:solidFill>
                  <a:srgbClr val="323232"/>
                </a:solidFill>
              </a:defRPr>
            </a:pPr>
            <a:r>
              <a:rPr lang="ko-KR" altLang="en-US" dirty="0"/>
              <a:t>→ 부정적 감정 시 심리 상담 권유</a:t>
            </a:r>
          </a:p>
        </p:txBody>
      </p:sp>
    </p:spTree>
    <p:extLst>
      <p:ext uri="{BB962C8B-B14F-4D97-AF65-F5344CB8AC3E}">
        <p14:creationId xmlns:p14="http://schemas.microsoft.com/office/powerpoint/2010/main" val="40759579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139DE-4285-E7A6-44DB-EDF986C11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985F95-9A8B-6CD2-8E66-C91D12B3832E}"/>
              </a:ext>
            </a:extLst>
          </p:cNvPr>
          <p:cNvSpPr txBox="1"/>
          <p:nvPr/>
        </p:nvSpPr>
        <p:spPr>
          <a:xfrm>
            <a:off x="457200" y="274320"/>
            <a:ext cx="3457998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C5F8D"/>
                </a:solidFill>
              </a:defRPr>
            </a:pPr>
            <a:r>
              <a:rPr dirty="0"/>
              <a:t>🗣️ </a:t>
            </a:r>
            <a:r>
              <a:rPr dirty="0" err="1"/>
              <a:t>의도분류</a:t>
            </a:r>
            <a:r>
              <a:rPr dirty="0"/>
              <a:t> </a:t>
            </a:r>
            <a:r>
              <a:rPr lang="ko-KR" altLang="en-US" dirty="0"/>
              <a:t>시나리오</a:t>
            </a:r>
            <a:endParaRPr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5876BC-D05B-FCA7-EFA3-DA06301E2AE4}"/>
              </a:ext>
            </a:extLst>
          </p:cNvPr>
          <p:cNvSpPr txBox="1"/>
          <p:nvPr/>
        </p:nvSpPr>
        <p:spPr>
          <a:xfrm>
            <a:off x="4686243" y="528235"/>
            <a:ext cx="3335311" cy="219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800">
                <a:solidFill>
                  <a:srgbClr val="323232"/>
                </a:solidFill>
              </a:defRPr>
            </a:pPr>
            <a:r>
              <a:rPr lang="en-US" altLang="ko-KR" dirty="0"/>
              <a:t>[</a:t>
            </a:r>
            <a:r>
              <a:rPr lang="ko-KR" altLang="en-US" dirty="0"/>
              <a:t>사용자 발화 → </a:t>
            </a:r>
            <a:r>
              <a:rPr lang="en-US" altLang="ko-KR" dirty="0">
                <a:solidFill>
                  <a:srgbClr val="0070C0"/>
                </a:solidFill>
              </a:rPr>
              <a:t>AI </a:t>
            </a:r>
            <a:r>
              <a:rPr lang="ko-KR" altLang="en-US" dirty="0">
                <a:solidFill>
                  <a:srgbClr val="0070C0"/>
                </a:solidFill>
              </a:rPr>
              <a:t>의도 분류 → 정책</a:t>
            </a:r>
            <a:r>
              <a:rPr lang="en-US" altLang="ko-KR" dirty="0">
                <a:solidFill>
                  <a:srgbClr val="0070C0"/>
                </a:solidFill>
              </a:rPr>
              <a:t>/</a:t>
            </a:r>
            <a:r>
              <a:rPr lang="ko-KR" altLang="en-US" dirty="0">
                <a:solidFill>
                  <a:srgbClr val="0070C0"/>
                </a:solidFill>
              </a:rPr>
              <a:t>지침 적용 </a:t>
            </a:r>
            <a:r>
              <a:rPr lang="ko-KR" altLang="en-US" dirty="0"/>
              <a:t>→ 적절한 응답</a:t>
            </a:r>
            <a:r>
              <a:rPr lang="en-US" altLang="ko-KR" dirty="0"/>
              <a:t>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EEE33C-305C-D8E2-6014-2C67D732FFF0}"/>
              </a:ext>
            </a:extLst>
          </p:cNvPr>
          <p:cNvSpPr txBox="1"/>
          <p:nvPr/>
        </p:nvSpPr>
        <p:spPr>
          <a:xfrm>
            <a:off x="584521" y="997536"/>
            <a:ext cx="2644816" cy="1574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800">
                <a:solidFill>
                  <a:srgbClr val="323232"/>
                </a:solidFill>
              </a:defRPr>
            </a:pPr>
            <a:r>
              <a:rPr lang="en-US" altLang="ko-KR" dirty="0"/>
              <a:t>🍽️ </a:t>
            </a:r>
            <a:r>
              <a:rPr lang="ko-KR" altLang="en-US" dirty="0"/>
              <a:t>식단 정보 질의 </a:t>
            </a:r>
            <a:r>
              <a:rPr lang="en-US" altLang="ko-KR" dirty="0"/>
              <a:t>(DIET_INFO)</a:t>
            </a:r>
          </a:p>
          <a:p>
            <a:pPr>
              <a:lnSpc>
                <a:spcPct val="110000"/>
              </a:lnSpc>
              <a:defRPr sz="800">
                <a:solidFill>
                  <a:srgbClr val="323232"/>
                </a:solidFill>
              </a:defRPr>
            </a:pPr>
            <a:endParaRPr lang="en-US" altLang="ko-KR" dirty="0"/>
          </a:p>
          <a:p>
            <a:pPr>
              <a:lnSpc>
                <a:spcPct val="110000"/>
              </a:lnSpc>
              <a:defRPr sz="800">
                <a:solidFill>
                  <a:srgbClr val="323232"/>
                </a:solidFill>
              </a:defRPr>
            </a:pPr>
            <a:r>
              <a:rPr lang="ko-KR" altLang="en-US" dirty="0"/>
              <a:t>발화 예시</a:t>
            </a:r>
            <a:r>
              <a:rPr lang="en-US" altLang="ko-KR" dirty="0"/>
              <a:t>:</a:t>
            </a:r>
          </a:p>
          <a:p>
            <a:pPr>
              <a:lnSpc>
                <a:spcPct val="110000"/>
              </a:lnSpc>
              <a:defRPr sz="800">
                <a:solidFill>
                  <a:srgbClr val="323232"/>
                </a:solidFill>
              </a:defRPr>
            </a:pPr>
            <a:r>
              <a:rPr lang="en-US" altLang="ko-KR" dirty="0"/>
              <a:t>• "</a:t>
            </a:r>
            <a:r>
              <a:rPr lang="ko-KR" altLang="en-US" dirty="0" err="1"/>
              <a:t>저칼륨</a:t>
            </a:r>
            <a:r>
              <a:rPr lang="ko-KR" altLang="en-US" dirty="0"/>
              <a:t> 식단 추천해줘</a:t>
            </a:r>
            <a:r>
              <a:rPr lang="en-US" altLang="ko-KR" dirty="0"/>
              <a:t>"</a:t>
            </a:r>
          </a:p>
          <a:p>
            <a:pPr>
              <a:lnSpc>
                <a:spcPct val="110000"/>
              </a:lnSpc>
              <a:defRPr sz="800">
                <a:solidFill>
                  <a:srgbClr val="323232"/>
                </a:solidFill>
              </a:defRPr>
            </a:pPr>
            <a:r>
              <a:rPr lang="en-US" altLang="ko-KR" dirty="0"/>
              <a:t>• "</a:t>
            </a:r>
            <a:r>
              <a:rPr lang="ko-KR" altLang="en-US" dirty="0"/>
              <a:t>김치찌개를 </a:t>
            </a:r>
            <a:r>
              <a:rPr lang="ko-KR" altLang="en-US" dirty="0" err="1"/>
              <a:t>저나트륨으로</a:t>
            </a:r>
            <a:r>
              <a:rPr lang="ko-KR" altLang="en-US" dirty="0"/>
              <a:t> 바꿔줘</a:t>
            </a:r>
            <a:r>
              <a:rPr lang="en-US" altLang="ko-KR" dirty="0"/>
              <a:t>"</a:t>
            </a:r>
          </a:p>
          <a:p>
            <a:pPr>
              <a:lnSpc>
                <a:spcPct val="110000"/>
              </a:lnSpc>
              <a:defRPr sz="800">
                <a:solidFill>
                  <a:srgbClr val="323232"/>
                </a:solidFill>
              </a:defRPr>
            </a:pPr>
            <a:r>
              <a:rPr lang="en-US" altLang="ko-KR" dirty="0"/>
              <a:t>• "</a:t>
            </a:r>
            <a:r>
              <a:rPr lang="ko-KR" altLang="en-US" dirty="0"/>
              <a:t>바나나는 먹어도 되나요</a:t>
            </a:r>
            <a:r>
              <a:rPr lang="en-US" altLang="ko-KR" dirty="0"/>
              <a:t>?"</a:t>
            </a:r>
          </a:p>
          <a:p>
            <a:pPr>
              <a:lnSpc>
                <a:spcPct val="110000"/>
              </a:lnSpc>
              <a:defRPr sz="800">
                <a:solidFill>
                  <a:srgbClr val="323232"/>
                </a:solidFill>
              </a:defRPr>
            </a:pPr>
            <a:endParaRPr lang="en-US" altLang="ko-KR" dirty="0"/>
          </a:p>
          <a:p>
            <a:pPr>
              <a:lnSpc>
                <a:spcPct val="110000"/>
              </a:lnSpc>
              <a:defRPr sz="800">
                <a:solidFill>
                  <a:srgbClr val="323232"/>
                </a:solidFill>
              </a:defRPr>
            </a:pPr>
            <a:r>
              <a:rPr lang="ko-KR" altLang="en-US" dirty="0"/>
              <a:t>처리 흐름</a:t>
            </a:r>
            <a:r>
              <a:rPr lang="en-US" altLang="ko-KR" dirty="0"/>
              <a:t>:</a:t>
            </a:r>
          </a:p>
          <a:p>
            <a:pPr>
              <a:lnSpc>
                <a:spcPct val="110000"/>
              </a:lnSpc>
              <a:defRPr sz="800">
                <a:solidFill>
                  <a:srgbClr val="323232"/>
                </a:solidFill>
              </a:defRPr>
            </a:pPr>
            <a:r>
              <a:rPr lang="en-US" altLang="ko-KR" dirty="0"/>
              <a:t>→ </a:t>
            </a:r>
            <a:r>
              <a:rPr lang="ko-KR" altLang="en-US" dirty="0"/>
              <a:t>음식 재료 언급 시</a:t>
            </a:r>
            <a:r>
              <a:rPr lang="en-US" altLang="ko-KR" dirty="0"/>
              <a:t>: </a:t>
            </a:r>
            <a:r>
              <a:rPr lang="ko-KR" altLang="en-US" dirty="0"/>
              <a:t>대체 재료 추천</a:t>
            </a:r>
          </a:p>
          <a:p>
            <a:pPr>
              <a:lnSpc>
                <a:spcPct val="110000"/>
              </a:lnSpc>
              <a:defRPr sz="800">
                <a:solidFill>
                  <a:srgbClr val="323232"/>
                </a:solidFill>
              </a:defRPr>
            </a:pPr>
            <a:r>
              <a:rPr lang="ko-KR" altLang="en-US" dirty="0"/>
              <a:t>→ 요리 언급 시</a:t>
            </a:r>
            <a:r>
              <a:rPr lang="en-US" altLang="ko-KR" dirty="0"/>
              <a:t>: </a:t>
            </a:r>
            <a:r>
              <a:rPr lang="ko-KR" altLang="en-US" dirty="0"/>
              <a:t>레시피 생성 </a:t>
            </a:r>
            <a:r>
              <a:rPr lang="en-US" altLang="ko-KR" dirty="0"/>
              <a:t>(</a:t>
            </a:r>
            <a:r>
              <a:rPr lang="ko-KR" altLang="en-US" dirty="0"/>
              <a:t>제한 영양소 반영</a:t>
            </a:r>
            <a:r>
              <a:rPr lang="en-US" altLang="ko-KR" dirty="0"/>
              <a:t>)</a:t>
            </a:r>
          </a:p>
          <a:p>
            <a:pPr>
              <a:lnSpc>
                <a:spcPct val="110000"/>
              </a:lnSpc>
              <a:defRPr sz="800">
                <a:solidFill>
                  <a:srgbClr val="323232"/>
                </a:solidFill>
              </a:defRPr>
            </a:pPr>
            <a:r>
              <a:rPr lang="en-US" altLang="ko-KR" dirty="0"/>
              <a:t>→ </a:t>
            </a:r>
            <a:r>
              <a:rPr lang="ko-KR" altLang="en-US" dirty="0"/>
              <a:t>영양소 계산 및 경고 </a:t>
            </a:r>
            <a:r>
              <a:rPr lang="en-US" altLang="ko-KR" dirty="0"/>
              <a:t>(</a:t>
            </a:r>
            <a:r>
              <a:rPr lang="ko-KR" altLang="en-US" dirty="0"/>
              <a:t>초과 시</a:t>
            </a:r>
            <a:r>
              <a:rPr lang="en-US" altLang="ko-KR" dirty="0"/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ECB558-EE6D-C3F0-E553-E6EBD6D15E44}"/>
              </a:ext>
            </a:extLst>
          </p:cNvPr>
          <p:cNvSpPr txBox="1"/>
          <p:nvPr/>
        </p:nvSpPr>
        <p:spPr>
          <a:xfrm>
            <a:off x="6697383" y="994457"/>
            <a:ext cx="1940781" cy="170963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800">
                <a:solidFill>
                  <a:srgbClr val="323232"/>
                </a:solidFill>
              </a:defRPr>
            </a:pPr>
            <a:r>
              <a:rPr lang="ko-KR" altLang="en-US" dirty="0"/>
              <a:t>🔬 논문 검색 </a:t>
            </a:r>
            <a:r>
              <a:rPr lang="en-US" altLang="ko-KR" dirty="0"/>
              <a:t>(RESEARCH - </a:t>
            </a:r>
            <a:r>
              <a:rPr lang="ko-KR" altLang="en-US" dirty="0"/>
              <a:t>연구자용</a:t>
            </a:r>
            <a:r>
              <a:rPr lang="en-US" altLang="ko-KR" dirty="0"/>
              <a:t>)</a:t>
            </a:r>
          </a:p>
          <a:p>
            <a:pPr>
              <a:lnSpc>
                <a:spcPct val="110000"/>
              </a:lnSpc>
              <a:defRPr sz="800">
                <a:solidFill>
                  <a:srgbClr val="323232"/>
                </a:solidFill>
              </a:defRPr>
            </a:pPr>
            <a:endParaRPr lang="en-US" altLang="ko-KR" dirty="0"/>
          </a:p>
          <a:p>
            <a:pPr>
              <a:lnSpc>
                <a:spcPct val="110000"/>
              </a:lnSpc>
              <a:defRPr sz="800">
                <a:solidFill>
                  <a:srgbClr val="323232"/>
                </a:solidFill>
              </a:defRPr>
            </a:pPr>
            <a:r>
              <a:rPr lang="ko-KR" altLang="en-US" dirty="0"/>
              <a:t>발화 예시</a:t>
            </a:r>
            <a:r>
              <a:rPr lang="en-US" altLang="ko-KR" dirty="0"/>
              <a:t>:</a:t>
            </a:r>
          </a:p>
          <a:p>
            <a:pPr>
              <a:lnSpc>
                <a:spcPct val="110000"/>
              </a:lnSpc>
              <a:defRPr sz="800">
                <a:solidFill>
                  <a:srgbClr val="323232"/>
                </a:solidFill>
              </a:defRPr>
            </a:pPr>
            <a:r>
              <a:rPr lang="en-US" altLang="ko-KR" dirty="0"/>
              <a:t>• “</a:t>
            </a:r>
            <a:r>
              <a:rPr lang="ko-KR" altLang="en-US" dirty="0" err="1"/>
              <a:t>저칼륨</a:t>
            </a:r>
            <a:r>
              <a:rPr lang="ko-KR" altLang="en-US" dirty="0"/>
              <a:t> 식단 관련 최신 논문</a:t>
            </a:r>
            <a:r>
              <a:rPr lang="en-US" altLang="ko-KR" dirty="0"/>
              <a:t>"</a:t>
            </a:r>
          </a:p>
          <a:p>
            <a:pPr>
              <a:lnSpc>
                <a:spcPct val="110000"/>
              </a:lnSpc>
              <a:defRPr sz="800">
                <a:solidFill>
                  <a:srgbClr val="323232"/>
                </a:solidFill>
              </a:defRPr>
            </a:pPr>
            <a:r>
              <a:rPr lang="en-US" altLang="ko-KR" dirty="0"/>
              <a:t>• ”CKD </a:t>
            </a:r>
            <a:r>
              <a:rPr lang="ko-KR" altLang="en-US" dirty="0"/>
              <a:t>식단관리 차이점 비교</a:t>
            </a:r>
            <a:r>
              <a:rPr lang="en-US" altLang="ko-KR" dirty="0"/>
              <a:t>"</a:t>
            </a:r>
          </a:p>
          <a:p>
            <a:pPr>
              <a:lnSpc>
                <a:spcPct val="110000"/>
              </a:lnSpc>
              <a:defRPr sz="800">
                <a:solidFill>
                  <a:srgbClr val="323232"/>
                </a:solidFill>
              </a:defRPr>
            </a:pPr>
            <a:r>
              <a:rPr lang="en-US" altLang="ko-KR" dirty="0"/>
              <a:t>• "</a:t>
            </a:r>
            <a:r>
              <a:rPr lang="ko-KR" altLang="en-US" dirty="0" err="1"/>
              <a:t>바이오마커</a:t>
            </a:r>
            <a:r>
              <a:rPr lang="ko-KR" altLang="en-US" dirty="0"/>
              <a:t> 연구 트렌드는</a:t>
            </a:r>
            <a:r>
              <a:rPr lang="en-US" altLang="ko-KR" dirty="0"/>
              <a:t>?"</a:t>
            </a:r>
          </a:p>
          <a:p>
            <a:pPr>
              <a:lnSpc>
                <a:spcPct val="110000"/>
              </a:lnSpc>
              <a:defRPr sz="800">
                <a:solidFill>
                  <a:srgbClr val="323232"/>
                </a:solidFill>
              </a:defRPr>
            </a:pPr>
            <a:endParaRPr lang="en-US" altLang="ko-KR" dirty="0"/>
          </a:p>
          <a:p>
            <a:pPr>
              <a:lnSpc>
                <a:spcPct val="110000"/>
              </a:lnSpc>
              <a:defRPr sz="800">
                <a:solidFill>
                  <a:srgbClr val="323232"/>
                </a:solidFill>
              </a:defRPr>
            </a:pPr>
            <a:r>
              <a:rPr lang="ko-KR" altLang="en-US" dirty="0"/>
              <a:t>처리 흐름</a:t>
            </a:r>
            <a:r>
              <a:rPr lang="en-US" altLang="ko-KR" dirty="0"/>
              <a:t>:</a:t>
            </a:r>
          </a:p>
          <a:p>
            <a:pPr>
              <a:lnSpc>
                <a:spcPct val="110000"/>
              </a:lnSpc>
              <a:defRPr sz="800">
                <a:solidFill>
                  <a:srgbClr val="323232"/>
                </a:solidFill>
              </a:defRPr>
            </a:pPr>
            <a:r>
              <a:rPr lang="en-US" altLang="ko-KR" dirty="0"/>
              <a:t>→ PubMed </a:t>
            </a:r>
            <a:r>
              <a:rPr lang="ko-KR" altLang="en-US" dirty="0"/>
              <a:t>검색 또는 내부 </a:t>
            </a:r>
            <a:r>
              <a:rPr lang="en-US" altLang="ko-KR" dirty="0"/>
              <a:t>DB </a:t>
            </a:r>
            <a:r>
              <a:rPr lang="ko-KR" altLang="en-US" dirty="0"/>
              <a:t>검색</a:t>
            </a:r>
          </a:p>
          <a:p>
            <a:pPr>
              <a:lnSpc>
                <a:spcPct val="110000"/>
              </a:lnSpc>
              <a:defRPr sz="800">
                <a:solidFill>
                  <a:srgbClr val="323232"/>
                </a:solidFill>
              </a:defRPr>
            </a:pPr>
            <a:r>
              <a:rPr lang="ko-KR" altLang="en-US" dirty="0"/>
              <a:t>→ </a:t>
            </a:r>
            <a:r>
              <a:rPr lang="en-US" altLang="ko-KR" dirty="0"/>
              <a:t>RAG </a:t>
            </a:r>
            <a:r>
              <a:rPr lang="ko-KR" altLang="en-US" dirty="0"/>
              <a:t>기반 논문 요약</a:t>
            </a:r>
          </a:p>
          <a:p>
            <a:pPr>
              <a:lnSpc>
                <a:spcPct val="110000"/>
              </a:lnSpc>
              <a:defRPr sz="800">
                <a:solidFill>
                  <a:srgbClr val="323232"/>
                </a:solidFill>
              </a:defRPr>
            </a:pPr>
            <a:r>
              <a:rPr lang="ko-KR" altLang="en-US" dirty="0"/>
              <a:t>→ 다중 논문 비교 분석</a:t>
            </a:r>
          </a:p>
          <a:p>
            <a:pPr>
              <a:lnSpc>
                <a:spcPct val="110000"/>
              </a:lnSpc>
              <a:defRPr sz="800">
                <a:solidFill>
                  <a:srgbClr val="323232"/>
                </a:solidFill>
              </a:defRPr>
            </a:pPr>
            <a:r>
              <a:rPr lang="ko-KR" altLang="en-US" dirty="0"/>
              <a:t>→ 트렌드 시각화 </a:t>
            </a:r>
            <a:r>
              <a:rPr lang="en-US" altLang="ko-KR" dirty="0"/>
              <a:t>(</a:t>
            </a:r>
            <a:r>
              <a:rPr lang="ko-KR" altLang="en-US" dirty="0"/>
              <a:t>시계열</a:t>
            </a:r>
            <a:r>
              <a:rPr lang="en-US" altLang="ko-KR" dirty="0"/>
              <a:t>, </a:t>
            </a:r>
            <a:r>
              <a:rPr lang="ko-KR" altLang="en-US" dirty="0"/>
              <a:t>네트워크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2298D7C-5F0F-1326-DF05-B8BA41D143A5}"/>
              </a:ext>
            </a:extLst>
          </p:cNvPr>
          <p:cNvSpPr/>
          <p:nvPr/>
        </p:nvSpPr>
        <p:spPr>
          <a:xfrm>
            <a:off x="6629287" y="920272"/>
            <a:ext cx="2115183" cy="1926295"/>
          </a:xfrm>
          <a:prstGeom prst="rect">
            <a:avLst/>
          </a:prstGeom>
          <a:noFill/>
          <a:ln w="635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1A4106ED-35E1-C23E-BF53-ED1B937D92D6}"/>
              </a:ext>
            </a:extLst>
          </p:cNvPr>
          <p:cNvCxnSpPr>
            <a:cxnSpLocks/>
            <a:stCxn id="18" idx="3"/>
            <a:endCxn id="10" idx="1"/>
          </p:cNvCxnSpPr>
          <p:nvPr/>
        </p:nvCxnSpPr>
        <p:spPr>
          <a:xfrm flipV="1">
            <a:off x="6276775" y="1883420"/>
            <a:ext cx="352512" cy="30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5FA8824-4221-0FBC-E136-2408AE73C2F4}"/>
              </a:ext>
            </a:extLst>
          </p:cNvPr>
          <p:cNvSpPr txBox="1"/>
          <p:nvPr/>
        </p:nvSpPr>
        <p:spPr>
          <a:xfrm>
            <a:off x="584521" y="3070258"/>
            <a:ext cx="3088982" cy="1709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800">
                <a:solidFill>
                  <a:srgbClr val="323232"/>
                </a:solidFill>
              </a:defRPr>
            </a:pPr>
            <a:r>
              <a:rPr lang="ko-KR" altLang="en-US" dirty="0"/>
              <a:t>📚 학습 및 퀴즈 </a:t>
            </a:r>
            <a:r>
              <a:rPr lang="en-US" altLang="ko-KR" dirty="0"/>
              <a:t>(LEARNING)</a:t>
            </a:r>
          </a:p>
          <a:p>
            <a:pPr>
              <a:lnSpc>
                <a:spcPct val="110000"/>
              </a:lnSpc>
              <a:defRPr sz="800">
                <a:solidFill>
                  <a:srgbClr val="323232"/>
                </a:solidFill>
              </a:defRPr>
            </a:pPr>
            <a:endParaRPr lang="en-US" altLang="ko-KR" dirty="0"/>
          </a:p>
          <a:p>
            <a:pPr>
              <a:lnSpc>
                <a:spcPct val="110000"/>
              </a:lnSpc>
              <a:defRPr sz="800">
                <a:solidFill>
                  <a:srgbClr val="323232"/>
                </a:solidFill>
              </a:defRPr>
            </a:pPr>
            <a:r>
              <a:rPr lang="ko-KR" altLang="en-US" dirty="0"/>
              <a:t>발화 예시</a:t>
            </a:r>
            <a:r>
              <a:rPr lang="en-US" altLang="ko-KR" dirty="0"/>
              <a:t>:</a:t>
            </a:r>
          </a:p>
          <a:p>
            <a:pPr>
              <a:lnSpc>
                <a:spcPct val="110000"/>
              </a:lnSpc>
              <a:defRPr sz="800">
                <a:solidFill>
                  <a:srgbClr val="323232"/>
                </a:solidFill>
              </a:defRPr>
            </a:pPr>
            <a:r>
              <a:rPr lang="en-US" altLang="ko-KR" dirty="0"/>
              <a:t>• ”GFR</a:t>
            </a:r>
            <a:r>
              <a:rPr lang="ko-KR" altLang="en-US" dirty="0" err="1"/>
              <a:t>에</a:t>
            </a:r>
            <a:r>
              <a:rPr lang="ko-KR" altLang="en-US" dirty="0"/>
              <a:t> 대해 배우고 싶어</a:t>
            </a:r>
            <a:r>
              <a:rPr lang="en-US" altLang="ko-KR" dirty="0"/>
              <a:t>"</a:t>
            </a:r>
          </a:p>
          <a:p>
            <a:pPr>
              <a:lnSpc>
                <a:spcPct val="110000"/>
              </a:lnSpc>
              <a:defRPr sz="800">
                <a:solidFill>
                  <a:srgbClr val="323232"/>
                </a:solidFill>
              </a:defRPr>
            </a:pPr>
            <a:r>
              <a:rPr lang="en-US" altLang="ko-KR" dirty="0"/>
              <a:t>• “</a:t>
            </a:r>
            <a:r>
              <a:rPr lang="ko-KR" altLang="en-US" dirty="0"/>
              <a:t>오늘의 퀴즈</a:t>
            </a:r>
            <a:r>
              <a:rPr lang="en-US" altLang="ko-KR" dirty="0"/>
              <a:t>"</a:t>
            </a:r>
          </a:p>
          <a:p>
            <a:pPr>
              <a:lnSpc>
                <a:spcPct val="110000"/>
              </a:lnSpc>
              <a:defRPr sz="800">
                <a:solidFill>
                  <a:srgbClr val="323232"/>
                </a:solidFill>
              </a:defRPr>
            </a:pPr>
            <a:r>
              <a:rPr lang="en-US" altLang="ko-KR" dirty="0"/>
              <a:t>• ”</a:t>
            </a:r>
            <a:r>
              <a:rPr lang="ko-KR" altLang="en-US" dirty="0"/>
              <a:t>퀴즈 풀면 포인트 </a:t>
            </a:r>
            <a:r>
              <a:rPr lang="ko-KR" altLang="en-US" dirty="0" err="1"/>
              <a:t>주는거야</a:t>
            </a:r>
            <a:r>
              <a:rPr lang="en-US" altLang="ko-KR" dirty="0"/>
              <a:t>?"</a:t>
            </a:r>
          </a:p>
          <a:p>
            <a:pPr>
              <a:lnSpc>
                <a:spcPct val="110000"/>
              </a:lnSpc>
              <a:defRPr sz="800">
                <a:solidFill>
                  <a:srgbClr val="323232"/>
                </a:solidFill>
              </a:defRPr>
            </a:pPr>
            <a:endParaRPr lang="en-US" altLang="ko-KR" dirty="0"/>
          </a:p>
          <a:p>
            <a:pPr>
              <a:lnSpc>
                <a:spcPct val="110000"/>
              </a:lnSpc>
              <a:defRPr sz="800">
                <a:solidFill>
                  <a:srgbClr val="323232"/>
                </a:solidFill>
              </a:defRPr>
            </a:pPr>
            <a:r>
              <a:rPr lang="ko-KR" altLang="en-US" dirty="0"/>
              <a:t>처리 흐름</a:t>
            </a:r>
            <a:r>
              <a:rPr lang="en-US" altLang="ko-KR" dirty="0"/>
              <a:t>:</a:t>
            </a:r>
          </a:p>
          <a:p>
            <a:pPr>
              <a:lnSpc>
                <a:spcPct val="110000"/>
              </a:lnSpc>
              <a:defRPr sz="800">
                <a:solidFill>
                  <a:srgbClr val="323232"/>
                </a:solidFill>
              </a:defRPr>
            </a:pPr>
            <a:r>
              <a:rPr lang="en-US" altLang="ko-KR" dirty="0"/>
              <a:t>→ </a:t>
            </a:r>
            <a:r>
              <a:rPr lang="ko-KR" altLang="en-US" dirty="0"/>
              <a:t>사용자 레벨 확인 </a:t>
            </a:r>
            <a:r>
              <a:rPr lang="en-US" altLang="ko-KR" dirty="0"/>
              <a:t>(Lv1~Lv5)</a:t>
            </a:r>
          </a:p>
          <a:p>
            <a:pPr>
              <a:lnSpc>
                <a:spcPct val="110000"/>
              </a:lnSpc>
              <a:defRPr sz="800">
                <a:solidFill>
                  <a:srgbClr val="323232"/>
                </a:solidFill>
              </a:defRPr>
            </a:pPr>
            <a:r>
              <a:rPr lang="en-US" altLang="ko-KR" dirty="0"/>
              <a:t>→ </a:t>
            </a:r>
            <a:r>
              <a:rPr lang="ko-KR" altLang="en-US" dirty="0"/>
              <a:t>적절한 난이도 콘텐츠 제공</a:t>
            </a:r>
          </a:p>
          <a:p>
            <a:pPr>
              <a:lnSpc>
                <a:spcPct val="110000"/>
              </a:lnSpc>
              <a:defRPr sz="800">
                <a:solidFill>
                  <a:srgbClr val="323232"/>
                </a:solidFill>
              </a:defRPr>
            </a:pPr>
            <a:r>
              <a:rPr lang="ko-KR" altLang="en-US" dirty="0"/>
              <a:t>→ 퀴즈 정답 시 포인트 지급</a:t>
            </a:r>
          </a:p>
          <a:p>
            <a:pPr>
              <a:lnSpc>
                <a:spcPct val="110000"/>
              </a:lnSpc>
              <a:defRPr sz="800">
                <a:solidFill>
                  <a:srgbClr val="323232"/>
                </a:solidFill>
              </a:defRPr>
            </a:pPr>
            <a:r>
              <a:rPr lang="ko-KR" altLang="en-US" dirty="0"/>
              <a:t>→ </a:t>
            </a:r>
            <a:r>
              <a:rPr lang="ko-KR" altLang="en-US" dirty="0" err="1"/>
              <a:t>레벨업</a:t>
            </a:r>
            <a:r>
              <a:rPr lang="ko-KR" altLang="en-US" dirty="0"/>
              <a:t> 및 추가 학습 자료 추천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661DD33-F9AC-DBC6-898F-0F137B754173}"/>
              </a:ext>
            </a:extLst>
          </p:cNvPr>
          <p:cNvSpPr/>
          <p:nvPr/>
        </p:nvSpPr>
        <p:spPr>
          <a:xfrm>
            <a:off x="478390" y="2990528"/>
            <a:ext cx="5790392" cy="1934309"/>
          </a:xfrm>
          <a:prstGeom prst="rect">
            <a:avLst/>
          </a:prstGeom>
          <a:noFill/>
          <a:ln w="635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t" anchorCtr="0"/>
          <a:lstStyle/>
          <a:p>
            <a:pPr algn="r"/>
            <a:r>
              <a:rPr kumimoji="1" lang="ko-KR" altLang="en-US" sz="900" dirty="0">
                <a:solidFill>
                  <a:srgbClr val="0070C0"/>
                </a:solidFill>
              </a:rPr>
              <a:t>정책적으로 논문 검색을 </a:t>
            </a:r>
            <a:endParaRPr kumimoji="1" lang="en-US" altLang="ko-KR" sz="900" dirty="0">
              <a:solidFill>
                <a:srgbClr val="0070C0"/>
              </a:solidFill>
            </a:endParaRPr>
          </a:p>
          <a:p>
            <a:pPr algn="r"/>
            <a:r>
              <a:rPr kumimoji="1" lang="ko-KR" altLang="en-US" sz="900" dirty="0">
                <a:solidFill>
                  <a:srgbClr val="0070C0"/>
                </a:solidFill>
              </a:rPr>
              <a:t>추천하지 않도록 프롬프트</a:t>
            </a:r>
            <a:endParaRPr kumimoji="1" lang="ko-KR" altLang="en-US" sz="1000" dirty="0">
              <a:solidFill>
                <a:srgbClr val="0070C0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022431E-6B7C-630F-979D-6BB03B076839}"/>
              </a:ext>
            </a:extLst>
          </p:cNvPr>
          <p:cNvSpPr/>
          <p:nvPr/>
        </p:nvSpPr>
        <p:spPr>
          <a:xfrm>
            <a:off x="486383" y="927418"/>
            <a:ext cx="5790392" cy="1918166"/>
          </a:xfrm>
          <a:prstGeom prst="rect">
            <a:avLst/>
          </a:prstGeom>
          <a:noFill/>
          <a:ln w="635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092822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811</TotalTime>
  <Words>2526</Words>
  <Application>Microsoft Macintosh PowerPoint</Application>
  <PresentationFormat>화면 슬라이드 쇼(16:9)</PresentationFormat>
  <Paragraphs>246</Paragraphs>
  <Slides>12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이윤주</cp:lastModifiedBy>
  <cp:revision>38</cp:revision>
  <dcterms:created xsi:type="dcterms:W3CDTF">2025-10-29T02:19:48Z</dcterms:created>
  <dcterms:modified xsi:type="dcterms:W3CDTF">2025-11-03T07:05:22Z</dcterms:modified>
</cp:coreProperties>
</file>