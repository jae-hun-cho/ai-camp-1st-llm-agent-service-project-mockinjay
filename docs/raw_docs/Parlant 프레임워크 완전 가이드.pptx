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26.png"/><Relationship Id="rId8" Type="http://schemas.openxmlformats.org/officeDocument/2006/relationships/image" Target="../media/image42.png"/><Relationship Id="rId9" Type="http://schemas.openxmlformats.org/officeDocument/2006/relationships/image" Target="../media/image2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59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57.png"/><Relationship Id="rId16" Type="http://schemas.openxmlformats.org/officeDocument/2006/relationships/image" Target="../media/image71.png"/><Relationship Id="rId17" Type="http://schemas.openxmlformats.org/officeDocument/2006/relationships/image" Target="../media/image72.png"/><Relationship Id="rId18" Type="http://schemas.openxmlformats.org/officeDocument/2006/relationships/image" Target="../media/image56.png"/><Relationship Id="rId19" Type="http://schemas.openxmlformats.org/officeDocument/2006/relationships/image" Target="../media/image73.png"/><Relationship Id="rId20" Type="http://schemas.openxmlformats.org/officeDocument/2006/relationships/image" Target="../media/image74.png"/><Relationship Id="rId21" Type="http://schemas.openxmlformats.org/officeDocument/2006/relationships/image" Target="../media/image75.png"/><Relationship Id="rId22" Type="http://schemas.openxmlformats.org/officeDocument/2006/relationships/image" Target="../media/image76.png"/><Relationship Id="rId23" Type="http://schemas.openxmlformats.org/officeDocument/2006/relationships/image" Target="../media/image77.png"/><Relationship Id="rId24" Type="http://schemas.openxmlformats.org/officeDocument/2006/relationships/image" Target="../media/image55.png"/><Relationship Id="rId25" Type="http://schemas.openxmlformats.org/officeDocument/2006/relationships/image" Target="../media/image78.png"/><Relationship Id="rId26" Type="http://schemas.openxmlformats.org/officeDocument/2006/relationships/image" Target="../media/image79.png"/><Relationship Id="rId27" Type="http://schemas.openxmlformats.org/officeDocument/2006/relationships/image" Target="../media/image80.png"/><Relationship Id="rId28" Type="http://schemas.openxmlformats.org/officeDocument/2006/relationships/image" Target="../media/image8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26.png"/><Relationship Id="rId4" Type="http://schemas.openxmlformats.org/officeDocument/2006/relationships/image" Target="../media/image83.png"/><Relationship Id="rId5" Type="http://schemas.openxmlformats.org/officeDocument/2006/relationships/image" Target="../media/image60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64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Relationship Id="rId16" Type="http://schemas.openxmlformats.org/officeDocument/2006/relationships/image" Target="../media/image93.png"/><Relationship Id="rId17" Type="http://schemas.openxmlformats.org/officeDocument/2006/relationships/image" Target="../media/image94.png"/><Relationship Id="rId18" Type="http://schemas.openxmlformats.org/officeDocument/2006/relationships/image" Target="../media/image9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09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7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55.png"/><Relationship Id="rId6" Type="http://schemas.openxmlformats.org/officeDocument/2006/relationships/image" Target="../media/image126.png"/><Relationship Id="rId7" Type="http://schemas.openxmlformats.org/officeDocument/2006/relationships/image" Target="../media/image9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gradFill>
            <a:gsLst>
              <a:gs pos="0">
                <a:srgbClr val="00143C">
                  <a:alpha val="70000"/>
                </a:srgbClr>
              </a:gs>
              <a:gs pos="100000">
                <a:srgbClr val="00143C">
                  <a:alpha val="80000"/>
                </a:srgbClr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2883297" y="2752470"/>
            <a:ext cx="6425101" cy="495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 algn="ctr">
              <a:lnSpc>
                <a:spcPts val="2300"/>
              </a:lnSpc>
              <a:spcBef>
                <a:spcPts val="1500"/>
              </a:spcBef>
              <a:defRPr b="1" sz="4000">
                <a:solidFill>
                  <a:srgbClr val="FFFFFF"/>
                </a:solidFill>
              </a:defRPr>
            </a:pPr>
            <a:r>
              <a:t>Parlant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프레임워크 완전 가이드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3861243" y="3308093"/>
            <a:ext cx="4478732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 algn="ctr">
              <a:spcBef>
                <a:spcPts val="2600"/>
              </a:spcBef>
              <a:defRPr sz="2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제어 가능한 </a:t>
            </a:r>
            <a:r>
              <a:rPr>
                <a:solidFill>
                  <a:srgbClr val="64B5F6"/>
                </a:solidFill>
              </a:rPr>
              <a:t>AI </a:t>
            </a:r>
            <a:r>
              <a:rPr>
                <a:solidFill>
                  <a:srgbClr val="64B5F6"/>
                </a:solidFill>
                <a:latin typeface="+mj-lt"/>
                <a:ea typeface="+mj-ea"/>
                <a:cs typeface="+mj-cs"/>
                <a:sym typeface="Helvetica"/>
              </a:rPr>
              <a:t>에이전트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구축을 위한 솔루션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5348323" y="6205916"/>
            <a:ext cx="1495049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2025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년 </a:t>
            </a:r>
            <a:r>
              <a:t>10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월 </a:t>
            </a:r>
            <a:r>
              <a:t>30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일</a:t>
            </a:r>
          </a:p>
        </p:txBody>
      </p:sp>
      <p:sp>
        <p:nvSpPr>
          <p:cNvPr id="98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 txBox="1"/>
          <p:nvPr/>
        </p:nvSpPr>
        <p:spPr>
          <a:xfrm>
            <a:off x="780267" y="497585"/>
            <a:ext cx="781559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2600"/>
              </a:spcBef>
              <a:defRPr b="1" sz="3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목차</a:t>
            </a:r>
          </a:p>
        </p:txBody>
      </p:sp>
      <p:sp>
        <p:nvSpPr>
          <p:cNvPr id="101" name="TextBox 2"/>
          <p:cNvSpPr txBox="1"/>
          <p:nvPr/>
        </p:nvSpPr>
        <p:spPr>
          <a:xfrm>
            <a:off x="780267" y="1559821"/>
            <a:ext cx="225419" cy="31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600">
                <a:solidFill>
                  <a:srgbClr val="64B5F6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1351754" y="1467547"/>
            <a:ext cx="1802177" cy="503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2500"/>
            </a:pPr>
            <a:r>
              <a:t>  </a:t>
            </a:r>
            <a:r>
              <a:rPr>
                <a:solidFill>
                  <a:srgbClr val="FFFFFF"/>
                </a:solidFill>
              </a:rPr>
              <a:t>Parlant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소개</a:t>
            </a:r>
          </a:p>
        </p:txBody>
      </p:sp>
      <p:sp>
        <p:nvSpPr>
          <p:cNvPr id="103" name="TextBox 5"/>
          <p:cNvSpPr txBox="1"/>
          <p:nvPr/>
        </p:nvSpPr>
        <p:spPr>
          <a:xfrm>
            <a:off x="6257006" y="1559821"/>
            <a:ext cx="225418" cy="31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600">
                <a:solidFill>
                  <a:srgbClr val="64B5F6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4" name="TextBox 6"/>
          <p:cNvSpPr txBox="1"/>
          <p:nvPr/>
        </p:nvSpPr>
        <p:spPr>
          <a:xfrm>
            <a:off x="6828491" y="1462781"/>
            <a:ext cx="1452748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2500"/>
            </a:pPr>
            <a:r>
              <a:t>  </a:t>
            </a:r>
            <a:r>
              <a: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rPr>
              <a:t>핵심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개념</a:t>
            </a:r>
          </a:p>
        </p:txBody>
      </p:sp>
      <p:sp>
        <p:nvSpPr>
          <p:cNvPr id="105" name="TextBox 8"/>
          <p:cNvSpPr txBox="1"/>
          <p:nvPr/>
        </p:nvSpPr>
        <p:spPr>
          <a:xfrm>
            <a:off x="780267" y="2721871"/>
            <a:ext cx="225419" cy="31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600">
                <a:solidFill>
                  <a:srgbClr val="64B5F6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6" name="TextBox 9"/>
          <p:cNvSpPr txBox="1"/>
          <p:nvPr/>
        </p:nvSpPr>
        <p:spPr>
          <a:xfrm>
            <a:off x="1351754" y="2624832"/>
            <a:ext cx="2002022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2500"/>
            </a:pPr>
            <a:r>
              <a:t>  </a:t>
            </a:r>
            <a:r>
              <a: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rPr>
              <a:t>아키텍처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구조</a:t>
            </a:r>
          </a:p>
        </p:txBody>
      </p:sp>
      <p:sp>
        <p:nvSpPr>
          <p:cNvPr id="107" name="TextBox 11"/>
          <p:cNvSpPr txBox="1"/>
          <p:nvPr/>
        </p:nvSpPr>
        <p:spPr>
          <a:xfrm>
            <a:off x="6257006" y="2721871"/>
            <a:ext cx="225418" cy="31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600">
                <a:solidFill>
                  <a:srgbClr val="64B5F6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8" name="TextBox 12"/>
          <p:cNvSpPr txBox="1"/>
          <p:nvPr/>
        </p:nvSpPr>
        <p:spPr>
          <a:xfrm>
            <a:off x="6828491" y="2624832"/>
            <a:ext cx="2002023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2500"/>
            </a:pPr>
            <a:r>
              <a:t>  </a:t>
            </a:r>
            <a:r>
              <a: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rPr>
              <a:t>주요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컴포넌트</a:t>
            </a:r>
          </a:p>
        </p:txBody>
      </p:sp>
      <p:sp>
        <p:nvSpPr>
          <p:cNvPr id="109" name="TextBox 14"/>
          <p:cNvSpPr txBox="1"/>
          <p:nvPr/>
        </p:nvSpPr>
        <p:spPr>
          <a:xfrm>
            <a:off x="780267" y="3883921"/>
            <a:ext cx="225419" cy="31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600">
                <a:solidFill>
                  <a:srgbClr val="64B5F6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0" name="TextBox 15"/>
          <p:cNvSpPr txBox="1"/>
          <p:nvPr/>
        </p:nvSpPr>
        <p:spPr>
          <a:xfrm>
            <a:off x="1351754" y="3791647"/>
            <a:ext cx="1667847" cy="503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2500"/>
            </a:pPr>
            <a:r>
              <a:t>  </a:t>
            </a:r>
            <a:r>
              <a:rPr>
                <a:solidFill>
                  <a:srgbClr val="FFFFFF"/>
                </a:solidFill>
              </a:rPr>
              <a:t>SDK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사용법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6257006" y="3883921"/>
            <a:ext cx="225418" cy="31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600">
                <a:solidFill>
                  <a:srgbClr val="64B5F6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2" name="TextBox 18"/>
          <p:cNvSpPr txBox="1"/>
          <p:nvPr/>
        </p:nvSpPr>
        <p:spPr>
          <a:xfrm>
            <a:off x="6828491" y="3786881"/>
            <a:ext cx="1452748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2500"/>
            </a:pPr>
            <a:r>
              <a:t>  </a:t>
            </a:r>
            <a:r>
              <a: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rPr>
              <a:t>실전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예제</a:t>
            </a:r>
          </a:p>
        </p:txBody>
      </p:sp>
      <p:sp>
        <p:nvSpPr>
          <p:cNvPr id="113" name="TextBox 20"/>
          <p:cNvSpPr txBox="1"/>
          <p:nvPr/>
        </p:nvSpPr>
        <p:spPr>
          <a:xfrm>
            <a:off x="780267" y="5045971"/>
            <a:ext cx="225419" cy="31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600">
                <a:solidFill>
                  <a:srgbClr val="64B5F6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4" name="TextBox 21"/>
          <p:cNvSpPr txBox="1"/>
          <p:nvPr/>
        </p:nvSpPr>
        <p:spPr>
          <a:xfrm>
            <a:off x="1351754" y="4948931"/>
            <a:ext cx="1452747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2500"/>
            </a:pPr>
            <a:r>
              <a:t>  </a:t>
            </a:r>
            <a:r>
              <a: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rPr>
              <a:t>다음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단계</a:t>
            </a:r>
          </a:p>
        </p:txBody>
      </p:sp>
      <p:sp>
        <p:nvSpPr>
          <p:cNvPr id="115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780267" y="484247"/>
            <a:ext cx="5907899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t>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 개발의 문제점과 해결 방식</a:t>
            </a:r>
          </a:p>
        </p:txBody>
      </p:sp>
      <p:sp>
        <p:nvSpPr>
          <p:cNvPr id="118" name="TextBox 2"/>
          <p:cNvSpPr txBox="1"/>
          <p:nvPr/>
        </p:nvSpPr>
        <p:spPr>
          <a:xfrm>
            <a:off x="792968" y="1320543"/>
            <a:ext cx="3053127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900"/>
              </a:spcBef>
              <a:defRPr b="1" sz="2000">
                <a:solidFill>
                  <a:srgbClr val="FFFFFF"/>
                </a:solidFill>
              </a:defRPr>
            </a:pPr>
            <a:r>
              <a:t> </a:t>
            </a:r>
            <a:r>
              <a:rPr b="0">
                <a:solidFill>
                  <a:srgbClr val="000000"/>
                </a:solidFill>
              </a:rPr>
              <a:t>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기존 </a:t>
            </a:r>
            <a:r>
              <a:t>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에이전트의 문제점 </a:t>
            </a:r>
          </a:p>
        </p:txBody>
      </p:sp>
      <p:pic>
        <p:nvPicPr>
          <p:cNvPr id="11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1979" y="1395045"/>
            <a:ext cx="304793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Box 4"/>
          <p:cNvSpPr txBox="1"/>
          <p:nvPr/>
        </p:nvSpPr>
        <p:spPr>
          <a:xfrm>
            <a:off x="889996" y="1926335"/>
            <a:ext cx="1565814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시스템 프롬프트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무시</a:t>
            </a:r>
            <a:r>
              <a:t> </a:t>
            </a:r>
          </a:p>
        </p:txBody>
      </p:sp>
      <p:pic>
        <p:nvPicPr>
          <p:cNvPr id="121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1979" y="2005011"/>
            <a:ext cx="22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Box 6"/>
          <p:cNvSpPr txBox="1"/>
          <p:nvPr/>
        </p:nvSpPr>
        <p:spPr>
          <a:xfrm>
            <a:off x="889996" y="2345435"/>
            <a:ext cx="1739982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중요한 순간의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환각 응답</a:t>
            </a:r>
            <a:r>
              <a:t> </a:t>
            </a:r>
          </a:p>
        </p:txBody>
      </p:sp>
      <p:pic>
        <p:nvPicPr>
          <p:cNvPr id="123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1979" y="2424111"/>
            <a:ext cx="22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Box 8"/>
          <p:cNvSpPr txBox="1"/>
          <p:nvPr/>
        </p:nvSpPr>
        <p:spPr>
          <a:xfrm>
            <a:off x="889996" y="2764535"/>
            <a:ext cx="2177802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엣지 케이스 처리의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일관성 부족</a:t>
            </a:r>
            <a:r>
              <a:t> </a:t>
            </a:r>
          </a:p>
        </p:txBody>
      </p:sp>
      <p:pic>
        <p:nvPicPr>
          <p:cNvPr id="125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1979" y="2843211"/>
            <a:ext cx="22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Box 10"/>
          <p:cNvSpPr txBox="1"/>
          <p:nvPr/>
        </p:nvSpPr>
        <p:spPr>
          <a:xfrm>
            <a:off x="889996" y="3183635"/>
            <a:ext cx="1739982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예측 불가능한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대화 흐름</a:t>
            </a:r>
            <a:r>
              <a:t> </a:t>
            </a:r>
          </a:p>
        </p:txBody>
      </p:sp>
      <p:pic>
        <p:nvPicPr>
          <p:cNvPr id="127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2599" y="3262312"/>
            <a:ext cx="22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Rounded Rectangle 12"/>
          <p:cNvSpPr/>
          <p:nvPr/>
        </p:nvSpPr>
        <p:spPr>
          <a:xfrm>
            <a:off x="732599" y="3777520"/>
            <a:ext cx="3629459" cy="869373"/>
          </a:xfrm>
          <a:prstGeom prst="roundRect">
            <a:avLst>
              <a:gd name="adj" fmla="val 1899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13"/>
          <p:cNvSpPr txBox="1"/>
          <p:nvPr/>
        </p:nvSpPr>
        <p:spPr>
          <a:xfrm>
            <a:off x="890488" y="3742388"/>
            <a:ext cx="3313681" cy="86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전통적인 방식</a:t>
            </a:r>
            <a:r>
              <a:rPr>
                <a:solidFill>
                  <a:srgbClr val="78909C"/>
                </a:solidFill>
              </a:rPr>
              <a:t>: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기대에 맡기기 🤞</a:t>
            </a:r>
            <a:endParaRPr>
              <a:solidFill>
                <a:srgbClr val="000000"/>
              </a:solidFill>
            </a:endParaRPr>
          </a:p>
          <a:p>
            <a:pPr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system_prompt = 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당신은 도움이 되는 어시스턴트입니다</a:t>
            </a:r>
            <a:r>
              <a:t>.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다음 </a:t>
            </a:r>
            <a:r>
              <a:t>47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가지 규칙을 따르세요</a:t>
            </a:r>
            <a:r>
              <a:t>..." </a:t>
            </a:r>
          </a:p>
        </p:txBody>
      </p:sp>
      <p:sp>
        <p:nvSpPr>
          <p:cNvPr id="130" name="TextBox 14"/>
          <p:cNvSpPr txBox="1"/>
          <p:nvPr/>
        </p:nvSpPr>
        <p:spPr>
          <a:xfrm>
            <a:off x="6317329" y="1320543"/>
            <a:ext cx="2418054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900"/>
              </a:spcBef>
              <a:defRPr b="1" sz="2000">
                <a:solidFill>
                  <a:srgbClr val="FFFFFF"/>
                </a:solidFill>
              </a:defRPr>
            </a:pPr>
            <a:r>
              <a:t> </a:t>
            </a:r>
            <a:r>
              <a:rPr b="0">
                <a:solidFill>
                  <a:srgbClr val="000000"/>
                </a:solidFill>
              </a:rPr>
              <a:t>  </a:t>
            </a:r>
            <a:r>
              <a:t> Parlant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의 해결 방식 </a:t>
            </a:r>
          </a:p>
        </p:txBody>
      </p:sp>
      <p:pic>
        <p:nvPicPr>
          <p:cNvPr id="131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86341" y="1395045"/>
            <a:ext cx="304793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Box 16"/>
          <p:cNvSpPr txBox="1"/>
          <p:nvPr/>
        </p:nvSpPr>
        <p:spPr>
          <a:xfrm>
            <a:off x="6414358" y="1926335"/>
            <a:ext cx="2003634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가이드라인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기반의 행동 제어</a:t>
            </a:r>
            <a:r>
              <a:t> </a:t>
            </a:r>
          </a:p>
        </p:txBody>
      </p:sp>
      <p:pic>
        <p:nvPicPr>
          <p:cNvPr id="133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86341" y="1979295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Box 18"/>
          <p:cNvSpPr txBox="1"/>
          <p:nvPr/>
        </p:nvSpPr>
        <p:spPr>
          <a:xfrm>
            <a:off x="6414358" y="2345435"/>
            <a:ext cx="1880657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명확한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여정</a:t>
            </a:r>
            <a:r>
              <a:rPr>
                <a:solidFill>
                  <a:srgbClr val="90CAF9"/>
                </a:solidFill>
              </a:rPr>
              <a:t>(Journey)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정의</a:t>
            </a:r>
            <a:r>
              <a:t> </a:t>
            </a:r>
          </a:p>
        </p:txBody>
      </p:sp>
      <p:pic>
        <p:nvPicPr>
          <p:cNvPr id="135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86341" y="2398395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Box 20"/>
          <p:cNvSpPr txBox="1"/>
          <p:nvPr/>
        </p:nvSpPr>
        <p:spPr>
          <a:xfrm>
            <a:off x="6414358" y="2764535"/>
            <a:ext cx="2135460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외부 시스템과의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안정적인 통합</a:t>
            </a:r>
            <a:r>
              <a:t> </a:t>
            </a:r>
          </a:p>
        </p:txBody>
      </p:sp>
      <p:pic>
        <p:nvPicPr>
          <p:cNvPr id="137" name="Picture 21" descr="Picture 2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86341" y="2817495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TextBox 22"/>
          <p:cNvSpPr txBox="1"/>
          <p:nvPr/>
        </p:nvSpPr>
        <p:spPr>
          <a:xfrm>
            <a:off x="6414358" y="3183635"/>
            <a:ext cx="1608156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13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예측 가능한 </a:t>
            </a:r>
            <a:r>
              <a:rPr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rPr>
              <a:t>대화 흐름</a:t>
            </a:r>
            <a:r>
              <a:t> </a:t>
            </a:r>
          </a:p>
        </p:txBody>
      </p:sp>
      <p:pic>
        <p:nvPicPr>
          <p:cNvPr id="139" name="Picture 23" descr="Picture 2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86341" y="3236595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Rounded Rectangle 24"/>
          <p:cNvSpPr/>
          <p:nvPr/>
        </p:nvSpPr>
        <p:spPr>
          <a:xfrm>
            <a:off x="6286341" y="3789426"/>
            <a:ext cx="3629459" cy="1654756"/>
          </a:xfrm>
          <a:prstGeom prst="roundRect">
            <a:avLst>
              <a:gd name="adj" fmla="val 1064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25"/>
          <p:cNvSpPr txBox="1"/>
          <p:nvPr/>
        </p:nvSpPr>
        <p:spPr>
          <a:xfrm>
            <a:off x="6366489" y="3726162"/>
            <a:ext cx="3769926" cy="1781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7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Parlant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방식</a:t>
            </a:r>
            <a:r>
              <a:rPr>
                <a:solidFill>
                  <a:srgbClr val="78909C"/>
                </a:solidFill>
              </a:rPr>
              <a:t>: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준수 보장 ✅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condition="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고객이 환불을 문의할 때</a:t>
            </a:r>
            <a:r>
              <a:t>",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action="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주문 상태를 먼저 확인하여 자격 여부를 판단</a:t>
            </a:r>
            <a:r>
              <a:t>",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tools=[check_order_status],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142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 txBox="1"/>
          <p:nvPr/>
        </p:nvSpPr>
        <p:spPr>
          <a:xfrm>
            <a:off x="780267" y="484247"/>
            <a:ext cx="4315878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t>Parlant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의 주요 특징 및 장점</a:t>
            </a:r>
          </a:p>
        </p:txBody>
      </p:sp>
      <p:sp>
        <p:nvSpPr>
          <p:cNvPr id="145" name="Rounded Rectangle 2"/>
          <p:cNvSpPr/>
          <p:nvPr/>
        </p:nvSpPr>
        <p:spPr>
          <a:xfrm>
            <a:off x="761979" y="1371600"/>
            <a:ext cx="3362242" cy="2047875"/>
          </a:xfrm>
          <a:prstGeom prst="roundRect">
            <a:avLst>
              <a:gd name="adj" fmla="val 1116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0099" y="1650124"/>
            <a:ext cx="342892" cy="319252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Box 4"/>
          <p:cNvSpPr txBox="1"/>
          <p:nvPr/>
        </p:nvSpPr>
        <p:spPr>
          <a:xfrm>
            <a:off x="1402550" y="1580891"/>
            <a:ext cx="1071838" cy="43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9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규정 준수</a:t>
            </a:r>
          </a:p>
        </p:txBody>
      </p:sp>
      <p:sp>
        <p:nvSpPr>
          <p:cNvPr id="148" name="TextBox 5"/>
          <p:cNvSpPr txBox="1"/>
          <p:nvPr/>
        </p:nvSpPr>
        <p:spPr>
          <a:xfrm>
            <a:off x="1018386" y="2365434"/>
            <a:ext cx="2849428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엄격한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가이드라인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으로 에이전트 행동을 제어하고 일관된 응답 보장 </a:t>
            </a:r>
          </a:p>
        </p:txBody>
      </p:sp>
      <p:sp>
        <p:nvSpPr>
          <p:cNvPr id="149" name="Rounded Rectangle 6"/>
          <p:cNvSpPr/>
          <p:nvPr/>
        </p:nvSpPr>
        <p:spPr>
          <a:xfrm>
            <a:off x="4409964" y="1371600"/>
            <a:ext cx="3362241" cy="2047875"/>
          </a:xfrm>
          <a:prstGeom prst="roundRect">
            <a:avLst>
              <a:gd name="adj" fmla="val 1116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0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48082" y="1664903"/>
            <a:ext cx="342892" cy="289692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TextBox 8"/>
          <p:cNvSpPr txBox="1"/>
          <p:nvPr/>
        </p:nvSpPr>
        <p:spPr>
          <a:xfrm>
            <a:off x="5050533" y="1580891"/>
            <a:ext cx="1071839" cy="43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9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대화 관리</a:t>
            </a:r>
          </a:p>
        </p:txBody>
      </p:sp>
      <p:sp>
        <p:nvSpPr>
          <p:cNvPr id="152" name="TextBox 9"/>
          <p:cNvSpPr txBox="1"/>
          <p:nvPr/>
        </p:nvSpPr>
        <p:spPr>
          <a:xfrm>
            <a:off x="4666370" y="2344412"/>
            <a:ext cx="2849428" cy="63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세션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이벤트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컨텍스트 변수 등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풍부한 대화 관리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기능 제공 </a:t>
            </a:r>
          </a:p>
        </p:txBody>
      </p:sp>
      <p:sp>
        <p:nvSpPr>
          <p:cNvPr id="153" name="Rounded Rectangle 10"/>
          <p:cNvSpPr/>
          <p:nvPr/>
        </p:nvSpPr>
        <p:spPr>
          <a:xfrm>
            <a:off x="8067472" y="1371600"/>
            <a:ext cx="3362241" cy="2047875"/>
          </a:xfrm>
          <a:prstGeom prst="roundRect">
            <a:avLst>
              <a:gd name="adj" fmla="val 1116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4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05592" y="1676728"/>
            <a:ext cx="342892" cy="266044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Box 12"/>
          <p:cNvSpPr txBox="1"/>
          <p:nvPr/>
        </p:nvSpPr>
        <p:spPr>
          <a:xfrm>
            <a:off x="8708042" y="1589784"/>
            <a:ext cx="1660399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9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엔터프라이즈급</a:t>
            </a:r>
          </a:p>
        </p:txBody>
      </p:sp>
      <p:sp>
        <p:nvSpPr>
          <p:cNvPr id="156" name="TextBox 13"/>
          <p:cNvSpPr txBox="1"/>
          <p:nvPr/>
        </p:nvSpPr>
        <p:spPr>
          <a:xfrm>
            <a:off x="8323880" y="2344412"/>
            <a:ext cx="2849427" cy="63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SLA,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안정성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보안을 고려한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대규모 설계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실제 비즈니스 환경에 최적화 </a:t>
            </a:r>
          </a:p>
        </p:txBody>
      </p:sp>
      <p:sp>
        <p:nvSpPr>
          <p:cNvPr id="157" name="Rounded Rectangle 14"/>
          <p:cNvSpPr/>
          <p:nvPr/>
        </p:nvSpPr>
        <p:spPr>
          <a:xfrm>
            <a:off x="761979" y="3695698"/>
            <a:ext cx="3362242" cy="2047875"/>
          </a:xfrm>
          <a:prstGeom prst="roundRect">
            <a:avLst>
              <a:gd name="adj" fmla="val 1116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8" name="Picture 15" descr="Picture 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00099" y="3968312"/>
            <a:ext cx="342892" cy="331076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Box 16"/>
          <p:cNvSpPr txBox="1"/>
          <p:nvPr/>
        </p:nvSpPr>
        <p:spPr>
          <a:xfrm>
            <a:off x="1402550" y="3914518"/>
            <a:ext cx="1291548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9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유연한 통합</a:t>
            </a:r>
          </a:p>
        </p:txBody>
      </p:sp>
      <p:sp>
        <p:nvSpPr>
          <p:cNvPr id="160" name="TextBox 17"/>
          <p:cNvSpPr txBox="1"/>
          <p:nvPr/>
        </p:nvSpPr>
        <p:spPr>
          <a:xfrm>
            <a:off x="1018386" y="4536045"/>
            <a:ext cx="2849428" cy="919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OpenAI, Anthropic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등 </a:t>
            </a:r>
            <a:r>
              <a:rPr>
                <a:solidFill>
                  <a:srgbClr val="FFD54F"/>
                </a:solidFill>
              </a:rPr>
              <a:t>20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개 이상의 </a:t>
            </a:r>
            <a:r>
              <a:rPr>
                <a:solidFill>
                  <a:srgbClr val="FFD54F"/>
                </a:solidFill>
              </a:rPr>
              <a:t>LLM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제공자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지원으로 다양한 환경에서 활용 가능 </a:t>
            </a:r>
          </a:p>
        </p:txBody>
      </p:sp>
      <p:sp>
        <p:nvSpPr>
          <p:cNvPr id="161" name="Rounded Rectangle 18"/>
          <p:cNvSpPr/>
          <p:nvPr/>
        </p:nvSpPr>
        <p:spPr>
          <a:xfrm>
            <a:off x="4409964" y="3695698"/>
            <a:ext cx="3362241" cy="2047875"/>
          </a:xfrm>
          <a:prstGeom prst="roundRect">
            <a:avLst>
              <a:gd name="adj" fmla="val 1116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2" name="Picture 19" descr="Picture 1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648082" y="4000827"/>
            <a:ext cx="342892" cy="266044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Box 20"/>
          <p:cNvSpPr txBox="1"/>
          <p:nvPr/>
        </p:nvSpPr>
        <p:spPr>
          <a:xfrm>
            <a:off x="5050533" y="3914518"/>
            <a:ext cx="1950679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9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헥사고날 아키텍처</a:t>
            </a:r>
          </a:p>
        </p:txBody>
      </p:sp>
      <p:sp>
        <p:nvSpPr>
          <p:cNvPr id="164" name="TextBox 21"/>
          <p:cNvSpPr txBox="1"/>
          <p:nvPr/>
        </p:nvSpPr>
        <p:spPr>
          <a:xfrm>
            <a:off x="4666370" y="4699059"/>
            <a:ext cx="2849428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깔끔한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계층 분리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확장과 테스트 용이하며 유지보수 편리 </a:t>
            </a:r>
          </a:p>
        </p:txBody>
      </p:sp>
      <p:sp>
        <p:nvSpPr>
          <p:cNvPr id="165" name="Rounded Rectangle 22"/>
          <p:cNvSpPr/>
          <p:nvPr/>
        </p:nvSpPr>
        <p:spPr>
          <a:xfrm>
            <a:off x="8067472" y="3695698"/>
            <a:ext cx="3362241" cy="2047875"/>
          </a:xfrm>
          <a:prstGeom prst="roundRect">
            <a:avLst>
              <a:gd name="adj" fmla="val 1116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6" name="Picture 23" descr="Picture 2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305592" y="4014130"/>
            <a:ext cx="342892" cy="239439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Box 24"/>
          <p:cNvSpPr txBox="1"/>
          <p:nvPr/>
        </p:nvSpPr>
        <p:spPr>
          <a:xfrm>
            <a:off x="8708042" y="3914518"/>
            <a:ext cx="1071839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9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빠른 배포</a:t>
            </a:r>
          </a:p>
        </p:txBody>
      </p:sp>
      <p:sp>
        <p:nvSpPr>
          <p:cNvPr id="168" name="TextBox 25"/>
          <p:cNvSpPr txBox="1"/>
          <p:nvPr/>
        </p:nvSpPr>
        <p:spPr>
          <a:xfrm>
            <a:off x="8323880" y="4678037"/>
            <a:ext cx="2849427" cy="63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단 몇 분 만에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프로덕션 환경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 </a:t>
            </a:r>
            <a:r>
              <a:t>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 배포 가능 </a:t>
            </a:r>
          </a:p>
        </p:txBody>
      </p:sp>
      <p:sp>
        <p:nvSpPr>
          <p:cNvPr id="169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 txBox="1"/>
          <p:nvPr/>
        </p:nvSpPr>
        <p:spPr>
          <a:xfrm>
            <a:off x="780267" y="484247"/>
            <a:ext cx="4210024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t>Parlant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 적합한 사용 사례</a:t>
            </a:r>
          </a:p>
        </p:txBody>
      </p:sp>
      <p:sp>
        <p:nvSpPr>
          <p:cNvPr id="172" name="Rounded Rectangle 2"/>
          <p:cNvSpPr/>
          <p:nvPr/>
        </p:nvSpPr>
        <p:spPr>
          <a:xfrm>
            <a:off x="761979" y="1371600"/>
            <a:ext cx="5238620" cy="1333500"/>
          </a:xfrm>
          <a:prstGeom prst="roundRect">
            <a:avLst>
              <a:gd name="adj" fmla="val 1714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Rounded Rectangle 3"/>
          <p:cNvSpPr/>
          <p:nvPr/>
        </p:nvSpPr>
        <p:spPr>
          <a:xfrm>
            <a:off x="952475" y="15621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5821" y="1711568"/>
            <a:ext cx="304794" cy="272562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TextBox 5"/>
          <p:cNvSpPr txBox="1"/>
          <p:nvPr/>
        </p:nvSpPr>
        <p:spPr>
          <a:xfrm>
            <a:off x="1542245" y="1609467"/>
            <a:ext cx="2311527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6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금융 서비스 고객 상담</a:t>
            </a:r>
          </a:p>
        </p:txBody>
      </p:sp>
      <p:sp>
        <p:nvSpPr>
          <p:cNvPr id="176" name="TextBox 6"/>
          <p:cNvSpPr txBox="1"/>
          <p:nvPr/>
        </p:nvSpPr>
        <p:spPr>
          <a:xfrm>
            <a:off x="1631145" y="2003099"/>
            <a:ext cx="4059071" cy="63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규제 준수가 중요한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금융 상담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업무에 적합하며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정확한 정보 제공과 일관된 응답 보장 </a:t>
            </a:r>
          </a:p>
        </p:txBody>
      </p:sp>
      <p:sp>
        <p:nvSpPr>
          <p:cNvPr id="177" name="Rounded Rectangle 7"/>
          <p:cNvSpPr/>
          <p:nvPr/>
        </p:nvSpPr>
        <p:spPr>
          <a:xfrm>
            <a:off x="6191094" y="1371600"/>
            <a:ext cx="5238620" cy="1333500"/>
          </a:xfrm>
          <a:prstGeom prst="roundRect">
            <a:avLst>
              <a:gd name="adj" fmla="val 1714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Rounded Rectangle 8"/>
          <p:cNvSpPr/>
          <p:nvPr/>
        </p:nvSpPr>
        <p:spPr>
          <a:xfrm>
            <a:off x="6381589" y="15621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14937" y="1730618"/>
            <a:ext cx="304793" cy="234462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Box 10"/>
          <p:cNvSpPr txBox="1"/>
          <p:nvPr/>
        </p:nvSpPr>
        <p:spPr>
          <a:xfrm>
            <a:off x="6971358" y="1609467"/>
            <a:ext cx="2601807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6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의료 예약 및 상담 시스템</a:t>
            </a:r>
          </a:p>
        </p:txBody>
      </p:sp>
      <p:sp>
        <p:nvSpPr>
          <p:cNvPr id="181" name="TextBox 11"/>
          <p:cNvSpPr txBox="1"/>
          <p:nvPr/>
        </p:nvSpPr>
        <p:spPr>
          <a:xfrm>
            <a:off x="7060258" y="2003099"/>
            <a:ext cx="4059072" cy="63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정확한 예약 관리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환자 정보 보호가 필요한 의료 분야에서 안정적인 서비스 제공 </a:t>
            </a:r>
          </a:p>
        </p:txBody>
      </p:sp>
      <p:sp>
        <p:nvSpPr>
          <p:cNvPr id="182" name="Rounded Rectangle 12"/>
          <p:cNvSpPr/>
          <p:nvPr/>
        </p:nvSpPr>
        <p:spPr>
          <a:xfrm>
            <a:off x="761979" y="2895600"/>
            <a:ext cx="5238620" cy="1333500"/>
          </a:xfrm>
          <a:prstGeom prst="roundRect">
            <a:avLst>
              <a:gd name="adj" fmla="val 1714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Rounded Rectangle 13"/>
          <p:cNvSpPr/>
          <p:nvPr/>
        </p:nvSpPr>
        <p:spPr>
          <a:xfrm>
            <a:off x="952475" y="30861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4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85821" y="3228241"/>
            <a:ext cx="304794" cy="287216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Box 15"/>
          <p:cNvSpPr txBox="1"/>
          <p:nvPr/>
        </p:nvSpPr>
        <p:spPr>
          <a:xfrm>
            <a:off x="1542245" y="3133468"/>
            <a:ext cx="1581827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6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법률 자문 챗봇</a:t>
            </a:r>
          </a:p>
        </p:txBody>
      </p:sp>
      <p:sp>
        <p:nvSpPr>
          <p:cNvPr id="186" name="TextBox 16"/>
          <p:cNvSpPr txBox="1"/>
          <p:nvPr/>
        </p:nvSpPr>
        <p:spPr>
          <a:xfrm>
            <a:off x="1631145" y="3548122"/>
            <a:ext cx="4059071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법률 용어와 절차에 대한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정확한 정보 제공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이 필요한 법률 분야에서 신뢰성 있는 응답 </a:t>
            </a:r>
          </a:p>
        </p:txBody>
      </p:sp>
      <p:sp>
        <p:nvSpPr>
          <p:cNvPr id="187" name="Rounded Rectangle 17"/>
          <p:cNvSpPr/>
          <p:nvPr/>
        </p:nvSpPr>
        <p:spPr>
          <a:xfrm>
            <a:off x="6191094" y="2895600"/>
            <a:ext cx="5238620" cy="1333500"/>
          </a:xfrm>
          <a:prstGeom prst="roundRect">
            <a:avLst>
              <a:gd name="adj" fmla="val 1714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ounded Rectangle 18"/>
          <p:cNvSpPr/>
          <p:nvPr/>
        </p:nvSpPr>
        <p:spPr>
          <a:xfrm>
            <a:off x="6381589" y="30861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9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14937" y="3242896"/>
            <a:ext cx="304793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extBox 20"/>
          <p:cNvSpPr txBox="1"/>
          <p:nvPr/>
        </p:nvSpPr>
        <p:spPr>
          <a:xfrm>
            <a:off x="6971358" y="3133468"/>
            <a:ext cx="2021248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6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여행 예약 에이전트</a:t>
            </a:r>
          </a:p>
        </p:txBody>
      </p:sp>
      <p:sp>
        <p:nvSpPr>
          <p:cNvPr id="191" name="TextBox 21"/>
          <p:cNvSpPr txBox="1"/>
          <p:nvPr/>
        </p:nvSpPr>
        <p:spPr>
          <a:xfrm>
            <a:off x="7060258" y="3548122"/>
            <a:ext cx="4059072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복잡한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예약 절차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다양한 옵션 관리가 필요한 여행 산업에서 효율적인 자동화 </a:t>
            </a:r>
          </a:p>
        </p:txBody>
      </p:sp>
      <p:sp>
        <p:nvSpPr>
          <p:cNvPr id="192" name="Rounded Rectangle 22"/>
          <p:cNvSpPr/>
          <p:nvPr/>
        </p:nvSpPr>
        <p:spPr>
          <a:xfrm>
            <a:off x="761979" y="4410073"/>
            <a:ext cx="5238620" cy="1333501"/>
          </a:xfrm>
          <a:prstGeom prst="roundRect">
            <a:avLst>
              <a:gd name="adj" fmla="val 17142"/>
            </a:avLst>
          </a:prstGeom>
          <a:solidFill>
            <a:srgbClr val="FFFFFF">
              <a:alpha val="1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Rounded Rectangle 23"/>
          <p:cNvSpPr/>
          <p:nvPr/>
        </p:nvSpPr>
        <p:spPr>
          <a:xfrm>
            <a:off x="952475" y="4600575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4" name="Picture 24" descr="Picture 2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85821" y="4757370"/>
            <a:ext cx="304794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TextBox 25"/>
          <p:cNvSpPr txBox="1"/>
          <p:nvPr/>
        </p:nvSpPr>
        <p:spPr>
          <a:xfrm>
            <a:off x="1542245" y="4647943"/>
            <a:ext cx="2240957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600"/>
              </a:spcBef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전자상거래 고객 지원</a:t>
            </a:r>
          </a:p>
        </p:txBody>
      </p:sp>
      <p:sp>
        <p:nvSpPr>
          <p:cNvPr id="196" name="TextBox 26"/>
          <p:cNvSpPr txBox="1"/>
          <p:nvPr/>
        </p:nvSpPr>
        <p:spPr>
          <a:xfrm>
            <a:off x="1631145" y="5041575"/>
            <a:ext cx="4059071" cy="63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주문 처리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반품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교환 등 복잡한 고객 지원 업무를 자동화하여 운영 효율성 향상 </a:t>
            </a:r>
          </a:p>
        </p:txBody>
      </p:sp>
      <p:sp>
        <p:nvSpPr>
          <p:cNvPr id="197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"/>
          <p:cNvSpPr txBox="1"/>
          <p:nvPr/>
        </p:nvSpPr>
        <p:spPr>
          <a:xfrm>
            <a:off x="780267" y="484247"/>
            <a:ext cx="4401536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핵심 개념 </a:t>
            </a:r>
            <a:r>
              <a:t>- Agent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</a:t>
            </a:r>
            <a:r>
              <a:t>Session</a:t>
            </a:r>
          </a:p>
        </p:txBody>
      </p:sp>
      <p:sp>
        <p:nvSpPr>
          <p:cNvPr id="200" name="Rounded Rectangle 2"/>
          <p:cNvSpPr/>
          <p:nvPr/>
        </p:nvSpPr>
        <p:spPr>
          <a:xfrm>
            <a:off x="761979" y="1371600"/>
            <a:ext cx="5143372" cy="4991098"/>
          </a:xfrm>
          <a:prstGeom prst="roundRect">
            <a:avLst>
              <a:gd name="adj" fmla="val 4580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Rounded Rectangle 3"/>
          <p:cNvSpPr/>
          <p:nvPr/>
        </p:nvSpPr>
        <p:spPr>
          <a:xfrm>
            <a:off x="1047722" y="165735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1069" y="1820006"/>
            <a:ext cx="304793" cy="246185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TextBox 5"/>
          <p:cNvSpPr txBox="1"/>
          <p:nvPr/>
        </p:nvSpPr>
        <p:spPr>
          <a:xfrm>
            <a:off x="1726392" y="1735836"/>
            <a:ext cx="1838427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 sz="2000">
                <a:solidFill>
                  <a:srgbClr val="90CAF9"/>
                </a:solidFill>
              </a:defRPr>
            </a:pPr>
            <a:r>
              <a:t>Agent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</a:t>
            </a:r>
            <a:r>
              <a:t>)</a:t>
            </a:r>
          </a:p>
        </p:txBody>
      </p:sp>
      <p:sp>
        <p:nvSpPr>
          <p:cNvPr id="204" name="TextBox 6"/>
          <p:cNvSpPr txBox="1"/>
          <p:nvPr/>
        </p:nvSpPr>
        <p:spPr>
          <a:xfrm>
            <a:off x="1066011" y="2333052"/>
            <a:ext cx="4535309" cy="48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t> 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에이전트의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기본 단위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특정 역할과 목적을 가진 인공지능 비서 </a:t>
            </a:r>
          </a:p>
        </p:txBody>
      </p:sp>
      <p:sp>
        <p:nvSpPr>
          <p:cNvPr id="205" name="TextBox 7"/>
          <p:cNvSpPr txBox="1"/>
          <p:nvPr/>
        </p:nvSpPr>
        <p:spPr>
          <a:xfrm>
            <a:off x="1175738" y="2834385"/>
            <a:ext cx="1685693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solidFill>
                  <a:srgbClr val="FFD54F"/>
                </a:solidFill>
              </a:rPr>
              <a:t>name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에이전트의 이름</a:t>
            </a:r>
            <a:r>
              <a:t> </a:t>
            </a:r>
          </a:p>
        </p:txBody>
      </p:sp>
      <p:pic>
        <p:nvPicPr>
          <p:cNvPr id="206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7722" y="2913061"/>
            <a:ext cx="22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Box 9"/>
          <p:cNvSpPr txBox="1"/>
          <p:nvPr/>
        </p:nvSpPr>
        <p:spPr>
          <a:xfrm>
            <a:off x="1175738" y="3215384"/>
            <a:ext cx="2466785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solidFill>
                  <a:srgbClr val="FFD54F"/>
                </a:solidFill>
              </a:rPr>
              <a:t>description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에이전트의 역할과 목적</a:t>
            </a:r>
            <a:r>
              <a:t> </a:t>
            </a:r>
          </a:p>
        </p:txBody>
      </p:sp>
      <p:pic>
        <p:nvPicPr>
          <p:cNvPr id="208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47722" y="3268345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Box 11"/>
          <p:cNvSpPr txBox="1"/>
          <p:nvPr/>
        </p:nvSpPr>
        <p:spPr>
          <a:xfrm>
            <a:off x="1175738" y="3577334"/>
            <a:ext cx="2969077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solidFill>
                  <a:srgbClr val="FFD54F"/>
                </a:solidFill>
              </a:rPr>
              <a:t>max_engine_iterations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최대 반복 처리 횟수</a:t>
            </a:r>
            <a:r>
              <a:t> </a:t>
            </a:r>
          </a:p>
        </p:txBody>
      </p:sp>
      <p:pic>
        <p:nvPicPr>
          <p:cNvPr id="210" name="Picture 12" descr="Picture 1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47722" y="3630295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Box 13"/>
          <p:cNvSpPr txBox="1"/>
          <p:nvPr/>
        </p:nvSpPr>
        <p:spPr>
          <a:xfrm>
            <a:off x="1175738" y="3958334"/>
            <a:ext cx="2446241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solidFill>
                  <a:srgbClr val="FFD54F"/>
                </a:solidFill>
              </a:rPr>
              <a:t>composition_mode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응답 생성 방식</a:t>
            </a:r>
            <a:r>
              <a:t> </a:t>
            </a:r>
          </a:p>
        </p:txBody>
      </p:sp>
      <p:pic>
        <p:nvPicPr>
          <p:cNvPr id="212" name="Picture 14" descr="Picture 1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47722" y="4011293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ounded Rectangle 15"/>
          <p:cNvSpPr/>
          <p:nvPr/>
        </p:nvSpPr>
        <p:spPr>
          <a:xfrm>
            <a:off x="1047722" y="4445000"/>
            <a:ext cx="4425910" cy="1773006"/>
          </a:xfrm>
          <a:prstGeom prst="roundRect">
            <a:avLst>
              <a:gd name="adj" fmla="val 8595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16"/>
          <p:cNvSpPr txBox="1"/>
          <p:nvPr/>
        </p:nvSpPr>
        <p:spPr>
          <a:xfrm>
            <a:off x="1084298" y="4596301"/>
            <a:ext cx="4278142" cy="1505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agent = await server.create_agent(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name="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 상담 에이전트</a:t>
            </a:r>
            <a:r>
              <a:t>",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description="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고객의 질문에 친절하게 답변하는 상담 에이전트</a:t>
            </a:r>
            <a:r>
              <a:t>",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max_engine_iterations=10,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composition_mode=CompositionMode.FLUID,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215" name="Rounded Rectangle 17"/>
          <p:cNvSpPr/>
          <p:nvPr/>
        </p:nvSpPr>
        <p:spPr>
          <a:xfrm>
            <a:off x="6314298" y="1347927"/>
            <a:ext cx="5143372" cy="4991099"/>
          </a:xfrm>
          <a:prstGeom prst="roundRect">
            <a:avLst>
              <a:gd name="adj" fmla="val 4580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Rounded Rectangle 18"/>
          <p:cNvSpPr/>
          <p:nvPr/>
        </p:nvSpPr>
        <p:spPr>
          <a:xfrm>
            <a:off x="6572084" y="165735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17" name="Picture 19" descr="Picture 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705431" y="1814146"/>
            <a:ext cx="304793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TextBox 20"/>
          <p:cNvSpPr txBox="1"/>
          <p:nvPr/>
        </p:nvSpPr>
        <p:spPr>
          <a:xfrm>
            <a:off x="7250754" y="1735836"/>
            <a:ext cx="1563338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 sz="2000">
                <a:solidFill>
                  <a:srgbClr val="90CAF9"/>
                </a:solidFill>
              </a:defRPr>
            </a:pPr>
            <a:r>
              <a:t>Session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세션</a:t>
            </a:r>
            <a:r>
              <a:t>)</a:t>
            </a:r>
          </a:p>
        </p:txBody>
      </p:sp>
      <p:sp>
        <p:nvSpPr>
          <p:cNvPr id="219" name="TextBox 21"/>
          <p:cNvSpPr txBox="1"/>
          <p:nvPr/>
        </p:nvSpPr>
        <p:spPr>
          <a:xfrm>
            <a:off x="6590372" y="2421952"/>
            <a:ext cx="4591225" cy="30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고객과 에이전트 간의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대화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를 나타내며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여러 이벤트로 구성 </a:t>
            </a:r>
          </a:p>
        </p:txBody>
      </p:sp>
      <p:sp>
        <p:nvSpPr>
          <p:cNvPr id="220" name="Rounded Rectangle 22"/>
          <p:cNvSpPr/>
          <p:nvPr/>
        </p:nvSpPr>
        <p:spPr>
          <a:xfrm>
            <a:off x="6572084" y="2736849"/>
            <a:ext cx="4627801" cy="990672"/>
          </a:xfrm>
          <a:prstGeom prst="roundRect">
            <a:avLst>
              <a:gd name="adj" fmla="val 15383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23"/>
          <p:cNvSpPr txBox="1"/>
          <p:nvPr/>
        </p:nvSpPr>
        <p:spPr>
          <a:xfrm>
            <a:off x="6590372" y="2741575"/>
            <a:ext cx="2614310" cy="990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session = await server.create_session(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agent_id=agent.id,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customer_id=customer.id,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40000"/>
              </a:lnSpc>
              <a:spcBef>
                <a:spcPts val="1300"/>
              </a:spcBef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222" name="TextBox 24"/>
          <p:cNvSpPr txBox="1"/>
          <p:nvPr/>
        </p:nvSpPr>
        <p:spPr>
          <a:xfrm>
            <a:off x="6590372" y="3909057"/>
            <a:ext cx="1174637" cy="405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1600"/>
              </a:spcBef>
              <a:defRPr b="1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이벤트 유형</a:t>
            </a:r>
          </a:p>
        </p:txBody>
      </p:sp>
      <p:sp>
        <p:nvSpPr>
          <p:cNvPr id="223" name="Rounded Rectangle 25"/>
          <p:cNvSpPr/>
          <p:nvPr/>
        </p:nvSpPr>
        <p:spPr>
          <a:xfrm>
            <a:off x="6572084" y="4432300"/>
            <a:ext cx="1162021" cy="419100"/>
          </a:xfrm>
          <a:prstGeom prst="roundRect">
            <a:avLst>
              <a:gd name="adj" fmla="val 36363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4" name="Picture 26" descr="Picture 2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714956" y="4560606"/>
            <a:ext cx="190496" cy="162486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Box 27"/>
          <p:cNvSpPr txBox="1"/>
          <p:nvPr/>
        </p:nvSpPr>
        <p:spPr>
          <a:xfrm>
            <a:off x="6917387" y="4508553"/>
            <a:ext cx="722206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MESSAGE</a:t>
            </a:r>
          </a:p>
        </p:txBody>
      </p:sp>
      <p:sp>
        <p:nvSpPr>
          <p:cNvPr id="226" name="Rounded Rectangle 28"/>
          <p:cNvSpPr/>
          <p:nvPr/>
        </p:nvSpPr>
        <p:spPr>
          <a:xfrm>
            <a:off x="7876978" y="4432300"/>
            <a:ext cx="914378" cy="419100"/>
          </a:xfrm>
          <a:prstGeom prst="roundRect">
            <a:avLst>
              <a:gd name="adj" fmla="val 36363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7" name="Picture 29" descr="Picture 29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019849" y="4550802"/>
            <a:ext cx="190496" cy="182096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Box 30"/>
          <p:cNvSpPr txBox="1"/>
          <p:nvPr/>
        </p:nvSpPr>
        <p:spPr>
          <a:xfrm>
            <a:off x="8222280" y="4508553"/>
            <a:ext cx="458259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TOOL</a:t>
            </a:r>
          </a:p>
        </p:txBody>
      </p:sp>
      <p:sp>
        <p:nvSpPr>
          <p:cNvPr id="229" name="Rounded Rectangle 31"/>
          <p:cNvSpPr/>
          <p:nvPr/>
        </p:nvSpPr>
        <p:spPr>
          <a:xfrm>
            <a:off x="8943750" y="4432300"/>
            <a:ext cx="1047724" cy="419100"/>
          </a:xfrm>
          <a:prstGeom prst="roundRect">
            <a:avLst>
              <a:gd name="adj" fmla="val 36363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30" name="Picture 32" descr="Picture 32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9086622" y="4560606"/>
            <a:ext cx="190496" cy="162486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Box 33"/>
          <p:cNvSpPr txBox="1"/>
          <p:nvPr/>
        </p:nvSpPr>
        <p:spPr>
          <a:xfrm>
            <a:off x="9289053" y="4508553"/>
            <a:ext cx="572113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STATUS</a:t>
            </a:r>
          </a:p>
        </p:txBody>
      </p:sp>
      <p:sp>
        <p:nvSpPr>
          <p:cNvPr id="232" name="Rounded Rectangle 34"/>
          <p:cNvSpPr/>
          <p:nvPr/>
        </p:nvSpPr>
        <p:spPr>
          <a:xfrm>
            <a:off x="10125436" y="4424502"/>
            <a:ext cx="1104873" cy="419101"/>
          </a:xfrm>
          <a:prstGeom prst="roundRect">
            <a:avLst>
              <a:gd name="adj" fmla="val 36363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33" name="Picture 35" descr="Picture 35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268308" y="4548607"/>
            <a:ext cx="190496" cy="17089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Box 36"/>
          <p:cNvSpPr txBox="1"/>
          <p:nvPr/>
        </p:nvSpPr>
        <p:spPr>
          <a:xfrm>
            <a:off x="10470739" y="4500755"/>
            <a:ext cx="671604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CUSTOM</a:t>
            </a:r>
          </a:p>
        </p:txBody>
      </p:sp>
      <p:sp>
        <p:nvSpPr>
          <p:cNvPr id="235" name="TextBox 37"/>
          <p:cNvSpPr txBox="1"/>
          <p:nvPr/>
        </p:nvSpPr>
        <p:spPr>
          <a:xfrm>
            <a:off x="6827101" y="5021960"/>
            <a:ext cx="1777740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solidFill>
                  <a:srgbClr val="FFD54F"/>
                </a:solidFill>
              </a:rPr>
              <a:t>CUSTOMER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 메시지</a:t>
            </a:r>
            <a:r>
              <a:t> </a:t>
            </a:r>
          </a:p>
        </p:txBody>
      </p:sp>
      <p:pic>
        <p:nvPicPr>
          <p:cNvPr id="236" name="Picture 38" descr="Picture 38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699084" y="5089207"/>
            <a:ext cx="228595" cy="165735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Box 39"/>
          <p:cNvSpPr txBox="1"/>
          <p:nvPr/>
        </p:nvSpPr>
        <p:spPr>
          <a:xfrm>
            <a:off x="6827100" y="5393435"/>
            <a:ext cx="1987032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solidFill>
                  <a:srgbClr val="FFD54F"/>
                </a:solidFill>
              </a:rPr>
              <a:t>AI_AGENT</a:t>
            </a:r>
            <a:r>
              <a:t>: 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 응답</a:t>
            </a:r>
            <a:r>
              <a:t> </a:t>
            </a:r>
          </a:p>
        </p:txBody>
      </p:sp>
      <p:pic>
        <p:nvPicPr>
          <p:cNvPr id="238" name="Picture 40" descr="Picture 40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699084" y="5450680"/>
            <a:ext cx="228595" cy="18573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extBox 41"/>
          <p:cNvSpPr txBox="1"/>
          <p:nvPr/>
        </p:nvSpPr>
        <p:spPr>
          <a:xfrm>
            <a:off x="6827101" y="5764910"/>
            <a:ext cx="2383175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solidFill>
                  <a:srgbClr val="FFD54F"/>
                </a:solidFill>
              </a:rPr>
              <a:t>HUMAN_AGENT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사람 상담원 개입</a:t>
            </a:r>
            <a:r>
              <a:t> </a:t>
            </a:r>
          </a:p>
        </p:txBody>
      </p:sp>
      <p:pic>
        <p:nvPicPr>
          <p:cNvPr id="240" name="Picture 42" descr="Picture 42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6699084" y="5826442"/>
            <a:ext cx="228595" cy="177165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1"/>
          <p:cNvSpPr txBox="1"/>
          <p:nvPr/>
        </p:nvSpPr>
        <p:spPr>
          <a:xfrm>
            <a:off x="780267" y="484247"/>
            <a:ext cx="3099193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핵심 개념 </a:t>
            </a:r>
            <a:r>
              <a:t>- Journey</a:t>
            </a:r>
          </a:p>
        </p:txBody>
      </p:sp>
      <p:sp>
        <p:nvSpPr>
          <p:cNvPr id="244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4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40118"/>
            <a:ext cx="304793" cy="234462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Box 4"/>
          <p:cNvSpPr txBox="1"/>
          <p:nvPr/>
        </p:nvSpPr>
        <p:spPr>
          <a:xfrm>
            <a:off x="1415248" y="1469135"/>
            <a:ext cx="1458427" cy="376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>
                <a:solidFill>
                  <a:srgbClr val="90CAF9"/>
                </a:solidFill>
              </a:defRPr>
            </a:pPr>
            <a:r>
              <a:t>Journey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여정</a:t>
            </a:r>
            <a:r>
              <a:t>)</a:t>
            </a:r>
          </a:p>
        </p:txBody>
      </p:sp>
      <p:sp>
        <p:nvSpPr>
          <p:cNvPr id="247" name="TextBox 5"/>
          <p:cNvSpPr txBox="1"/>
          <p:nvPr/>
        </p:nvSpPr>
        <p:spPr>
          <a:xfrm>
            <a:off x="780268" y="2136202"/>
            <a:ext cx="5191425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대화의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흐름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을 정의하는 상태 머신으로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예측 가능한 대화 경로 제공 </a:t>
            </a:r>
          </a:p>
        </p:txBody>
      </p:sp>
      <p:sp>
        <p:nvSpPr>
          <p:cNvPr id="248" name="Rounded Rectangle 6"/>
          <p:cNvSpPr/>
          <p:nvPr/>
        </p:nvSpPr>
        <p:spPr>
          <a:xfrm>
            <a:off x="761979" y="2628900"/>
            <a:ext cx="5143372" cy="761999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Rounded Rectangle 7"/>
          <p:cNvSpPr/>
          <p:nvPr/>
        </p:nvSpPr>
        <p:spPr>
          <a:xfrm>
            <a:off x="904852" y="278130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9624" y="2896841"/>
            <a:ext cx="266694" cy="226116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Box 9"/>
          <p:cNvSpPr txBox="1"/>
          <p:nvPr/>
        </p:nvSpPr>
        <p:spPr>
          <a:xfrm>
            <a:off x="1491448" y="2762948"/>
            <a:ext cx="850017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300"/>
              </a:spcBef>
              <a:defRPr sz="1500">
                <a:solidFill>
                  <a:srgbClr val="90CAF9"/>
                </a:solidFill>
              </a:defRPr>
            </a:pPr>
            <a:r>
              <a:t>Chat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상태</a:t>
            </a:r>
          </a:p>
        </p:txBody>
      </p:sp>
      <p:sp>
        <p:nvSpPr>
          <p:cNvPr id="252" name="TextBox 10"/>
          <p:cNvSpPr txBox="1"/>
          <p:nvPr/>
        </p:nvSpPr>
        <p:spPr>
          <a:xfrm>
            <a:off x="1491448" y="3061715"/>
            <a:ext cx="2226844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에이전트가 사용자와 대화하는 상태</a:t>
            </a:r>
          </a:p>
        </p:txBody>
      </p:sp>
      <p:sp>
        <p:nvSpPr>
          <p:cNvPr id="253" name="Rounded Rectangle 11"/>
          <p:cNvSpPr/>
          <p:nvPr/>
        </p:nvSpPr>
        <p:spPr>
          <a:xfrm>
            <a:off x="761979" y="3543300"/>
            <a:ext cx="5143372" cy="761999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Rounded Rectangle 12"/>
          <p:cNvSpPr/>
          <p:nvPr/>
        </p:nvSpPr>
        <p:spPr>
          <a:xfrm>
            <a:off x="904852" y="3676648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55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09624" y="3796746"/>
            <a:ext cx="266694" cy="255105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TextBox 14"/>
          <p:cNvSpPr txBox="1"/>
          <p:nvPr/>
        </p:nvSpPr>
        <p:spPr>
          <a:xfrm>
            <a:off x="1491448" y="3667823"/>
            <a:ext cx="815600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300"/>
              </a:spcBef>
              <a:defRPr sz="1500">
                <a:solidFill>
                  <a:srgbClr val="90CAF9"/>
                </a:solidFill>
              </a:defRPr>
            </a:pPr>
            <a:r>
              <a:t>Tool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상태</a:t>
            </a:r>
          </a:p>
        </p:txBody>
      </p:sp>
      <p:sp>
        <p:nvSpPr>
          <p:cNvPr id="257" name="TextBox 15"/>
          <p:cNvSpPr txBox="1"/>
          <p:nvPr/>
        </p:nvSpPr>
        <p:spPr>
          <a:xfrm>
            <a:off x="1491448" y="3966590"/>
            <a:ext cx="1699540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외부 도구를 실행하는 상태</a:t>
            </a:r>
          </a:p>
        </p:txBody>
      </p:sp>
      <p:sp>
        <p:nvSpPr>
          <p:cNvPr id="258" name="Rounded Rectangle 16"/>
          <p:cNvSpPr/>
          <p:nvPr/>
        </p:nvSpPr>
        <p:spPr>
          <a:xfrm>
            <a:off x="761979" y="4438648"/>
            <a:ext cx="5143372" cy="7620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Rounded Rectangle 17"/>
          <p:cNvSpPr/>
          <p:nvPr/>
        </p:nvSpPr>
        <p:spPr>
          <a:xfrm>
            <a:off x="904852" y="459105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60" name="Picture 18" descr="Picture 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09624" y="4723984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Box 19"/>
          <p:cNvSpPr txBox="1"/>
          <p:nvPr/>
        </p:nvSpPr>
        <p:spPr>
          <a:xfrm>
            <a:off x="1491448" y="4572698"/>
            <a:ext cx="833459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300"/>
              </a:spcBef>
              <a:defRPr sz="1500">
                <a:solidFill>
                  <a:srgbClr val="90CAF9"/>
                </a:solidFill>
              </a:defRPr>
            </a:pPr>
            <a:r>
              <a:t>Fork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상태</a:t>
            </a:r>
          </a:p>
        </p:txBody>
      </p:sp>
      <p:sp>
        <p:nvSpPr>
          <p:cNvPr id="262" name="TextBox 20"/>
          <p:cNvSpPr txBox="1"/>
          <p:nvPr/>
        </p:nvSpPr>
        <p:spPr>
          <a:xfrm>
            <a:off x="1491448" y="4871465"/>
            <a:ext cx="2443353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조건에 따라 여러 경로로 분기하는 상태</a:t>
            </a:r>
          </a:p>
        </p:txBody>
      </p:sp>
      <p:sp>
        <p:nvSpPr>
          <p:cNvPr id="263" name="Rounded Rectangle 21"/>
          <p:cNvSpPr/>
          <p:nvPr/>
        </p:nvSpPr>
        <p:spPr>
          <a:xfrm>
            <a:off x="761979" y="5333998"/>
            <a:ext cx="5143372" cy="1390651"/>
          </a:xfrm>
          <a:prstGeom prst="roundRect">
            <a:avLst>
              <a:gd name="adj" fmla="val 13698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22"/>
          <p:cNvSpPr txBox="1"/>
          <p:nvPr/>
        </p:nvSpPr>
        <p:spPr>
          <a:xfrm>
            <a:off x="2725176" y="5429628"/>
            <a:ext cx="1216978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900"/>
              </a:spcBef>
              <a:defRPr sz="15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상태 전환 예시</a:t>
            </a:r>
          </a:p>
        </p:txBody>
      </p:sp>
      <p:sp>
        <p:nvSpPr>
          <p:cNvPr id="265" name="Rounded Rectangle 23"/>
          <p:cNvSpPr/>
          <p:nvPr/>
        </p:nvSpPr>
        <p:spPr>
          <a:xfrm>
            <a:off x="1047722" y="5850216"/>
            <a:ext cx="1142972" cy="419101"/>
          </a:xfrm>
          <a:prstGeom prst="roundRect">
            <a:avLst>
              <a:gd name="adj" fmla="val 36363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24"/>
          <p:cNvSpPr txBox="1"/>
          <p:nvPr/>
        </p:nvSpPr>
        <p:spPr>
          <a:xfrm>
            <a:off x="1273171" y="5909652"/>
            <a:ext cx="692075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날짜 선택</a:t>
            </a:r>
          </a:p>
        </p:txBody>
      </p:sp>
      <p:sp>
        <p:nvSpPr>
          <p:cNvPr id="267" name="TextBox 25"/>
          <p:cNvSpPr txBox="1"/>
          <p:nvPr/>
        </p:nvSpPr>
        <p:spPr>
          <a:xfrm>
            <a:off x="1138217" y="6308150"/>
            <a:ext cx="961983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 algn="ctr">
              <a:spcBef>
                <a:spcPts val="300"/>
              </a:spcBef>
              <a:defRPr sz="1000"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고객이 날짜 선택</a:t>
            </a:r>
          </a:p>
        </p:txBody>
      </p:sp>
      <p:sp>
        <p:nvSpPr>
          <p:cNvPr id="268" name="TextBox 26"/>
          <p:cNvSpPr txBox="1"/>
          <p:nvPr/>
        </p:nvSpPr>
        <p:spPr>
          <a:xfrm>
            <a:off x="2351854" y="5895377"/>
            <a:ext cx="317877" cy="328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700">
                <a:solidFill>
                  <a:srgbClr val="64B5F6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69" name="Rounded Rectangle 27"/>
          <p:cNvSpPr/>
          <p:nvPr/>
        </p:nvSpPr>
        <p:spPr>
          <a:xfrm>
            <a:off x="2762180" y="5850216"/>
            <a:ext cx="1142972" cy="419101"/>
          </a:xfrm>
          <a:prstGeom prst="roundRect">
            <a:avLst>
              <a:gd name="adj" fmla="val 36363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28"/>
          <p:cNvSpPr txBox="1"/>
          <p:nvPr/>
        </p:nvSpPr>
        <p:spPr>
          <a:xfrm>
            <a:off x="2987628" y="5909652"/>
            <a:ext cx="692075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시간 선택</a:t>
            </a:r>
          </a:p>
        </p:txBody>
      </p:sp>
      <p:sp>
        <p:nvSpPr>
          <p:cNvPr id="271" name="TextBox 29"/>
          <p:cNvSpPr txBox="1"/>
          <p:nvPr/>
        </p:nvSpPr>
        <p:spPr>
          <a:xfrm>
            <a:off x="2780104" y="6308150"/>
            <a:ext cx="1107123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 algn="ctr">
              <a:spcBef>
                <a:spcPts val="300"/>
              </a:spcBef>
              <a:defRPr sz="1000"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사용 가능 시간 확인</a:t>
            </a:r>
          </a:p>
        </p:txBody>
      </p:sp>
      <p:sp>
        <p:nvSpPr>
          <p:cNvPr id="272" name="TextBox 30"/>
          <p:cNvSpPr txBox="1"/>
          <p:nvPr/>
        </p:nvSpPr>
        <p:spPr>
          <a:xfrm>
            <a:off x="4066311" y="5895377"/>
            <a:ext cx="317877" cy="328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700">
                <a:solidFill>
                  <a:srgbClr val="64B5F6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73" name="Rounded Rectangle 31"/>
          <p:cNvSpPr/>
          <p:nvPr/>
        </p:nvSpPr>
        <p:spPr>
          <a:xfrm>
            <a:off x="4476637" y="5850216"/>
            <a:ext cx="1142973" cy="419101"/>
          </a:xfrm>
          <a:prstGeom prst="roundRect">
            <a:avLst>
              <a:gd name="adj" fmla="val 36363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32"/>
          <p:cNvSpPr txBox="1"/>
          <p:nvPr/>
        </p:nvSpPr>
        <p:spPr>
          <a:xfrm>
            <a:off x="4702086" y="5909652"/>
            <a:ext cx="692075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예약 확인</a:t>
            </a:r>
          </a:p>
        </p:txBody>
      </p:sp>
      <p:sp>
        <p:nvSpPr>
          <p:cNvPr id="275" name="TextBox 33"/>
          <p:cNvSpPr txBox="1"/>
          <p:nvPr/>
        </p:nvSpPr>
        <p:spPr>
          <a:xfrm>
            <a:off x="4749557" y="6308150"/>
            <a:ext cx="597133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 algn="ctr">
              <a:spcBef>
                <a:spcPts val="300"/>
              </a:spcBef>
              <a:defRPr sz="1000"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최종 확정</a:t>
            </a:r>
          </a:p>
        </p:txBody>
      </p:sp>
      <p:sp>
        <p:nvSpPr>
          <p:cNvPr id="276" name="Rounded Rectangle 34"/>
          <p:cNvSpPr/>
          <p:nvPr/>
        </p:nvSpPr>
        <p:spPr>
          <a:xfrm>
            <a:off x="6251549" y="177638"/>
            <a:ext cx="5143372" cy="6260969"/>
          </a:xfrm>
          <a:prstGeom prst="roundRect">
            <a:avLst>
              <a:gd name="adj" fmla="val 2962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35"/>
          <p:cNvSpPr txBox="1"/>
          <p:nvPr/>
        </p:nvSpPr>
        <p:spPr>
          <a:xfrm>
            <a:off x="6580194" y="200681"/>
            <a:ext cx="5106796" cy="621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여정 생성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journey = await agent.create_journey(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title=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예약하기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예약을 진행하는 여정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상태 정의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date_selection = journey.initial_state.chat(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고객에게 원하는 날짜를 물어봅니다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time_selection = date_selection.chat(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선택된 날짜에 사용 가능한 시간을 안내합니다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confirmation = time_selection.chat(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예약 내용을 확인하고 최종 확정합니다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전환 정의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date_selection.transition_to(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time_selection,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날짜를 선택했을 때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조건 분기 예시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fork = availability_check.fork(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예약 가능 여부에 따라 분기합니다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available_path = fork.chat(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예약 가능하다고 안내합니다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unavailable_path = fork.chat(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예약 불가하다고 안내합니다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조건부 전환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fork.transition_to(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available_path,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재고가 있을 때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fork.transition_to(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unavailable_path,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재고가 없을 때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278" name="TextBox 36"/>
          <p:cNvSpPr txBox="1"/>
          <p:nvPr/>
        </p:nvSpPr>
        <p:spPr>
          <a:xfrm>
            <a:off x="10194277" y="9621009"/>
            <a:ext cx="1217149" cy="217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700">
                <a:solidFill>
                  <a:srgbClr val="FFFFFF"/>
                </a:solidFill>
              </a:defRPr>
            </a:pPr>
            <a:r>
              <a:t>Parlant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프레임워크 완전 가이드</a:t>
            </a:r>
          </a:p>
        </p:txBody>
      </p:sp>
      <p:sp>
        <p:nvSpPr>
          <p:cNvPr id="279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Box 1"/>
          <p:cNvSpPr txBox="1"/>
          <p:nvPr/>
        </p:nvSpPr>
        <p:spPr>
          <a:xfrm>
            <a:off x="780267" y="484247"/>
            <a:ext cx="3375641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핵심 개념 </a:t>
            </a:r>
            <a:r>
              <a:t>- Guideline</a:t>
            </a:r>
          </a:p>
        </p:txBody>
      </p:sp>
      <p:sp>
        <p:nvSpPr>
          <p:cNvPr id="282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8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48910"/>
            <a:ext cx="304793" cy="216877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TextBox 4"/>
          <p:cNvSpPr txBox="1"/>
          <p:nvPr/>
        </p:nvSpPr>
        <p:spPr>
          <a:xfrm>
            <a:off x="1542248" y="1450086"/>
            <a:ext cx="2450300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 sz="2000">
                <a:solidFill>
                  <a:srgbClr val="90CAF9"/>
                </a:solidFill>
              </a:defRPr>
            </a:pPr>
            <a:r>
              <a:t>Guideline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가이드라인</a:t>
            </a:r>
            <a:r>
              <a:t>)</a:t>
            </a:r>
          </a:p>
        </p:txBody>
      </p:sp>
      <p:sp>
        <p:nvSpPr>
          <p:cNvPr id="285" name="TextBox 5"/>
          <p:cNvSpPr txBox="1"/>
          <p:nvPr/>
        </p:nvSpPr>
        <p:spPr>
          <a:xfrm>
            <a:off x="780268" y="2047302"/>
            <a:ext cx="5106795" cy="48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조건부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행동 규칙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으로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특정 상황에서 에이전트가 어떻게 행동해야 하는지 정의 </a:t>
            </a:r>
          </a:p>
        </p:txBody>
      </p:sp>
      <p:sp>
        <p:nvSpPr>
          <p:cNvPr id="286" name="Rounded Rectangle 6"/>
          <p:cNvSpPr/>
          <p:nvPr/>
        </p:nvSpPr>
        <p:spPr>
          <a:xfrm>
            <a:off x="761979" y="2628900"/>
            <a:ext cx="5143372" cy="761999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Rounded Rectangle 7"/>
          <p:cNvSpPr/>
          <p:nvPr/>
        </p:nvSpPr>
        <p:spPr>
          <a:xfrm>
            <a:off x="904852" y="278130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88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9624" y="2905538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TextBox 9"/>
          <p:cNvSpPr txBox="1"/>
          <p:nvPr/>
        </p:nvSpPr>
        <p:spPr>
          <a:xfrm>
            <a:off x="1478748" y="2749928"/>
            <a:ext cx="1519189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300"/>
              </a:spcBef>
              <a:defRPr sz="1500">
                <a:solidFill>
                  <a:srgbClr val="90CAF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우선순위 </a:t>
            </a:r>
            <a:r>
              <a:t>(Priority)</a:t>
            </a:r>
          </a:p>
        </p:txBody>
      </p:sp>
      <p:sp>
        <p:nvSpPr>
          <p:cNvPr id="290" name="TextBox 10"/>
          <p:cNvSpPr txBox="1"/>
          <p:nvPr/>
        </p:nvSpPr>
        <p:spPr>
          <a:xfrm>
            <a:off x="1478748" y="3049015"/>
            <a:ext cx="3102483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특정 가이드라인이 다른 가이드라인보다 우선 적용</a:t>
            </a:r>
          </a:p>
        </p:txBody>
      </p:sp>
      <p:sp>
        <p:nvSpPr>
          <p:cNvPr id="291" name="Rounded Rectangle 11"/>
          <p:cNvSpPr/>
          <p:nvPr/>
        </p:nvSpPr>
        <p:spPr>
          <a:xfrm>
            <a:off x="761979" y="3543300"/>
            <a:ext cx="5143372" cy="761999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Rounded Rectangle 12"/>
          <p:cNvSpPr/>
          <p:nvPr/>
        </p:nvSpPr>
        <p:spPr>
          <a:xfrm>
            <a:off x="904852" y="3676648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93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09624" y="3860522"/>
            <a:ext cx="266694" cy="127553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TextBox 14"/>
          <p:cNvSpPr txBox="1"/>
          <p:nvPr/>
        </p:nvSpPr>
        <p:spPr>
          <a:xfrm>
            <a:off x="1478748" y="3654803"/>
            <a:ext cx="1753917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300"/>
              </a:spcBef>
              <a:defRPr sz="1500">
                <a:solidFill>
                  <a:srgbClr val="90CAF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종속성 </a:t>
            </a:r>
            <a:r>
              <a:t>(Dependency)</a:t>
            </a:r>
          </a:p>
        </p:txBody>
      </p:sp>
      <p:sp>
        <p:nvSpPr>
          <p:cNvPr id="295" name="TextBox 15"/>
          <p:cNvSpPr txBox="1"/>
          <p:nvPr/>
        </p:nvSpPr>
        <p:spPr>
          <a:xfrm>
            <a:off x="1478748" y="3953890"/>
            <a:ext cx="2532838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한 가이드라인이 다른 가이드라인에 의존</a:t>
            </a:r>
          </a:p>
        </p:txBody>
      </p:sp>
      <p:sp>
        <p:nvSpPr>
          <p:cNvPr id="296" name="Rounded Rectangle 16"/>
          <p:cNvSpPr/>
          <p:nvPr/>
        </p:nvSpPr>
        <p:spPr>
          <a:xfrm>
            <a:off x="761979" y="4438648"/>
            <a:ext cx="5143372" cy="7620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Rounded Rectangle 17"/>
          <p:cNvSpPr/>
          <p:nvPr/>
        </p:nvSpPr>
        <p:spPr>
          <a:xfrm>
            <a:off x="904852" y="459105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98" name="Picture 18" descr="Picture 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09624" y="4721085"/>
            <a:ext cx="266694" cy="197127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extBox 19"/>
          <p:cNvSpPr txBox="1"/>
          <p:nvPr/>
        </p:nvSpPr>
        <p:spPr>
          <a:xfrm>
            <a:off x="1478748" y="4559678"/>
            <a:ext cx="1461049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300"/>
              </a:spcBef>
              <a:defRPr sz="1500">
                <a:solidFill>
                  <a:srgbClr val="90CAF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함의 </a:t>
            </a:r>
            <a:r>
              <a:t>(Entailment)</a:t>
            </a:r>
          </a:p>
        </p:txBody>
      </p:sp>
      <p:sp>
        <p:nvSpPr>
          <p:cNvPr id="300" name="TextBox 20"/>
          <p:cNvSpPr txBox="1"/>
          <p:nvPr/>
        </p:nvSpPr>
        <p:spPr>
          <a:xfrm>
            <a:off x="1478748" y="4858765"/>
            <a:ext cx="2664664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특정 가이드라인이 일반 가이드라인을 포함</a:t>
            </a:r>
          </a:p>
        </p:txBody>
      </p:sp>
      <p:sp>
        <p:nvSpPr>
          <p:cNvPr id="301" name="Rounded Rectangle 21"/>
          <p:cNvSpPr/>
          <p:nvPr/>
        </p:nvSpPr>
        <p:spPr>
          <a:xfrm>
            <a:off x="6286341" y="618153"/>
            <a:ext cx="5143372" cy="5621694"/>
          </a:xfrm>
          <a:prstGeom prst="roundRect">
            <a:avLst>
              <a:gd name="adj" fmla="val 2962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22"/>
          <p:cNvSpPr txBox="1"/>
          <p:nvPr/>
        </p:nvSpPr>
        <p:spPr>
          <a:xfrm>
            <a:off x="6304629" y="938340"/>
            <a:ext cx="5106796" cy="4981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기본 가이드라인 생성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불만을 제기할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정중하게 사과하고 상급자 연결을 제안합니다</a:t>
            </a:r>
            <a:r>
              <a:rPr>
                <a:solidFill>
                  <a:srgbClr val="81C784"/>
                </a:solidFill>
              </a:rPr>
              <a:t>."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도구와 함께 사용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pricing_guideline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가격을 문의할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"get_pricing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도구를 사용하여 최신 가격을 확인하고 안내합니다</a:t>
            </a:r>
            <a:r>
              <a:rPr>
                <a:solidFill>
                  <a:srgbClr val="81C784"/>
                </a:solidFill>
              </a:rPr>
              <a:t>."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await pricing_guideline.attach_tool(</a:t>
            </a:r>
            <a:r>
              <a:rPr>
                <a:solidFill>
                  <a:srgbClr val="81C784"/>
                </a:solidFill>
              </a:rPr>
              <a:t>"get_pricing"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우선순위 설정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urgent_guideline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긴급 상황이 발생했을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즉시 담당자에게 연결합니다</a:t>
            </a:r>
            <a:r>
              <a:rPr>
                <a:solidFill>
                  <a:srgbClr val="81C784"/>
                </a:solidFill>
              </a:rPr>
              <a:t>."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normal_guideline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일반적인 문의가 있을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표준 절차에 따라 응답합니다</a:t>
            </a:r>
            <a:r>
              <a:rPr>
                <a:solidFill>
                  <a:srgbClr val="81C784"/>
                </a:solidFill>
              </a:rPr>
              <a:t>."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긴급 가이드라인이 일반 가이드라인보다 우선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await urgent_guideline.prioritize_over(normal_guideline)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후속 가이드라인은 초기 가이드라인에 종속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followup_guideline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초기 응답 후 추가 정보가 필요할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추가 정보를 요청합니다</a:t>
            </a:r>
            <a:r>
              <a:rPr>
                <a:solidFill>
                  <a:srgbClr val="81C784"/>
                </a:solidFill>
              </a:rPr>
              <a:t>."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await followup_guideline.depend_on(initial_guideline)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특정 가이드라인이 일반 가이드라인을 함의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await specific_guideline.entail(general_guideline) </a:t>
            </a:r>
          </a:p>
        </p:txBody>
      </p:sp>
      <p:sp>
        <p:nvSpPr>
          <p:cNvPr id="303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Box 1"/>
          <p:cNvSpPr txBox="1"/>
          <p:nvPr/>
        </p:nvSpPr>
        <p:spPr>
          <a:xfrm>
            <a:off x="780267" y="484247"/>
            <a:ext cx="5562767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핵심 개념 </a:t>
            </a:r>
            <a:r>
              <a:t>- Tool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과 </a:t>
            </a:r>
            <a:r>
              <a:t>Context Variable</a:t>
            </a:r>
          </a:p>
        </p:txBody>
      </p:sp>
      <p:sp>
        <p:nvSpPr>
          <p:cNvPr id="306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12276"/>
            <a:ext cx="304793" cy="290147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TextBox 4"/>
          <p:cNvSpPr txBox="1"/>
          <p:nvPr/>
        </p:nvSpPr>
        <p:spPr>
          <a:xfrm>
            <a:off x="1415248" y="1450086"/>
            <a:ext cx="1216817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 sz="2000">
                <a:solidFill>
                  <a:srgbClr val="90CAF9"/>
                </a:solidFill>
              </a:defRPr>
            </a:pPr>
            <a:r>
              <a:t>Tool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도구</a:t>
            </a:r>
            <a:r>
              <a:t>)</a:t>
            </a:r>
          </a:p>
        </p:txBody>
      </p:sp>
      <p:sp>
        <p:nvSpPr>
          <p:cNvPr id="309" name="TextBox 5"/>
          <p:cNvSpPr txBox="1"/>
          <p:nvPr/>
        </p:nvSpPr>
        <p:spPr>
          <a:xfrm>
            <a:off x="780268" y="1996502"/>
            <a:ext cx="5191425" cy="48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외부 시스템과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연동하는 함수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에이전트가 실제 데이터에 접근하고 작업을 수행 </a:t>
            </a:r>
          </a:p>
        </p:txBody>
      </p:sp>
      <p:sp>
        <p:nvSpPr>
          <p:cNvPr id="310" name="Rounded Rectangle 6"/>
          <p:cNvSpPr/>
          <p:nvPr/>
        </p:nvSpPr>
        <p:spPr>
          <a:xfrm>
            <a:off x="761979" y="246380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11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4852" y="2667635"/>
            <a:ext cx="228595" cy="125730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TextBox 8"/>
          <p:cNvSpPr txBox="1"/>
          <p:nvPr/>
        </p:nvSpPr>
        <p:spPr>
          <a:xfrm>
            <a:off x="1231106" y="2617850"/>
            <a:ext cx="2263522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@p.tool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데코레이터로 정의 </a:t>
            </a:r>
          </a:p>
        </p:txBody>
      </p:sp>
      <p:sp>
        <p:nvSpPr>
          <p:cNvPr id="313" name="Rounded Rectangle 9"/>
          <p:cNvSpPr/>
          <p:nvPr/>
        </p:nvSpPr>
        <p:spPr>
          <a:xfrm>
            <a:off x="761979" y="313055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14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4852" y="3321050"/>
            <a:ext cx="228595" cy="114300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extBox 11"/>
          <p:cNvSpPr txBox="1"/>
          <p:nvPr/>
        </p:nvSpPr>
        <p:spPr>
          <a:xfrm>
            <a:off x="1231106" y="3265550"/>
            <a:ext cx="2643499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attach_tool()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에이전트에 연결 </a:t>
            </a:r>
          </a:p>
        </p:txBody>
      </p:sp>
      <p:sp>
        <p:nvSpPr>
          <p:cNvPr id="316" name="Rounded Rectangle 12"/>
          <p:cNvSpPr/>
          <p:nvPr/>
        </p:nvSpPr>
        <p:spPr>
          <a:xfrm>
            <a:off x="761979" y="377825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17" name="Picture 13" descr="Picture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4852" y="3962082"/>
            <a:ext cx="228595" cy="165735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TextBox 14"/>
          <p:cNvSpPr txBox="1"/>
          <p:nvPr/>
        </p:nvSpPr>
        <p:spPr>
          <a:xfrm>
            <a:off x="1231106" y="3932299"/>
            <a:ext cx="2452113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ToolContext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세션 정보 접근 </a:t>
            </a:r>
          </a:p>
        </p:txBody>
      </p:sp>
      <p:sp>
        <p:nvSpPr>
          <p:cNvPr id="319" name="Rounded Rectangle 15"/>
          <p:cNvSpPr/>
          <p:nvPr/>
        </p:nvSpPr>
        <p:spPr>
          <a:xfrm>
            <a:off x="761979" y="4375150"/>
            <a:ext cx="5143372" cy="2247470"/>
          </a:xfrm>
          <a:prstGeom prst="roundRect">
            <a:avLst>
              <a:gd name="adj" fmla="val 6779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16"/>
          <p:cNvSpPr txBox="1"/>
          <p:nvPr/>
        </p:nvSpPr>
        <p:spPr>
          <a:xfrm>
            <a:off x="798555" y="4349744"/>
            <a:ext cx="5106796" cy="2298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 정의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@p.tool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async def check_availability(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date: str,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context: ToolContext,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 -&gt; ToolResult: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"""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주어진 날짜의 예약 가능 여부를 확인합니다</a:t>
            </a:r>
            <a:r>
              <a:rPr>
                <a:solidFill>
                  <a:srgbClr val="78909C"/>
                </a:solidFill>
              </a:rPr>
              <a:t>."""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외부 </a:t>
            </a:r>
            <a:r>
              <a:rPr>
                <a:solidFill>
                  <a:srgbClr val="78909C"/>
                </a:solidFill>
              </a:rPr>
              <a:t>API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호출 등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available_slots = await api.get_available_slots(date)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return ToolResult(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data={</a:t>
            </a:r>
            <a:r>
              <a:rPr>
                <a:solidFill>
                  <a:srgbClr val="81C784"/>
                </a:solidFill>
              </a:rPr>
              <a:t>"slots"</a:t>
            </a:r>
            <a:r>
              <a:t>: available_slots},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metadata={</a:t>
            </a:r>
            <a:r>
              <a:rPr>
                <a:solidFill>
                  <a:srgbClr val="81C784"/>
                </a:solidFill>
              </a:rPr>
              <a:t>"checked_date"</a:t>
            </a:r>
            <a:r>
              <a:t>: date},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에이전트에 도구 연결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await agent.attach_tool(</a:t>
            </a:r>
            <a:r>
              <a:rPr>
                <a:solidFill>
                  <a:srgbClr val="81C784"/>
                </a:solidFill>
              </a:rPr>
              <a:t>"check_availability"</a:t>
            </a:r>
            <a:r>
              <a:t>) </a:t>
            </a:r>
          </a:p>
        </p:txBody>
      </p:sp>
      <p:sp>
        <p:nvSpPr>
          <p:cNvPr id="321" name="Rounded Rectangle 17"/>
          <p:cNvSpPr/>
          <p:nvPr/>
        </p:nvSpPr>
        <p:spPr>
          <a:xfrm>
            <a:off x="6286341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22" name="Picture 18" descr="Picture 1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419689" y="1548910"/>
            <a:ext cx="304793" cy="216877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TextBox 19"/>
          <p:cNvSpPr txBox="1"/>
          <p:nvPr/>
        </p:nvSpPr>
        <p:spPr>
          <a:xfrm>
            <a:off x="6939611" y="1441193"/>
            <a:ext cx="3469092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 sz="2000">
                <a:solidFill>
                  <a:srgbClr val="90CAF9"/>
                </a:solidFill>
              </a:defRPr>
            </a:pPr>
            <a:r>
              <a:t>Context Variable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컨텍스트 변수</a:t>
            </a:r>
            <a:r>
              <a:t>)</a:t>
            </a:r>
          </a:p>
        </p:txBody>
      </p:sp>
      <p:sp>
        <p:nvSpPr>
          <p:cNvPr id="324" name="TextBox 20"/>
          <p:cNvSpPr txBox="1"/>
          <p:nvPr/>
        </p:nvSpPr>
        <p:spPr>
          <a:xfrm>
            <a:off x="6304629" y="2085402"/>
            <a:ext cx="5191426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세션 간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유지되는 동적 컨텍스트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고객별 정보나 상태 저장에 활용 </a:t>
            </a:r>
          </a:p>
        </p:txBody>
      </p:sp>
      <p:sp>
        <p:nvSpPr>
          <p:cNvPr id="325" name="Rounded Rectangle 21"/>
          <p:cNvSpPr/>
          <p:nvPr/>
        </p:nvSpPr>
        <p:spPr>
          <a:xfrm>
            <a:off x="6286341" y="246380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26" name="Picture 22" descr="Picture 2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429214" y="2647631"/>
            <a:ext cx="228595" cy="165735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TextBox 23"/>
          <p:cNvSpPr txBox="1"/>
          <p:nvPr/>
        </p:nvSpPr>
        <p:spPr>
          <a:xfrm>
            <a:off x="6755466" y="2617850"/>
            <a:ext cx="1913174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고객별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값 설정 및 조회 </a:t>
            </a:r>
          </a:p>
        </p:txBody>
      </p:sp>
      <p:sp>
        <p:nvSpPr>
          <p:cNvPr id="328" name="Rounded Rectangle 24"/>
          <p:cNvSpPr/>
          <p:nvPr/>
        </p:nvSpPr>
        <p:spPr>
          <a:xfrm>
            <a:off x="6286341" y="313055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29" name="Picture 25" descr="Picture 2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429214" y="3289617"/>
            <a:ext cx="228595" cy="177165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TextBox 26"/>
          <p:cNvSpPr txBox="1"/>
          <p:nvPr/>
        </p:nvSpPr>
        <p:spPr>
          <a:xfrm>
            <a:off x="6755466" y="3265550"/>
            <a:ext cx="1870107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대화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기록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과 상태 유지 </a:t>
            </a:r>
          </a:p>
        </p:txBody>
      </p:sp>
      <p:sp>
        <p:nvSpPr>
          <p:cNvPr id="331" name="Rounded Rectangle 27"/>
          <p:cNvSpPr/>
          <p:nvPr/>
        </p:nvSpPr>
        <p:spPr>
          <a:xfrm>
            <a:off x="6286341" y="377825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32" name="Picture 28" descr="Picture 2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429214" y="3947795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TextBox 29"/>
          <p:cNvSpPr txBox="1"/>
          <p:nvPr/>
        </p:nvSpPr>
        <p:spPr>
          <a:xfrm>
            <a:off x="6755466" y="3932299"/>
            <a:ext cx="1642537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개인화된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응답 생성 </a:t>
            </a:r>
          </a:p>
        </p:txBody>
      </p:sp>
      <p:sp>
        <p:nvSpPr>
          <p:cNvPr id="334" name="Rounded Rectangle 30"/>
          <p:cNvSpPr/>
          <p:nvPr/>
        </p:nvSpPr>
        <p:spPr>
          <a:xfrm>
            <a:off x="6286341" y="4349749"/>
            <a:ext cx="5143372" cy="1913981"/>
          </a:xfrm>
          <a:prstGeom prst="roundRect">
            <a:avLst>
              <a:gd name="adj" fmla="val 796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TextBox 31"/>
          <p:cNvSpPr txBox="1"/>
          <p:nvPr/>
        </p:nvSpPr>
        <p:spPr>
          <a:xfrm>
            <a:off x="6304629" y="4542155"/>
            <a:ext cx="5106796" cy="1623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numCol="2" spcCol="255339" anchor="ctr"/>
          <a:lstStyle/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변수 생성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variable = await agent.create_variable(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"customer_tier"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고객의 멤버십 등급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고객별 값 설정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await variable.set_value_for_customer(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customer_id=customer.id,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value=</a:t>
            </a:r>
            <a:r>
              <a:rPr>
                <a:solidFill>
                  <a:srgbClr val="81C784"/>
                </a:solidFill>
              </a:rPr>
              <a:t>"VIP"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값 조회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tier = await variable.get_value_for_customer(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customer_id=customer.id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도구에서 값 조회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@p.tool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async def checkout(context: ToolContext) -&gt; ToolResult: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cart = await context.get_variable(</a:t>
            </a:r>
            <a:r>
              <a:rPr>
                <a:solidFill>
                  <a:srgbClr val="81C784"/>
                </a:solidFill>
              </a:rPr>
              <a:t>"shopping_cart"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결제 처리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return ToolResult(data={</a:t>
            </a:r>
            <a:r>
              <a:rPr>
                <a:solidFill>
                  <a:srgbClr val="81C784"/>
                </a:solidFill>
              </a:rPr>
              <a:t>"order_id"</a:t>
            </a:r>
            <a:r>
              <a:t>: </a:t>
            </a:r>
            <a:r>
              <a:rPr>
                <a:solidFill>
                  <a:srgbClr val="81C784"/>
                </a:solidFill>
              </a:rPr>
              <a:t>"12345"</a:t>
            </a:r>
            <a:r>
              <a:t>}) </a:t>
            </a:r>
          </a:p>
        </p:txBody>
      </p:sp>
      <p:sp>
        <p:nvSpPr>
          <p:cNvPr id="336" name="TextBox 32"/>
          <p:cNvSpPr txBox="1"/>
          <p:nvPr/>
        </p:nvSpPr>
        <p:spPr>
          <a:xfrm>
            <a:off x="10194277" y="9116185"/>
            <a:ext cx="1217149" cy="217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 algn="r">
              <a:defRPr sz="700">
                <a:solidFill>
                  <a:srgbClr val="FFFFFF"/>
                </a:solidFill>
              </a:defRPr>
            </a:pPr>
            <a:r>
              <a:t>Parlant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프레임워크 완전 가이드</a:t>
            </a:r>
          </a:p>
        </p:txBody>
      </p:sp>
      <p:sp>
        <p:nvSpPr>
          <p:cNvPr id="337" name="슬라이드 번호"/>
          <p:cNvSpPr txBox="1"/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Box 1"/>
          <p:cNvSpPr txBox="1"/>
          <p:nvPr/>
        </p:nvSpPr>
        <p:spPr>
          <a:xfrm>
            <a:off x="780267" y="484247"/>
            <a:ext cx="3205977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핵심 개념 </a:t>
            </a:r>
            <a:r>
              <a:t>- Glossary</a:t>
            </a:r>
          </a:p>
        </p:txBody>
      </p:sp>
      <p:sp>
        <p:nvSpPr>
          <p:cNvPr id="340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4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44515"/>
            <a:ext cx="304793" cy="225670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TextBox 4"/>
          <p:cNvSpPr txBox="1"/>
          <p:nvPr/>
        </p:nvSpPr>
        <p:spPr>
          <a:xfrm>
            <a:off x="1440648" y="1462786"/>
            <a:ext cx="1897770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 sz="2000">
                <a:solidFill>
                  <a:srgbClr val="90CAF9"/>
                </a:solidFill>
              </a:defRPr>
            </a:pPr>
            <a:r>
              <a:t>Glossary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용어집</a:t>
            </a:r>
            <a:r>
              <a:t>)</a:t>
            </a:r>
          </a:p>
        </p:txBody>
      </p:sp>
      <p:sp>
        <p:nvSpPr>
          <p:cNvPr id="343" name="TextBox 5"/>
          <p:cNvSpPr txBox="1"/>
          <p:nvPr/>
        </p:nvSpPr>
        <p:spPr>
          <a:xfrm>
            <a:off x="831068" y="1945702"/>
            <a:ext cx="5143371" cy="48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도메인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특화 용어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를 정의하여 에이전트가 전문 용어를 이해하고 일관된 응답 생성 </a:t>
            </a:r>
          </a:p>
        </p:txBody>
      </p:sp>
      <p:sp>
        <p:nvSpPr>
          <p:cNvPr id="344" name="Rounded Rectangle 6"/>
          <p:cNvSpPr/>
          <p:nvPr/>
        </p:nvSpPr>
        <p:spPr>
          <a:xfrm>
            <a:off x="761979" y="245110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45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4852" y="2646361"/>
            <a:ext cx="228595" cy="142876"/>
          </a:xfrm>
          <a:prstGeom prst="rect">
            <a:avLst/>
          </a:prstGeom>
          <a:ln w="12700">
            <a:miter lim="400000"/>
          </a:ln>
        </p:spPr>
      </p:pic>
      <p:sp>
        <p:nvSpPr>
          <p:cNvPr id="346" name="TextBox 8"/>
          <p:cNvSpPr txBox="1"/>
          <p:nvPr/>
        </p:nvSpPr>
        <p:spPr>
          <a:xfrm>
            <a:off x="1142206" y="2630550"/>
            <a:ext cx="2242738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용어 이름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과 상세 설명 정의 </a:t>
            </a:r>
          </a:p>
        </p:txBody>
      </p:sp>
      <p:sp>
        <p:nvSpPr>
          <p:cNvPr id="347" name="Rounded Rectangle 9"/>
          <p:cNvSpPr/>
          <p:nvPr/>
        </p:nvSpPr>
        <p:spPr>
          <a:xfrm>
            <a:off x="761979" y="311785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48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4852" y="3282632"/>
            <a:ext cx="228595" cy="165735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TextBox 11"/>
          <p:cNvSpPr txBox="1"/>
          <p:nvPr/>
        </p:nvSpPr>
        <p:spPr>
          <a:xfrm>
            <a:off x="1142206" y="3278250"/>
            <a:ext cx="2737086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동의어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등록으로 다양한 표현 인식 </a:t>
            </a:r>
          </a:p>
        </p:txBody>
      </p:sp>
      <p:sp>
        <p:nvSpPr>
          <p:cNvPr id="350" name="Rounded Rectangle 12"/>
          <p:cNvSpPr/>
          <p:nvPr/>
        </p:nvSpPr>
        <p:spPr>
          <a:xfrm>
            <a:off x="761979" y="376555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51" name="Picture 13" descr="Picture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4852" y="3943667"/>
            <a:ext cx="228595" cy="177165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TextBox 14"/>
          <p:cNvSpPr txBox="1"/>
          <p:nvPr/>
        </p:nvSpPr>
        <p:spPr>
          <a:xfrm>
            <a:off x="1142205" y="3944999"/>
            <a:ext cx="2684160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도메인 지식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을 에이전트에 내재화 </a:t>
            </a:r>
          </a:p>
        </p:txBody>
      </p:sp>
      <p:sp>
        <p:nvSpPr>
          <p:cNvPr id="353" name="Rounded Rectangle 15"/>
          <p:cNvSpPr/>
          <p:nvPr/>
        </p:nvSpPr>
        <p:spPr>
          <a:xfrm>
            <a:off x="761979" y="4347333"/>
            <a:ext cx="5143372" cy="2373383"/>
          </a:xfrm>
          <a:prstGeom prst="roundRect">
            <a:avLst>
              <a:gd name="adj" fmla="val 6420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16"/>
          <p:cNvSpPr txBox="1"/>
          <p:nvPr/>
        </p:nvSpPr>
        <p:spPr>
          <a:xfrm>
            <a:off x="780268" y="4354945"/>
            <a:ext cx="5106795" cy="2358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용어 생성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term = await agent.create_term(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간편결제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신용카드를 등록하여 클릭 한 번으로 결제하는 방식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synonyms=[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원클릭결제</a:t>
            </a:r>
            <a:r>
              <a:rPr>
                <a:solidFill>
                  <a:srgbClr val="81C784"/>
                </a:solidFill>
              </a:rPr>
              <a:t>"</a:t>
            </a:r>
            <a:r>
              <a:t>, 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자동결제</a:t>
            </a:r>
            <a:r>
              <a:rPr>
                <a:solidFill>
                  <a:srgbClr val="81C784"/>
                </a:solidFill>
              </a:rPr>
              <a:t>"</a:t>
            </a:r>
            <a:r>
              <a:t>],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여러 용어 정의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await agent.create_term(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배송정책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주문 후 </a:t>
            </a:r>
            <a:r>
              <a:rPr>
                <a:solidFill>
                  <a:srgbClr val="81C784"/>
                </a:solidFill>
              </a:rPr>
              <a:t>3-5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영업일 내 배송</a:t>
            </a:r>
            <a:r>
              <a:rPr>
                <a:solidFill>
                  <a:srgbClr val="81C784"/>
                </a:solidFill>
              </a:rPr>
              <a:t>,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무료배송 기준 </a:t>
            </a:r>
            <a:r>
              <a:rPr>
                <a:solidFill>
                  <a:srgbClr val="81C784"/>
                </a:solidFill>
              </a:rPr>
              <a:t>30,000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원 이상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await agent.create_term(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반품정책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구매일로부터 </a:t>
            </a:r>
            <a:r>
              <a:rPr>
                <a:solidFill>
                  <a:srgbClr val="81C784"/>
                </a:solidFill>
              </a:rPr>
              <a:t>30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일 이내 반품 가능</a:t>
            </a:r>
            <a:r>
              <a:rPr>
                <a:solidFill>
                  <a:srgbClr val="81C784"/>
                </a:solidFill>
              </a:rPr>
              <a:t>,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미개봉 제품만 가능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355" name="Rounded Rectangle 17"/>
          <p:cNvSpPr/>
          <p:nvPr/>
        </p:nvSpPr>
        <p:spPr>
          <a:xfrm>
            <a:off x="6286341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56" name="Picture 18" descr="Picture 1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419689" y="1540118"/>
            <a:ext cx="304793" cy="234462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TextBox 19"/>
          <p:cNvSpPr txBox="1"/>
          <p:nvPr/>
        </p:nvSpPr>
        <p:spPr>
          <a:xfrm>
            <a:off x="6965011" y="1453893"/>
            <a:ext cx="2021247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도메인별 용어 예시</a:t>
            </a:r>
          </a:p>
        </p:txBody>
      </p:sp>
      <p:sp>
        <p:nvSpPr>
          <p:cNvPr id="358" name="Rounded Rectangle 20"/>
          <p:cNvSpPr/>
          <p:nvPr/>
        </p:nvSpPr>
        <p:spPr>
          <a:xfrm>
            <a:off x="6286341" y="2397125"/>
            <a:ext cx="5143372" cy="1038225"/>
          </a:xfrm>
          <a:prstGeom prst="roundRect">
            <a:avLst>
              <a:gd name="adj" fmla="val 18348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TextBox 21"/>
          <p:cNvSpPr txBox="1"/>
          <p:nvPr/>
        </p:nvSpPr>
        <p:spPr>
          <a:xfrm>
            <a:off x="6447502" y="2483228"/>
            <a:ext cx="1069541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90CAF9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금융 용어 </a:t>
            </a:r>
          </a:p>
        </p:txBody>
      </p:sp>
      <p:pic>
        <p:nvPicPr>
          <p:cNvPr id="360" name="Picture 22" descr="Picture 2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429214" y="2543561"/>
            <a:ext cx="209545" cy="189728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TextBox 23"/>
          <p:cNvSpPr txBox="1"/>
          <p:nvPr/>
        </p:nvSpPr>
        <p:spPr>
          <a:xfrm>
            <a:off x="6447502" y="2810890"/>
            <a:ext cx="3325052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APR (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연이율</a:t>
            </a:r>
            <a:r>
              <a:rPr>
                <a:solidFill>
                  <a:srgbClr val="FFD54F"/>
                </a:solidFill>
              </a:rPr>
              <a:t>)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연간 이자율을 나타내는 표준화된 지표 </a:t>
            </a:r>
          </a:p>
        </p:txBody>
      </p:sp>
      <p:sp>
        <p:nvSpPr>
          <p:cNvPr id="362" name="TextBox 24"/>
          <p:cNvSpPr txBox="1"/>
          <p:nvPr/>
        </p:nvSpPr>
        <p:spPr>
          <a:xfrm>
            <a:off x="6447502" y="3061398"/>
            <a:ext cx="1950613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동의어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연이자율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연간 이율 </a:t>
            </a:r>
          </a:p>
        </p:txBody>
      </p:sp>
      <p:pic>
        <p:nvPicPr>
          <p:cNvPr id="363" name="Picture 25" descr="Picture 2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429214" y="3146424"/>
            <a:ext cx="152397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Rounded Rectangle 26"/>
          <p:cNvSpPr/>
          <p:nvPr/>
        </p:nvSpPr>
        <p:spPr>
          <a:xfrm>
            <a:off x="6286341" y="3857625"/>
            <a:ext cx="5143372" cy="1038225"/>
          </a:xfrm>
          <a:prstGeom prst="roundRect">
            <a:avLst>
              <a:gd name="adj" fmla="val 18348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27"/>
          <p:cNvSpPr txBox="1"/>
          <p:nvPr/>
        </p:nvSpPr>
        <p:spPr>
          <a:xfrm>
            <a:off x="6447502" y="3943727"/>
            <a:ext cx="1069541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90CAF9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의료 용어 </a:t>
            </a:r>
          </a:p>
        </p:txBody>
      </p:sp>
      <p:pic>
        <p:nvPicPr>
          <p:cNvPr id="366" name="Picture 28" descr="Picture 2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429214" y="4016804"/>
            <a:ext cx="209545" cy="164242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TextBox 29"/>
          <p:cNvSpPr txBox="1"/>
          <p:nvPr/>
        </p:nvSpPr>
        <p:spPr>
          <a:xfrm>
            <a:off x="6447502" y="4271389"/>
            <a:ext cx="3602846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초진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환자가 병원에 처음 방문하여 의사의 진료를 받는 것 </a:t>
            </a:r>
          </a:p>
        </p:txBody>
      </p:sp>
      <p:sp>
        <p:nvSpPr>
          <p:cNvPr id="368" name="TextBox 30"/>
          <p:cNvSpPr txBox="1"/>
          <p:nvPr/>
        </p:nvSpPr>
        <p:spPr>
          <a:xfrm>
            <a:off x="6447502" y="4521898"/>
            <a:ext cx="1861128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1200">
                <a:solidFill>
                  <a:srgbClr val="B0BEC5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동의어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첫 진료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초기 진단 </a:t>
            </a:r>
          </a:p>
        </p:txBody>
      </p:sp>
      <p:pic>
        <p:nvPicPr>
          <p:cNvPr id="369" name="Picture 31" descr="Picture 3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429214" y="4616448"/>
            <a:ext cx="152397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슬라이드 번호"/>
          <p:cNvSpPr txBox="1"/>
          <p:nvPr>
            <p:ph type="sldNum" sz="quarter" idx="4294967295"/>
          </p:nvPr>
        </p:nvSpPr>
        <p:spPr>
          <a:xfrm>
            <a:off x="8428176" y="61988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Box 1"/>
          <p:cNvSpPr txBox="1"/>
          <p:nvPr/>
        </p:nvSpPr>
        <p:spPr>
          <a:xfrm>
            <a:off x="780267" y="484247"/>
            <a:ext cx="6021664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아키텍처 구조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헥사고날 아키텍처 개요</a:t>
            </a:r>
          </a:p>
        </p:txBody>
      </p:sp>
      <p:sp>
        <p:nvSpPr>
          <p:cNvPr id="373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40118"/>
            <a:ext cx="304793" cy="234462"/>
          </a:xfrm>
          <a:prstGeom prst="rect">
            <a:avLst/>
          </a:prstGeom>
          <a:ln w="12700">
            <a:miter lim="400000"/>
          </a:ln>
        </p:spPr>
      </p:pic>
      <p:sp>
        <p:nvSpPr>
          <p:cNvPr id="375" name="TextBox 4"/>
          <p:cNvSpPr txBox="1"/>
          <p:nvPr/>
        </p:nvSpPr>
        <p:spPr>
          <a:xfrm>
            <a:off x="1542249" y="1441193"/>
            <a:ext cx="1950678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헥사고날 아키텍처</a:t>
            </a:r>
          </a:p>
        </p:txBody>
      </p:sp>
      <p:sp>
        <p:nvSpPr>
          <p:cNvPr id="376" name="TextBox 5"/>
          <p:cNvSpPr txBox="1"/>
          <p:nvPr/>
        </p:nvSpPr>
        <p:spPr>
          <a:xfrm>
            <a:off x="818368" y="1947537"/>
            <a:ext cx="4946934" cy="63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t> Parlant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는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헥사고날 아키텍처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패턴을 따라 외부 의존성과 분리된 유연한 구조 제공 </a:t>
            </a:r>
          </a:p>
        </p:txBody>
      </p:sp>
      <p:sp>
        <p:nvSpPr>
          <p:cNvPr id="377" name="Rounded Rectangle 6"/>
          <p:cNvSpPr/>
          <p:nvPr/>
        </p:nvSpPr>
        <p:spPr>
          <a:xfrm>
            <a:off x="761979" y="262890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78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4852" y="2801302"/>
            <a:ext cx="228595" cy="188596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TextBox 8"/>
          <p:cNvSpPr txBox="1"/>
          <p:nvPr/>
        </p:nvSpPr>
        <p:spPr>
          <a:xfrm>
            <a:off x="1294606" y="2745485"/>
            <a:ext cx="1516912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명확한 계층 분리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유지보수 용이 </a:t>
            </a:r>
          </a:p>
        </p:txBody>
      </p:sp>
      <p:sp>
        <p:nvSpPr>
          <p:cNvPr id="380" name="Rounded Rectangle 9"/>
          <p:cNvSpPr/>
          <p:nvPr/>
        </p:nvSpPr>
        <p:spPr>
          <a:xfrm>
            <a:off x="761979" y="329565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81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4852" y="3440429"/>
            <a:ext cx="228595" cy="205740"/>
          </a:xfrm>
          <a:prstGeom prst="rect">
            <a:avLst/>
          </a:prstGeom>
          <a:ln w="12700">
            <a:miter lim="400000"/>
          </a:ln>
        </p:spPr>
      </p:pic>
      <p:sp>
        <p:nvSpPr>
          <p:cNvPr id="382" name="TextBox 11"/>
          <p:cNvSpPr txBox="1"/>
          <p:nvPr/>
        </p:nvSpPr>
        <p:spPr>
          <a:xfrm>
            <a:off x="1294606" y="3393185"/>
            <a:ext cx="2103549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포트</a:t>
            </a:r>
            <a:r>
              <a:rPr>
                <a:solidFill>
                  <a:srgbClr val="FFD54F"/>
                </a:solidFill>
              </a:rPr>
              <a:t>-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어댑터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패턴으로 외부 시스템과 느슨한 결합 </a:t>
            </a:r>
          </a:p>
        </p:txBody>
      </p:sp>
      <p:sp>
        <p:nvSpPr>
          <p:cNvPr id="383" name="Rounded Rectangle 12"/>
          <p:cNvSpPr/>
          <p:nvPr/>
        </p:nvSpPr>
        <p:spPr>
          <a:xfrm>
            <a:off x="761979" y="3943350"/>
            <a:ext cx="5143372" cy="514350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84" name="Picture 13" descr="Picture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4852" y="4101465"/>
            <a:ext cx="228595" cy="217171"/>
          </a:xfrm>
          <a:prstGeom prst="rect">
            <a:avLst/>
          </a:prstGeom>
          <a:ln w="12700">
            <a:miter lim="400000"/>
          </a:ln>
        </p:spPr>
      </p:pic>
      <p:sp>
        <p:nvSpPr>
          <p:cNvPr id="385" name="TextBox 14"/>
          <p:cNvSpPr txBox="1"/>
          <p:nvPr/>
        </p:nvSpPr>
        <p:spPr>
          <a:xfrm>
            <a:off x="1294605" y="4059934"/>
            <a:ext cx="1692681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의존성 역전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으로 테스트와 확장성 향상 </a:t>
            </a:r>
          </a:p>
        </p:txBody>
      </p:sp>
      <p:sp>
        <p:nvSpPr>
          <p:cNvPr id="386" name="Rounded Rectangle 15"/>
          <p:cNvSpPr/>
          <p:nvPr/>
        </p:nvSpPr>
        <p:spPr>
          <a:xfrm>
            <a:off x="761979" y="4610098"/>
            <a:ext cx="5143372" cy="514351"/>
          </a:xfrm>
          <a:prstGeom prst="roundRect">
            <a:avLst>
              <a:gd name="adj" fmla="val 3703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87" name="Picture 16" descr="Picture 1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04852" y="4749165"/>
            <a:ext cx="228595" cy="217171"/>
          </a:xfrm>
          <a:prstGeom prst="rect">
            <a:avLst/>
          </a:prstGeom>
          <a:ln w="12700">
            <a:miter lim="400000"/>
          </a:ln>
        </p:spPr>
      </p:pic>
      <p:sp>
        <p:nvSpPr>
          <p:cNvPr id="388" name="TextBox 17"/>
          <p:cNvSpPr txBox="1"/>
          <p:nvPr/>
        </p:nvSpPr>
        <p:spPr>
          <a:xfrm>
            <a:off x="1294606" y="4707635"/>
            <a:ext cx="1225033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독립적인 개발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과 배포 가능 </a:t>
            </a:r>
          </a:p>
        </p:txBody>
      </p:sp>
      <p:sp>
        <p:nvSpPr>
          <p:cNvPr id="389" name="Rounded Rectangle 18"/>
          <p:cNvSpPr/>
          <p:nvPr/>
        </p:nvSpPr>
        <p:spPr>
          <a:xfrm>
            <a:off x="6286341" y="1371600"/>
            <a:ext cx="5143372" cy="4857750"/>
          </a:xfrm>
          <a:prstGeom prst="roundRect">
            <a:avLst>
              <a:gd name="adj" fmla="val 470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0" name="Rounded Rectangle 19"/>
          <p:cNvSpPr/>
          <p:nvPr/>
        </p:nvSpPr>
        <p:spPr>
          <a:xfrm>
            <a:off x="6524460" y="1609724"/>
            <a:ext cx="4667134" cy="762000"/>
          </a:xfrm>
          <a:prstGeom prst="roundRect">
            <a:avLst>
              <a:gd name="adj" fmla="val 2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Rounded Rectangle 20"/>
          <p:cNvSpPr/>
          <p:nvPr/>
        </p:nvSpPr>
        <p:spPr>
          <a:xfrm>
            <a:off x="6667333" y="17525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92" name="Picture 21" descr="Picture 21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772105" y="1918251"/>
            <a:ext cx="266694" cy="144946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TextBox 22"/>
          <p:cNvSpPr txBox="1"/>
          <p:nvPr/>
        </p:nvSpPr>
        <p:spPr>
          <a:xfrm>
            <a:off x="7304730" y="1748261"/>
            <a:ext cx="628878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000">
                <a:solidFill>
                  <a:srgbClr val="90CAF9"/>
                </a:solidFill>
              </a:defRPr>
            </a:lvl1pPr>
          </a:lstStyle>
          <a:p>
            <a:pPr/>
            <a:r>
              <a:t>SDK Layer</a:t>
            </a:r>
          </a:p>
        </p:txBody>
      </p:sp>
      <p:sp>
        <p:nvSpPr>
          <p:cNvPr id="394" name="TextBox 23"/>
          <p:cNvSpPr txBox="1"/>
          <p:nvPr/>
        </p:nvSpPr>
        <p:spPr>
          <a:xfrm>
            <a:off x="7304730" y="2002534"/>
            <a:ext cx="1667796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사용자 진입점</a:t>
            </a:r>
            <a:r>
              <a:t>, Python API,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데코레이터</a:t>
            </a:r>
          </a:p>
        </p:txBody>
      </p:sp>
      <p:sp>
        <p:nvSpPr>
          <p:cNvPr id="395" name="Rounded Rectangle 24"/>
          <p:cNvSpPr/>
          <p:nvPr/>
        </p:nvSpPr>
        <p:spPr>
          <a:xfrm>
            <a:off x="6524460" y="2514600"/>
            <a:ext cx="4667134" cy="761999"/>
          </a:xfrm>
          <a:prstGeom prst="roundRect">
            <a:avLst>
              <a:gd name="adj" fmla="val 2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Rounded Rectangle 25"/>
          <p:cNvSpPr/>
          <p:nvPr/>
        </p:nvSpPr>
        <p:spPr>
          <a:xfrm>
            <a:off x="6667333" y="2657475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97" name="Picture 26" descr="Picture 2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772105" y="2770945"/>
            <a:ext cx="266694" cy="249307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TextBox 27"/>
          <p:cNvSpPr txBox="1"/>
          <p:nvPr/>
        </p:nvSpPr>
        <p:spPr>
          <a:xfrm>
            <a:off x="7304730" y="2653137"/>
            <a:ext cx="597500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000">
                <a:solidFill>
                  <a:srgbClr val="90CAF9"/>
                </a:solidFill>
              </a:defRPr>
            </a:lvl1pPr>
          </a:lstStyle>
          <a:p>
            <a:pPr/>
            <a:r>
              <a:t>API Layer</a:t>
            </a:r>
          </a:p>
        </p:txBody>
      </p:sp>
      <p:sp>
        <p:nvSpPr>
          <p:cNvPr id="399" name="TextBox 28"/>
          <p:cNvSpPr txBox="1"/>
          <p:nvPr/>
        </p:nvSpPr>
        <p:spPr>
          <a:xfrm>
            <a:off x="7304730" y="2907410"/>
            <a:ext cx="1719587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REST API, FastAPI,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엔드포인트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미들웨어</a:t>
            </a:r>
          </a:p>
        </p:txBody>
      </p:sp>
      <p:sp>
        <p:nvSpPr>
          <p:cNvPr id="400" name="Rounded Rectangle 29"/>
          <p:cNvSpPr/>
          <p:nvPr/>
        </p:nvSpPr>
        <p:spPr>
          <a:xfrm>
            <a:off x="6524460" y="3419473"/>
            <a:ext cx="4667134" cy="762000"/>
          </a:xfrm>
          <a:prstGeom prst="roundRect">
            <a:avLst>
              <a:gd name="adj" fmla="val 20000"/>
            </a:avLst>
          </a:prstGeom>
          <a:solidFill>
            <a:srgbClr val="64B5F6">
              <a:alpha val="2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Rounded Rectangle 30"/>
          <p:cNvSpPr/>
          <p:nvPr/>
        </p:nvSpPr>
        <p:spPr>
          <a:xfrm>
            <a:off x="6667333" y="3562348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02" name="Picture 31" descr="Picture 3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772105" y="3696113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403" name="TextBox 32"/>
          <p:cNvSpPr txBox="1"/>
          <p:nvPr/>
        </p:nvSpPr>
        <p:spPr>
          <a:xfrm>
            <a:off x="7304730" y="3558011"/>
            <a:ext cx="1009320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000">
                <a:solidFill>
                  <a:srgbClr val="90CAF9"/>
                </a:solidFill>
              </a:defRPr>
            </a:lvl1pPr>
          </a:lstStyle>
          <a:p>
            <a:pPr/>
            <a:r>
              <a:t>Application Layer</a:t>
            </a:r>
          </a:p>
        </p:txBody>
      </p:sp>
      <p:sp>
        <p:nvSpPr>
          <p:cNvPr id="404" name="TextBox 33"/>
          <p:cNvSpPr txBox="1"/>
          <p:nvPr/>
        </p:nvSpPr>
        <p:spPr>
          <a:xfrm>
            <a:off x="7304730" y="3812284"/>
            <a:ext cx="1565555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비즈니스 로직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엔진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오케스트레이션</a:t>
            </a:r>
          </a:p>
        </p:txBody>
      </p:sp>
      <p:sp>
        <p:nvSpPr>
          <p:cNvPr id="405" name="Rounded Rectangle 34"/>
          <p:cNvSpPr/>
          <p:nvPr/>
        </p:nvSpPr>
        <p:spPr>
          <a:xfrm>
            <a:off x="6524460" y="4324348"/>
            <a:ext cx="4667134" cy="762000"/>
          </a:xfrm>
          <a:prstGeom prst="roundRect">
            <a:avLst>
              <a:gd name="adj" fmla="val 20000"/>
            </a:avLst>
          </a:prstGeom>
          <a:solidFill>
            <a:srgbClr val="64B5F6">
              <a:alpha val="3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Rounded Rectangle 35"/>
          <p:cNvSpPr/>
          <p:nvPr/>
        </p:nvSpPr>
        <p:spPr>
          <a:xfrm>
            <a:off x="6667333" y="4467223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07" name="Picture 36" descr="Picture 36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772105" y="4600988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TextBox 37"/>
          <p:cNvSpPr txBox="1"/>
          <p:nvPr/>
        </p:nvSpPr>
        <p:spPr>
          <a:xfrm>
            <a:off x="7304730" y="4462886"/>
            <a:ext cx="666891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000">
                <a:solidFill>
                  <a:srgbClr val="90CAF9"/>
                </a:solidFill>
              </a:defRPr>
            </a:lvl1pPr>
          </a:lstStyle>
          <a:p>
            <a:pPr/>
            <a:r>
              <a:t>Core Layer</a:t>
            </a:r>
          </a:p>
        </p:txBody>
      </p:sp>
      <p:sp>
        <p:nvSpPr>
          <p:cNvPr id="409" name="TextBox 38"/>
          <p:cNvSpPr txBox="1"/>
          <p:nvPr/>
        </p:nvSpPr>
        <p:spPr>
          <a:xfrm>
            <a:off x="7304730" y="4717159"/>
            <a:ext cx="1274269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도메인 모델</a:t>
            </a:r>
            <a:r>
              <a:t>, Port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인터페이스</a:t>
            </a:r>
          </a:p>
        </p:txBody>
      </p:sp>
      <p:sp>
        <p:nvSpPr>
          <p:cNvPr id="410" name="Rounded Rectangle 39"/>
          <p:cNvSpPr/>
          <p:nvPr/>
        </p:nvSpPr>
        <p:spPr>
          <a:xfrm>
            <a:off x="6524460" y="5229225"/>
            <a:ext cx="4667134" cy="761999"/>
          </a:xfrm>
          <a:prstGeom prst="roundRect">
            <a:avLst>
              <a:gd name="adj" fmla="val 20000"/>
            </a:avLst>
          </a:prstGeom>
          <a:solidFill>
            <a:srgbClr val="64B5F6">
              <a:alpha val="3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Rounded Rectangle 40"/>
          <p:cNvSpPr/>
          <p:nvPr/>
        </p:nvSpPr>
        <p:spPr>
          <a:xfrm>
            <a:off x="6667333" y="537210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12" name="Picture 41" descr="Picture 41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772105" y="5514559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TextBox 42"/>
          <p:cNvSpPr txBox="1"/>
          <p:nvPr/>
        </p:nvSpPr>
        <p:spPr>
          <a:xfrm>
            <a:off x="7304730" y="5367762"/>
            <a:ext cx="889762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000">
                <a:solidFill>
                  <a:srgbClr val="90CAF9"/>
                </a:solidFill>
              </a:defRPr>
            </a:lvl1pPr>
          </a:lstStyle>
          <a:p>
            <a:pPr/>
            <a:r>
              <a:t>Adapters Layer</a:t>
            </a:r>
          </a:p>
        </p:txBody>
      </p:sp>
      <p:sp>
        <p:nvSpPr>
          <p:cNvPr id="414" name="TextBox 43"/>
          <p:cNvSpPr txBox="1"/>
          <p:nvPr/>
        </p:nvSpPr>
        <p:spPr>
          <a:xfrm>
            <a:off x="7304730" y="5622035"/>
            <a:ext cx="1590975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NLP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서비스</a:t>
            </a:r>
            <a:r>
              <a:t>, DB,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벡터 </a:t>
            </a:r>
            <a:r>
              <a:t>DB,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텔레메트리</a:t>
            </a:r>
          </a:p>
        </p:txBody>
      </p:sp>
      <p:sp>
        <p:nvSpPr>
          <p:cNvPr id="415" name="슬라이드 번호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Box 1"/>
          <p:cNvSpPr txBox="1"/>
          <p:nvPr/>
        </p:nvSpPr>
        <p:spPr>
          <a:xfrm>
            <a:off x="780267" y="484247"/>
            <a:ext cx="4267985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아키텍처 구조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계층별 역할</a:t>
            </a:r>
          </a:p>
        </p:txBody>
      </p:sp>
      <p:sp>
        <p:nvSpPr>
          <p:cNvPr id="418" name="Rounded Rectangle 2"/>
          <p:cNvSpPr/>
          <p:nvPr/>
        </p:nvSpPr>
        <p:spPr>
          <a:xfrm>
            <a:off x="761979" y="1371600"/>
            <a:ext cx="5238620" cy="1733550"/>
          </a:xfrm>
          <a:prstGeom prst="roundRect">
            <a:avLst>
              <a:gd name="adj" fmla="val 13186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Rounded Rectangle 3"/>
          <p:cNvSpPr/>
          <p:nvPr/>
        </p:nvSpPr>
        <p:spPr>
          <a:xfrm>
            <a:off x="952475" y="143510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2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7247" y="1568863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TextBox 5"/>
          <p:cNvSpPr txBox="1"/>
          <p:nvPr/>
        </p:nvSpPr>
        <p:spPr>
          <a:xfrm>
            <a:off x="1589872" y="1525082"/>
            <a:ext cx="953076" cy="29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500">
                <a:solidFill>
                  <a:srgbClr val="90CAF9"/>
                </a:solidFill>
              </a:defRPr>
            </a:lvl1pPr>
          </a:lstStyle>
          <a:p>
            <a:pPr/>
            <a:r>
              <a:t>Core Layer</a:t>
            </a:r>
          </a:p>
        </p:txBody>
      </p:sp>
      <p:sp>
        <p:nvSpPr>
          <p:cNvPr id="422" name="TextBox 6"/>
          <p:cNvSpPr txBox="1"/>
          <p:nvPr/>
        </p:nvSpPr>
        <p:spPr>
          <a:xfrm>
            <a:off x="1466064" y="1819973"/>
            <a:ext cx="3701781" cy="287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3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순수 비즈니스 로직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으로 외부 의존성 없이 도메인 모델 정의 </a:t>
            </a:r>
          </a:p>
        </p:txBody>
      </p:sp>
      <p:sp>
        <p:nvSpPr>
          <p:cNvPr id="423" name="Rounded Rectangle 7"/>
          <p:cNvSpPr/>
          <p:nvPr/>
        </p:nvSpPr>
        <p:spPr>
          <a:xfrm>
            <a:off x="952475" y="2193925"/>
            <a:ext cx="838180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24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346" y="2283951"/>
            <a:ext cx="171446" cy="143797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TextBox 9"/>
          <p:cNvSpPr txBox="1"/>
          <p:nvPr/>
        </p:nvSpPr>
        <p:spPr>
          <a:xfrm>
            <a:off x="1285078" y="2237212"/>
            <a:ext cx="425915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426" name="Rounded Rectangle 10"/>
          <p:cNvSpPr/>
          <p:nvPr/>
        </p:nvSpPr>
        <p:spPr>
          <a:xfrm>
            <a:off x="1885901" y="2193925"/>
            <a:ext cx="942952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27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28774" y="2281185"/>
            <a:ext cx="171446" cy="149328"/>
          </a:xfrm>
          <a:prstGeom prst="rect">
            <a:avLst/>
          </a:prstGeom>
          <a:ln w="12700">
            <a:miter lim="400000"/>
          </a:ln>
        </p:spPr>
      </p:pic>
      <p:sp>
        <p:nvSpPr>
          <p:cNvPr id="428" name="TextBox 12"/>
          <p:cNvSpPr txBox="1"/>
          <p:nvPr/>
        </p:nvSpPr>
        <p:spPr>
          <a:xfrm>
            <a:off x="2218506" y="2237212"/>
            <a:ext cx="506157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Session</a:t>
            </a:r>
          </a:p>
        </p:txBody>
      </p:sp>
      <p:sp>
        <p:nvSpPr>
          <p:cNvPr id="429" name="Rounded Rectangle 13"/>
          <p:cNvSpPr/>
          <p:nvPr/>
        </p:nvSpPr>
        <p:spPr>
          <a:xfrm>
            <a:off x="2924100" y="2193925"/>
            <a:ext cx="1047724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30" name="Picture 14" descr="Picture 1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066973" y="2292246"/>
            <a:ext cx="171446" cy="127205"/>
          </a:xfrm>
          <a:prstGeom prst="rect">
            <a:avLst/>
          </a:prstGeom>
          <a:ln w="12700">
            <a:miter lim="400000"/>
          </a:ln>
        </p:spPr>
      </p:pic>
      <p:sp>
        <p:nvSpPr>
          <p:cNvPr id="431" name="TextBox 15"/>
          <p:cNvSpPr txBox="1"/>
          <p:nvPr/>
        </p:nvSpPr>
        <p:spPr>
          <a:xfrm>
            <a:off x="3256705" y="2237212"/>
            <a:ext cx="616538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Guideline</a:t>
            </a:r>
          </a:p>
        </p:txBody>
      </p:sp>
      <p:sp>
        <p:nvSpPr>
          <p:cNvPr id="432" name="Rounded Rectangle 16"/>
          <p:cNvSpPr/>
          <p:nvPr/>
        </p:nvSpPr>
        <p:spPr>
          <a:xfrm>
            <a:off x="4067073" y="2193925"/>
            <a:ext cx="971526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33" name="Picture 17" descr="Picture 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09944" y="2286716"/>
            <a:ext cx="171446" cy="138267"/>
          </a:xfrm>
          <a:prstGeom prst="rect">
            <a:avLst/>
          </a:prstGeom>
          <a:ln w="12700">
            <a:miter lim="400000"/>
          </a:ln>
        </p:spPr>
      </p:pic>
      <p:sp>
        <p:nvSpPr>
          <p:cNvPr id="434" name="TextBox 18"/>
          <p:cNvSpPr txBox="1"/>
          <p:nvPr/>
        </p:nvSpPr>
        <p:spPr>
          <a:xfrm>
            <a:off x="4399675" y="2237212"/>
            <a:ext cx="527490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Journey</a:t>
            </a:r>
          </a:p>
        </p:txBody>
      </p:sp>
      <p:sp>
        <p:nvSpPr>
          <p:cNvPr id="435" name="Rounded Rectangle 19"/>
          <p:cNvSpPr/>
          <p:nvPr/>
        </p:nvSpPr>
        <p:spPr>
          <a:xfrm>
            <a:off x="952475" y="2613025"/>
            <a:ext cx="761981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36" name="Picture 20" descr="Picture 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95346" y="2691989"/>
            <a:ext cx="171446" cy="165920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TextBox 21"/>
          <p:cNvSpPr txBox="1"/>
          <p:nvPr/>
        </p:nvSpPr>
        <p:spPr>
          <a:xfrm>
            <a:off x="1285078" y="2656312"/>
            <a:ext cx="336122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Tool</a:t>
            </a:r>
          </a:p>
        </p:txBody>
      </p:sp>
      <p:sp>
        <p:nvSpPr>
          <p:cNvPr id="438" name="Rounded Rectangle 22"/>
          <p:cNvSpPr/>
          <p:nvPr/>
        </p:nvSpPr>
        <p:spPr>
          <a:xfrm>
            <a:off x="1809704" y="2613025"/>
            <a:ext cx="1314418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39" name="Picture 23" descr="Picture 2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952575" y="2694755"/>
            <a:ext cx="171446" cy="160389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TextBox 24"/>
          <p:cNvSpPr txBox="1"/>
          <p:nvPr/>
        </p:nvSpPr>
        <p:spPr>
          <a:xfrm>
            <a:off x="2142307" y="2648647"/>
            <a:ext cx="917270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Port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인터페이스</a:t>
            </a:r>
          </a:p>
        </p:txBody>
      </p:sp>
      <p:sp>
        <p:nvSpPr>
          <p:cNvPr id="441" name="Rounded Rectangle 25"/>
          <p:cNvSpPr/>
          <p:nvPr/>
        </p:nvSpPr>
        <p:spPr>
          <a:xfrm>
            <a:off x="6191094" y="1371600"/>
            <a:ext cx="5238620" cy="1733550"/>
          </a:xfrm>
          <a:prstGeom prst="roundRect">
            <a:avLst>
              <a:gd name="adj" fmla="val 13186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Rounded Rectangle 26"/>
          <p:cNvSpPr/>
          <p:nvPr/>
        </p:nvSpPr>
        <p:spPr>
          <a:xfrm>
            <a:off x="6381589" y="143510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43" name="Picture 27" descr="Picture 2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486361" y="1577559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444" name="TextBox 28"/>
          <p:cNvSpPr txBox="1"/>
          <p:nvPr/>
        </p:nvSpPr>
        <p:spPr>
          <a:xfrm>
            <a:off x="7018987" y="1525082"/>
            <a:ext cx="1302543" cy="29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500">
                <a:solidFill>
                  <a:srgbClr val="90CAF9"/>
                </a:solidFill>
              </a:defRPr>
            </a:lvl1pPr>
          </a:lstStyle>
          <a:p>
            <a:pPr/>
            <a:r>
              <a:t>Adapters Layer</a:t>
            </a:r>
          </a:p>
        </p:txBody>
      </p:sp>
      <p:sp>
        <p:nvSpPr>
          <p:cNvPr id="445" name="TextBox 29"/>
          <p:cNvSpPr txBox="1"/>
          <p:nvPr/>
        </p:nvSpPr>
        <p:spPr>
          <a:xfrm>
            <a:off x="6895177" y="1819973"/>
            <a:ext cx="2915627" cy="287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3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외부 시스템과의 통합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을 담당하는 구현체 계층 </a:t>
            </a:r>
          </a:p>
        </p:txBody>
      </p:sp>
      <p:sp>
        <p:nvSpPr>
          <p:cNvPr id="446" name="Rounded Rectangle 30"/>
          <p:cNvSpPr/>
          <p:nvPr/>
        </p:nvSpPr>
        <p:spPr>
          <a:xfrm>
            <a:off x="6381589" y="2168525"/>
            <a:ext cx="1743032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47" name="Picture 31" descr="Picture 31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524460" y="2261316"/>
            <a:ext cx="171446" cy="138267"/>
          </a:xfrm>
          <a:prstGeom prst="rect">
            <a:avLst/>
          </a:prstGeom>
          <a:ln w="12700">
            <a:miter lim="400000"/>
          </a:ln>
        </p:spPr>
      </p:pic>
      <p:sp>
        <p:nvSpPr>
          <p:cNvPr id="448" name="TextBox 32"/>
          <p:cNvSpPr txBox="1"/>
          <p:nvPr/>
        </p:nvSpPr>
        <p:spPr>
          <a:xfrm>
            <a:off x="6676093" y="2199701"/>
            <a:ext cx="1344253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NLP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서비스 </a:t>
            </a:r>
            <a:r>
              <a:t>(20+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제공자</a:t>
            </a:r>
            <a:r>
              <a:t>)</a:t>
            </a:r>
          </a:p>
        </p:txBody>
      </p:sp>
      <p:sp>
        <p:nvSpPr>
          <p:cNvPr id="449" name="Rounded Rectangle 33"/>
          <p:cNvSpPr/>
          <p:nvPr/>
        </p:nvSpPr>
        <p:spPr>
          <a:xfrm>
            <a:off x="8219868" y="2168525"/>
            <a:ext cx="1162021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50" name="Picture 34" descr="Picture 34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8362739" y="2266846"/>
            <a:ext cx="171446" cy="127205"/>
          </a:xfrm>
          <a:prstGeom prst="rect">
            <a:avLst/>
          </a:prstGeom>
          <a:ln w="12700">
            <a:miter lim="400000"/>
          </a:ln>
        </p:spPr>
      </p:pic>
      <p:sp>
        <p:nvSpPr>
          <p:cNvPr id="451" name="TextBox 35"/>
          <p:cNvSpPr txBox="1"/>
          <p:nvPr/>
        </p:nvSpPr>
        <p:spPr>
          <a:xfrm>
            <a:off x="8514371" y="2204147"/>
            <a:ext cx="781559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데이터베이스</a:t>
            </a:r>
          </a:p>
        </p:txBody>
      </p:sp>
      <p:sp>
        <p:nvSpPr>
          <p:cNvPr id="452" name="Rounded Rectangle 36"/>
          <p:cNvSpPr/>
          <p:nvPr/>
        </p:nvSpPr>
        <p:spPr>
          <a:xfrm>
            <a:off x="9477137" y="2168525"/>
            <a:ext cx="933427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53" name="Picture 37" descr="Picture 37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620008" y="2262699"/>
            <a:ext cx="171446" cy="135501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TextBox 38"/>
          <p:cNvSpPr txBox="1"/>
          <p:nvPr/>
        </p:nvSpPr>
        <p:spPr>
          <a:xfrm>
            <a:off x="9771640" y="2199701"/>
            <a:ext cx="524640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벡터 </a:t>
            </a:r>
            <a:r>
              <a:t>DB</a:t>
            </a:r>
          </a:p>
        </p:txBody>
      </p:sp>
      <p:sp>
        <p:nvSpPr>
          <p:cNvPr id="455" name="Rounded Rectangle 39"/>
          <p:cNvSpPr/>
          <p:nvPr/>
        </p:nvSpPr>
        <p:spPr>
          <a:xfrm>
            <a:off x="6381589" y="2587625"/>
            <a:ext cx="1057249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56" name="Picture 40" descr="Picture 40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524460" y="2680416"/>
            <a:ext cx="171446" cy="138267"/>
          </a:xfrm>
          <a:prstGeom prst="rect">
            <a:avLst/>
          </a:prstGeom>
          <a:ln w="12700">
            <a:miter lim="400000"/>
          </a:ln>
        </p:spPr>
      </p:pic>
      <p:sp>
        <p:nvSpPr>
          <p:cNvPr id="457" name="TextBox 41"/>
          <p:cNvSpPr txBox="1"/>
          <p:nvPr/>
        </p:nvSpPr>
        <p:spPr>
          <a:xfrm>
            <a:off x="6676093" y="2623247"/>
            <a:ext cx="671704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텔레메트리</a:t>
            </a:r>
          </a:p>
        </p:txBody>
      </p:sp>
      <p:sp>
        <p:nvSpPr>
          <p:cNvPr id="458" name="Rounded Rectangle 42"/>
          <p:cNvSpPr/>
          <p:nvPr/>
        </p:nvSpPr>
        <p:spPr>
          <a:xfrm>
            <a:off x="7534085" y="2587625"/>
            <a:ext cx="742932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59" name="Picture 43" descr="Picture 43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7676957" y="2680416"/>
            <a:ext cx="171446" cy="138267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TextBox 44"/>
          <p:cNvSpPr txBox="1"/>
          <p:nvPr/>
        </p:nvSpPr>
        <p:spPr>
          <a:xfrm>
            <a:off x="7828588" y="2623247"/>
            <a:ext cx="342139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로깅</a:t>
            </a:r>
          </a:p>
        </p:txBody>
      </p:sp>
      <p:sp>
        <p:nvSpPr>
          <p:cNvPr id="461" name="Rounded Rectangle 45"/>
          <p:cNvSpPr/>
          <p:nvPr/>
        </p:nvSpPr>
        <p:spPr>
          <a:xfrm>
            <a:off x="761979" y="3241673"/>
            <a:ext cx="5238620" cy="1416053"/>
          </a:xfrm>
          <a:prstGeom prst="roundRect">
            <a:avLst>
              <a:gd name="adj" fmla="val 16142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Rounded Rectangle 46"/>
          <p:cNvSpPr/>
          <p:nvPr/>
        </p:nvSpPr>
        <p:spPr>
          <a:xfrm>
            <a:off x="952475" y="3305173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63" name="Picture 47" descr="Picture 47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057247" y="3438938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TextBox 48"/>
          <p:cNvSpPr txBox="1"/>
          <p:nvPr/>
        </p:nvSpPr>
        <p:spPr>
          <a:xfrm>
            <a:off x="1589872" y="3395156"/>
            <a:ext cx="1490160" cy="29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500">
                <a:solidFill>
                  <a:srgbClr val="90CAF9"/>
                </a:solidFill>
              </a:defRPr>
            </a:lvl1pPr>
          </a:lstStyle>
          <a:p>
            <a:pPr/>
            <a:r>
              <a:t>Application Layer</a:t>
            </a:r>
          </a:p>
        </p:txBody>
      </p:sp>
      <p:sp>
        <p:nvSpPr>
          <p:cNvPr id="465" name="TextBox 49"/>
          <p:cNvSpPr txBox="1"/>
          <p:nvPr/>
        </p:nvSpPr>
        <p:spPr>
          <a:xfrm>
            <a:off x="1466064" y="3690048"/>
            <a:ext cx="3136936" cy="287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3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엔진과 비즈니스 로직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을 오케스트레이션하는 계층 </a:t>
            </a:r>
          </a:p>
        </p:txBody>
      </p:sp>
      <p:sp>
        <p:nvSpPr>
          <p:cNvPr id="466" name="Rounded Rectangle 50"/>
          <p:cNvSpPr/>
          <p:nvPr/>
        </p:nvSpPr>
        <p:spPr>
          <a:xfrm>
            <a:off x="952475" y="4064000"/>
            <a:ext cx="1447765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67" name="Picture 51" descr="Picture 51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1219820" y="4140200"/>
            <a:ext cx="779726" cy="171450"/>
          </a:xfrm>
          <a:prstGeom prst="rect">
            <a:avLst/>
          </a:prstGeom>
          <a:ln w="12700">
            <a:miter lim="400000"/>
          </a:ln>
        </p:spPr>
      </p:pic>
      <p:sp>
        <p:nvSpPr>
          <p:cNvPr id="468" name="TextBox 52"/>
          <p:cNvSpPr txBox="1"/>
          <p:nvPr/>
        </p:nvSpPr>
        <p:spPr>
          <a:xfrm>
            <a:off x="1253306" y="4085651"/>
            <a:ext cx="1071839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에이전트 실행 엔진</a:t>
            </a:r>
          </a:p>
        </p:txBody>
      </p:sp>
      <p:sp>
        <p:nvSpPr>
          <p:cNvPr id="469" name="Rounded Rectangle 53"/>
          <p:cNvSpPr/>
          <p:nvPr/>
        </p:nvSpPr>
        <p:spPr>
          <a:xfrm>
            <a:off x="2466890" y="4064000"/>
            <a:ext cx="1304893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70" name="Picture 54" descr="Picture 5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609762" y="4162321"/>
            <a:ext cx="171446" cy="127205"/>
          </a:xfrm>
          <a:prstGeom prst="rect">
            <a:avLst/>
          </a:prstGeom>
          <a:ln w="12700">
            <a:miter lim="400000"/>
          </a:ln>
        </p:spPr>
      </p:pic>
      <p:sp>
        <p:nvSpPr>
          <p:cNvPr id="471" name="TextBox 55"/>
          <p:cNvSpPr txBox="1"/>
          <p:nvPr/>
        </p:nvSpPr>
        <p:spPr>
          <a:xfrm>
            <a:off x="2761393" y="4085651"/>
            <a:ext cx="926699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가이드라인 매칭</a:t>
            </a:r>
          </a:p>
        </p:txBody>
      </p:sp>
      <p:sp>
        <p:nvSpPr>
          <p:cNvPr id="472" name="Rounded Rectangle 56"/>
          <p:cNvSpPr/>
          <p:nvPr/>
        </p:nvSpPr>
        <p:spPr>
          <a:xfrm>
            <a:off x="3867031" y="4064000"/>
            <a:ext cx="990576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73" name="Picture 57" descr="Picture 5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009902" y="4156790"/>
            <a:ext cx="171446" cy="138267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TextBox 58"/>
          <p:cNvSpPr txBox="1"/>
          <p:nvPr/>
        </p:nvSpPr>
        <p:spPr>
          <a:xfrm>
            <a:off x="4161533" y="4085651"/>
            <a:ext cx="597134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여정 실행</a:t>
            </a:r>
          </a:p>
        </p:txBody>
      </p:sp>
      <p:sp>
        <p:nvSpPr>
          <p:cNvPr id="475" name="Rounded Rectangle 59"/>
          <p:cNvSpPr/>
          <p:nvPr/>
        </p:nvSpPr>
        <p:spPr>
          <a:xfrm>
            <a:off x="4973366" y="4058115"/>
            <a:ext cx="990576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76" name="Picture 60" descr="Picture 60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5116237" y="4139845"/>
            <a:ext cx="171446" cy="160389"/>
          </a:xfrm>
          <a:prstGeom prst="rect">
            <a:avLst/>
          </a:prstGeom>
          <a:ln w="12700">
            <a:miter lim="400000"/>
          </a:ln>
        </p:spPr>
      </p:pic>
      <p:sp>
        <p:nvSpPr>
          <p:cNvPr id="477" name="TextBox 61"/>
          <p:cNvSpPr txBox="1"/>
          <p:nvPr/>
        </p:nvSpPr>
        <p:spPr>
          <a:xfrm>
            <a:off x="5267869" y="4079766"/>
            <a:ext cx="597133" cy="27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상태 관리</a:t>
            </a:r>
          </a:p>
        </p:txBody>
      </p:sp>
      <p:sp>
        <p:nvSpPr>
          <p:cNvPr id="478" name="Rounded Rectangle 62"/>
          <p:cNvSpPr/>
          <p:nvPr/>
        </p:nvSpPr>
        <p:spPr>
          <a:xfrm>
            <a:off x="6191094" y="3241673"/>
            <a:ext cx="5238620" cy="1416053"/>
          </a:xfrm>
          <a:prstGeom prst="roundRect">
            <a:avLst>
              <a:gd name="adj" fmla="val 16142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Rounded Rectangle 63"/>
          <p:cNvSpPr/>
          <p:nvPr/>
        </p:nvSpPr>
        <p:spPr>
          <a:xfrm>
            <a:off x="6381589" y="3305173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80" name="Picture 64" descr="Picture 64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486361" y="3418645"/>
            <a:ext cx="266694" cy="249307"/>
          </a:xfrm>
          <a:prstGeom prst="rect">
            <a:avLst/>
          </a:prstGeom>
          <a:ln w="12700">
            <a:miter lim="400000"/>
          </a:ln>
        </p:spPr>
      </p:pic>
      <p:sp>
        <p:nvSpPr>
          <p:cNvPr id="481" name="TextBox 65"/>
          <p:cNvSpPr txBox="1"/>
          <p:nvPr/>
        </p:nvSpPr>
        <p:spPr>
          <a:xfrm>
            <a:off x="7018987" y="3395156"/>
            <a:ext cx="855965" cy="29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500">
                <a:solidFill>
                  <a:srgbClr val="90CAF9"/>
                </a:solidFill>
              </a:defRPr>
            </a:lvl1pPr>
          </a:lstStyle>
          <a:p>
            <a:pPr/>
            <a:r>
              <a:t>API Layer</a:t>
            </a:r>
          </a:p>
        </p:txBody>
      </p:sp>
      <p:sp>
        <p:nvSpPr>
          <p:cNvPr id="482" name="TextBox 66"/>
          <p:cNvSpPr txBox="1"/>
          <p:nvPr/>
        </p:nvSpPr>
        <p:spPr>
          <a:xfrm>
            <a:off x="6895177" y="3690048"/>
            <a:ext cx="2927006" cy="287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3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REST API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를 통해 외부 시스템과 통신하는 계층 </a:t>
            </a:r>
          </a:p>
        </p:txBody>
      </p:sp>
      <p:sp>
        <p:nvSpPr>
          <p:cNvPr id="483" name="Rounded Rectangle 67"/>
          <p:cNvSpPr/>
          <p:nvPr/>
        </p:nvSpPr>
        <p:spPr>
          <a:xfrm>
            <a:off x="6381589" y="4064000"/>
            <a:ext cx="923902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84" name="Picture 68" descr="Picture 68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6524460" y="4156790"/>
            <a:ext cx="171446" cy="138267"/>
          </a:xfrm>
          <a:prstGeom prst="rect">
            <a:avLst/>
          </a:prstGeom>
          <a:ln w="12700">
            <a:miter lim="400000"/>
          </a:ln>
        </p:spPr>
      </p:pic>
      <p:sp>
        <p:nvSpPr>
          <p:cNvPr id="485" name="TextBox 69"/>
          <p:cNvSpPr txBox="1"/>
          <p:nvPr/>
        </p:nvSpPr>
        <p:spPr>
          <a:xfrm>
            <a:off x="6676093" y="4110462"/>
            <a:ext cx="500080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FastAPI</a:t>
            </a:r>
          </a:p>
        </p:txBody>
      </p:sp>
      <p:sp>
        <p:nvSpPr>
          <p:cNvPr id="486" name="Rounded Rectangle 70"/>
          <p:cNvSpPr/>
          <p:nvPr/>
        </p:nvSpPr>
        <p:spPr>
          <a:xfrm>
            <a:off x="7400738" y="4064000"/>
            <a:ext cx="1057249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87" name="Picture 71" descr="Picture 71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7543610" y="4162321"/>
            <a:ext cx="171446" cy="127205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TextBox 72"/>
          <p:cNvSpPr txBox="1"/>
          <p:nvPr/>
        </p:nvSpPr>
        <p:spPr>
          <a:xfrm>
            <a:off x="7695242" y="4102797"/>
            <a:ext cx="671704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엔드포인트</a:t>
            </a:r>
          </a:p>
        </p:txBody>
      </p:sp>
      <p:sp>
        <p:nvSpPr>
          <p:cNvPr id="489" name="Rounded Rectangle 73"/>
          <p:cNvSpPr/>
          <p:nvPr/>
        </p:nvSpPr>
        <p:spPr>
          <a:xfrm>
            <a:off x="8553236" y="4064000"/>
            <a:ext cx="742932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90" name="Picture 74" descr="Picture 74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8696107" y="4145729"/>
            <a:ext cx="171446" cy="160389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TextBox 75"/>
          <p:cNvSpPr txBox="1"/>
          <p:nvPr/>
        </p:nvSpPr>
        <p:spPr>
          <a:xfrm>
            <a:off x="8847738" y="4102797"/>
            <a:ext cx="342139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인증</a:t>
            </a:r>
          </a:p>
        </p:txBody>
      </p:sp>
      <p:sp>
        <p:nvSpPr>
          <p:cNvPr id="492" name="Rounded Rectangle 76"/>
          <p:cNvSpPr/>
          <p:nvPr/>
        </p:nvSpPr>
        <p:spPr>
          <a:xfrm>
            <a:off x="9391415" y="4064000"/>
            <a:ext cx="990576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93" name="Picture 77" descr="Picture 77"/>
          <p:cNvPicPr>
            <a:picLocks noChangeAspect="1"/>
          </p:cNvPicPr>
          <p:nvPr/>
        </p:nvPicPr>
        <p:blipFill>
          <a:blip r:embed="rId22">
            <a:extLst/>
          </a:blip>
          <a:stretch>
            <a:fillRect/>
          </a:stretch>
        </p:blipFill>
        <p:spPr>
          <a:xfrm>
            <a:off x="9534286" y="4163705"/>
            <a:ext cx="171446" cy="124440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TextBox 78"/>
          <p:cNvSpPr txBox="1"/>
          <p:nvPr/>
        </p:nvSpPr>
        <p:spPr>
          <a:xfrm>
            <a:off x="9685918" y="4098351"/>
            <a:ext cx="597133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속도 제한</a:t>
            </a:r>
          </a:p>
        </p:txBody>
      </p:sp>
      <p:sp>
        <p:nvSpPr>
          <p:cNvPr id="495" name="Rounded Rectangle 79"/>
          <p:cNvSpPr/>
          <p:nvPr/>
        </p:nvSpPr>
        <p:spPr>
          <a:xfrm>
            <a:off x="10543933" y="4063999"/>
            <a:ext cx="828655" cy="323851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96" name="Picture 80" descr="Picture 80"/>
          <p:cNvPicPr>
            <a:picLocks noChangeAspect="1"/>
          </p:cNvPicPr>
          <p:nvPr/>
        </p:nvPicPr>
        <p:blipFill>
          <a:blip r:embed="rId23">
            <a:extLst/>
          </a:blip>
          <a:stretch>
            <a:fillRect/>
          </a:stretch>
        </p:blipFill>
        <p:spPr>
          <a:xfrm>
            <a:off x="10686803" y="4170617"/>
            <a:ext cx="171446" cy="110613"/>
          </a:xfrm>
          <a:prstGeom prst="rect">
            <a:avLst/>
          </a:prstGeom>
          <a:ln w="12700">
            <a:miter lim="400000"/>
          </a:ln>
        </p:spPr>
      </p:pic>
      <p:sp>
        <p:nvSpPr>
          <p:cNvPr id="497" name="TextBox 81"/>
          <p:cNvSpPr txBox="1"/>
          <p:nvPr/>
        </p:nvSpPr>
        <p:spPr>
          <a:xfrm>
            <a:off x="10838436" y="4110461"/>
            <a:ext cx="398753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CORS</a:t>
            </a:r>
          </a:p>
        </p:txBody>
      </p:sp>
      <p:sp>
        <p:nvSpPr>
          <p:cNvPr id="498" name="Rounded Rectangle 82"/>
          <p:cNvSpPr/>
          <p:nvPr/>
        </p:nvSpPr>
        <p:spPr>
          <a:xfrm>
            <a:off x="755783" y="4804189"/>
            <a:ext cx="10667734" cy="1283054"/>
          </a:xfrm>
          <a:prstGeom prst="roundRect">
            <a:avLst>
              <a:gd name="adj" fmla="val 17816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Rounded Rectangle 83"/>
          <p:cNvSpPr/>
          <p:nvPr/>
        </p:nvSpPr>
        <p:spPr>
          <a:xfrm>
            <a:off x="946279" y="4867690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00" name="Picture 84" descr="Picture 84"/>
          <p:cNvPicPr>
            <a:picLocks noChangeAspect="1"/>
          </p:cNvPicPr>
          <p:nvPr/>
        </p:nvPicPr>
        <p:blipFill>
          <a:blip r:embed="rId24">
            <a:extLst/>
          </a:blip>
          <a:stretch>
            <a:fillRect/>
          </a:stretch>
        </p:blipFill>
        <p:spPr>
          <a:xfrm>
            <a:off x="1051051" y="5033342"/>
            <a:ext cx="266694" cy="144946"/>
          </a:xfrm>
          <a:prstGeom prst="rect">
            <a:avLst/>
          </a:prstGeom>
          <a:ln w="12700">
            <a:miter lim="400000"/>
          </a:ln>
        </p:spPr>
      </p:pic>
      <p:sp>
        <p:nvSpPr>
          <p:cNvPr id="501" name="TextBox 85"/>
          <p:cNvSpPr txBox="1"/>
          <p:nvPr/>
        </p:nvSpPr>
        <p:spPr>
          <a:xfrm>
            <a:off x="1583676" y="4957672"/>
            <a:ext cx="902660" cy="29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500">
                <a:solidFill>
                  <a:srgbClr val="90CAF9"/>
                </a:solidFill>
              </a:defRPr>
            </a:lvl1pPr>
          </a:lstStyle>
          <a:p>
            <a:pPr/>
            <a:r>
              <a:t>SDK Layer</a:t>
            </a:r>
          </a:p>
        </p:txBody>
      </p:sp>
      <p:sp>
        <p:nvSpPr>
          <p:cNvPr id="502" name="TextBox 86"/>
          <p:cNvSpPr txBox="1"/>
          <p:nvPr/>
        </p:nvSpPr>
        <p:spPr>
          <a:xfrm>
            <a:off x="1459867" y="5252563"/>
            <a:ext cx="3464466" cy="287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3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사용자 친화적인 </a:t>
            </a:r>
            <a:r>
              <a:rPr>
                <a:solidFill>
                  <a:srgbClr val="FFD54F"/>
                </a:solidFill>
              </a:rPr>
              <a:t>Python API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프레임워크 기능에 접근 </a:t>
            </a:r>
          </a:p>
        </p:txBody>
      </p:sp>
      <p:sp>
        <p:nvSpPr>
          <p:cNvPr id="503" name="Rounded Rectangle 87"/>
          <p:cNvSpPr/>
          <p:nvPr/>
        </p:nvSpPr>
        <p:spPr>
          <a:xfrm>
            <a:off x="946279" y="5588415"/>
            <a:ext cx="1123922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04" name="Picture 88" descr="Picture 88"/>
          <p:cNvPicPr>
            <a:picLocks noChangeAspect="1"/>
          </p:cNvPicPr>
          <p:nvPr/>
        </p:nvPicPr>
        <p:blipFill>
          <a:blip r:embed="rId25">
            <a:extLst/>
          </a:blip>
          <a:stretch>
            <a:fillRect/>
          </a:stretch>
        </p:blipFill>
        <p:spPr>
          <a:xfrm>
            <a:off x="1089150" y="5700564"/>
            <a:ext cx="171446" cy="99552"/>
          </a:xfrm>
          <a:prstGeom prst="rect">
            <a:avLst/>
          </a:prstGeom>
          <a:ln w="12700">
            <a:miter lim="400000"/>
          </a:ln>
        </p:spPr>
      </p:pic>
      <p:sp>
        <p:nvSpPr>
          <p:cNvPr id="505" name="TextBox 89"/>
          <p:cNvSpPr txBox="1"/>
          <p:nvPr/>
        </p:nvSpPr>
        <p:spPr>
          <a:xfrm>
            <a:off x="1278882" y="5631702"/>
            <a:ext cx="689650" cy="24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Python API</a:t>
            </a:r>
          </a:p>
        </p:txBody>
      </p:sp>
      <p:sp>
        <p:nvSpPr>
          <p:cNvPr id="506" name="Rounded Rectangle 90"/>
          <p:cNvSpPr/>
          <p:nvPr/>
        </p:nvSpPr>
        <p:spPr>
          <a:xfrm>
            <a:off x="2165448" y="5588415"/>
            <a:ext cx="1514438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07" name="Picture 91" descr="Picture 91"/>
          <p:cNvPicPr>
            <a:picLocks noChangeAspect="1"/>
          </p:cNvPicPr>
          <p:nvPr/>
        </p:nvPicPr>
        <p:blipFill>
          <a:blip r:embed="rId26">
            <a:extLst/>
          </a:blip>
          <a:stretch>
            <a:fillRect/>
          </a:stretch>
        </p:blipFill>
        <p:spPr>
          <a:xfrm>
            <a:off x="2308320" y="5686737"/>
            <a:ext cx="171446" cy="127205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TextBox 92"/>
          <p:cNvSpPr txBox="1"/>
          <p:nvPr/>
        </p:nvSpPr>
        <p:spPr>
          <a:xfrm>
            <a:off x="2498051" y="5624038"/>
            <a:ext cx="1114406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@p.tool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데코레이터</a:t>
            </a:r>
          </a:p>
        </p:txBody>
      </p:sp>
      <p:sp>
        <p:nvSpPr>
          <p:cNvPr id="509" name="Rounded Rectangle 93"/>
          <p:cNvSpPr/>
          <p:nvPr/>
        </p:nvSpPr>
        <p:spPr>
          <a:xfrm>
            <a:off x="3775133" y="5588415"/>
            <a:ext cx="1733507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10" name="Picture 94" descr="Picture 94"/>
          <p:cNvPicPr>
            <a:picLocks noChangeAspect="1"/>
          </p:cNvPicPr>
          <p:nvPr/>
        </p:nvPicPr>
        <p:blipFill>
          <a:blip r:embed="rId27">
            <a:extLst/>
          </a:blip>
          <a:stretch>
            <a:fillRect/>
          </a:stretch>
        </p:blipFill>
        <p:spPr>
          <a:xfrm>
            <a:off x="3918004" y="5686737"/>
            <a:ext cx="171446" cy="127205"/>
          </a:xfrm>
          <a:prstGeom prst="rect">
            <a:avLst/>
          </a:prstGeom>
          <a:ln w="12700">
            <a:miter lim="400000"/>
          </a:ln>
        </p:spPr>
      </p:pic>
      <p:sp>
        <p:nvSpPr>
          <p:cNvPr id="511" name="TextBox 95"/>
          <p:cNvSpPr txBox="1"/>
          <p:nvPr/>
        </p:nvSpPr>
        <p:spPr>
          <a:xfrm>
            <a:off x="4107736" y="5624038"/>
            <a:ext cx="1315137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async/await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인터페이스</a:t>
            </a:r>
          </a:p>
        </p:txBody>
      </p:sp>
      <p:sp>
        <p:nvSpPr>
          <p:cNvPr id="512" name="Rounded Rectangle 96"/>
          <p:cNvSpPr/>
          <p:nvPr/>
        </p:nvSpPr>
        <p:spPr>
          <a:xfrm>
            <a:off x="5603887" y="5588415"/>
            <a:ext cx="1304893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13" name="Picture 97" descr="Picture 9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746759" y="5670145"/>
            <a:ext cx="171446" cy="160389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TextBox 98"/>
          <p:cNvSpPr txBox="1"/>
          <p:nvPr/>
        </p:nvSpPr>
        <p:spPr>
          <a:xfrm>
            <a:off x="5936490" y="5619591"/>
            <a:ext cx="926698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컨텍스트 매니저</a:t>
            </a:r>
          </a:p>
        </p:txBody>
      </p:sp>
      <p:sp>
        <p:nvSpPr>
          <p:cNvPr id="515" name="Rounded Rectangle 99"/>
          <p:cNvSpPr/>
          <p:nvPr/>
        </p:nvSpPr>
        <p:spPr>
          <a:xfrm>
            <a:off x="7004027" y="5588415"/>
            <a:ext cx="1095348" cy="32385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16" name="Picture 100" descr="Picture 100"/>
          <p:cNvPicPr>
            <a:picLocks noChangeAspect="1"/>
          </p:cNvPicPr>
          <p:nvPr/>
        </p:nvPicPr>
        <p:blipFill>
          <a:blip r:embed="rId28">
            <a:extLst/>
          </a:blip>
          <a:stretch>
            <a:fillRect/>
          </a:stretch>
        </p:blipFill>
        <p:spPr>
          <a:xfrm>
            <a:off x="7146899" y="5675676"/>
            <a:ext cx="171446" cy="149328"/>
          </a:xfrm>
          <a:prstGeom prst="rect">
            <a:avLst/>
          </a:prstGeom>
          <a:ln w="12700">
            <a:miter lim="400000"/>
          </a:ln>
        </p:spPr>
      </p:pic>
      <p:sp>
        <p:nvSpPr>
          <p:cNvPr id="517" name="TextBox 101"/>
          <p:cNvSpPr txBox="1"/>
          <p:nvPr/>
        </p:nvSpPr>
        <p:spPr>
          <a:xfrm>
            <a:off x="7336630" y="5619591"/>
            <a:ext cx="706989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간편한 통합</a:t>
            </a:r>
          </a:p>
        </p:txBody>
      </p:sp>
      <p:sp>
        <p:nvSpPr>
          <p:cNvPr id="518" name="TextBox 102"/>
          <p:cNvSpPr txBox="1"/>
          <p:nvPr/>
        </p:nvSpPr>
        <p:spPr>
          <a:xfrm>
            <a:off x="11261736" y="7951183"/>
            <a:ext cx="149690" cy="204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pPr/>
            <a:r>
              <a:t>]</a:t>
            </a:r>
          </a:p>
        </p:txBody>
      </p:sp>
      <p:sp>
        <p:nvSpPr>
          <p:cNvPr id="519" name="슬라이드 번호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20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346" y="4143567"/>
            <a:ext cx="171446" cy="1437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Box 1"/>
          <p:cNvSpPr txBox="1"/>
          <p:nvPr/>
        </p:nvSpPr>
        <p:spPr>
          <a:xfrm>
            <a:off x="780267" y="484247"/>
            <a:ext cx="8422507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주요 컴포넌트 </a:t>
            </a:r>
            <a:r>
              <a:t>- Session Events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</a:t>
            </a:r>
            <a:r>
              <a:t>Composition Modes</a:t>
            </a:r>
          </a:p>
        </p:txBody>
      </p:sp>
      <p:sp>
        <p:nvSpPr>
          <p:cNvPr id="523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26929"/>
            <a:ext cx="304793" cy="260839"/>
          </a:xfrm>
          <a:prstGeom prst="rect">
            <a:avLst/>
          </a:prstGeom>
          <a:ln w="12700">
            <a:miter lim="400000"/>
          </a:ln>
        </p:spPr>
      </p:pic>
      <p:sp>
        <p:nvSpPr>
          <p:cNvPr id="525" name="TextBox 4"/>
          <p:cNvSpPr txBox="1"/>
          <p:nvPr/>
        </p:nvSpPr>
        <p:spPr>
          <a:xfrm>
            <a:off x="1427948" y="1478115"/>
            <a:ext cx="1652011" cy="35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</a:defRPr>
            </a:lvl1pPr>
          </a:lstStyle>
          <a:p>
            <a:pPr/>
            <a:r>
              <a:t>Session Events</a:t>
            </a:r>
          </a:p>
        </p:txBody>
      </p:sp>
      <p:sp>
        <p:nvSpPr>
          <p:cNvPr id="526" name="TextBox 5"/>
          <p:cNvSpPr txBox="1"/>
          <p:nvPr/>
        </p:nvSpPr>
        <p:spPr>
          <a:xfrm>
            <a:off x="780268" y="2136202"/>
            <a:ext cx="4006277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모든 상호작용을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이벤트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기록하여 대화 흐름 추적 </a:t>
            </a:r>
          </a:p>
        </p:txBody>
      </p:sp>
      <p:sp>
        <p:nvSpPr>
          <p:cNvPr id="527" name="Rounded Rectangle 6"/>
          <p:cNvSpPr/>
          <p:nvPr/>
        </p:nvSpPr>
        <p:spPr>
          <a:xfrm>
            <a:off x="761979" y="2628900"/>
            <a:ext cx="5143372" cy="1419225"/>
          </a:xfrm>
          <a:prstGeom prst="roundRect">
            <a:avLst>
              <a:gd name="adj" fmla="val 13422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TextBox 7"/>
          <p:cNvSpPr txBox="1"/>
          <p:nvPr/>
        </p:nvSpPr>
        <p:spPr>
          <a:xfrm>
            <a:off x="910440" y="2724528"/>
            <a:ext cx="2329885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90CAF9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EventSource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이벤트 출처</a:t>
            </a:r>
            <a:r>
              <a:t>) </a:t>
            </a:r>
          </a:p>
        </p:txBody>
      </p:sp>
      <p:pic>
        <p:nvPicPr>
          <p:cNvPr id="529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4852" y="2812731"/>
            <a:ext cx="228595" cy="165735"/>
          </a:xfrm>
          <a:prstGeom prst="rect">
            <a:avLst/>
          </a:prstGeom>
          <a:ln w="12700">
            <a:miter lim="400000"/>
          </a:ln>
        </p:spPr>
      </p:pic>
      <p:sp>
        <p:nvSpPr>
          <p:cNvPr id="530" name="Rounded Rectangle 9"/>
          <p:cNvSpPr/>
          <p:nvPr/>
        </p:nvSpPr>
        <p:spPr>
          <a:xfrm>
            <a:off x="904852" y="3124200"/>
            <a:ext cx="1228695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31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47722" y="3241571"/>
            <a:ext cx="171446" cy="127205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TextBox 11"/>
          <p:cNvSpPr txBox="1"/>
          <p:nvPr/>
        </p:nvSpPr>
        <p:spPr>
          <a:xfrm>
            <a:off x="1237454" y="3172250"/>
            <a:ext cx="711045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33" name="Rounded Rectangle 12"/>
          <p:cNvSpPr/>
          <p:nvPr/>
        </p:nvSpPr>
        <p:spPr>
          <a:xfrm>
            <a:off x="2228793" y="3124200"/>
            <a:ext cx="1152498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34" name="Picture 13" descr="Picture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371664" y="3233276"/>
            <a:ext cx="171446" cy="143797"/>
          </a:xfrm>
          <a:prstGeom prst="rect">
            <a:avLst/>
          </a:prstGeom>
          <a:ln w="12700">
            <a:miter lim="400000"/>
          </a:ln>
        </p:spPr>
      </p:pic>
      <p:sp>
        <p:nvSpPr>
          <p:cNvPr id="535" name="TextBox 14"/>
          <p:cNvSpPr txBox="1"/>
          <p:nvPr/>
        </p:nvSpPr>
        <p:spPr>
          <a:xfrm>
            <a:off x="2561396" y="3172250"/>
            <a:ext cx="649715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AI_AGENT</a:t>
            </a:r>
          </a:p>
        </p:txBody>
      </p:sp>
      <p:sp>
        <p:nvSpPr>
          <p:cNvPr id="536" name="Rounded Rectangle 15"/>
          <p:cNvSpPr/>
          <p:nvPr/>
        </p:nvSpPr>
        <p:spPr>
          <a:xfrm>
            <a:off x="3486062" y="3124200"/>
            <a:ext cx="1514438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37" name="Picture 16" descr="Picture 1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628933" y="3236041"/>
            <a:ext cx="171446" cy="138267"/>
          </a:xfrm>
          <a:prstGeom prst="rect">
            <a:avLst/>
          </a:prstGeom>
          <a:ln w="12700">
            <a:miter lim="400000"/>
          </a:ln>
        </p:spPr>
      </p:pic>
      <p:sp>
        <p:nvSpPr>
          <p:cNvPr id="538" name="TextBox 17"/>
          <p:cNvSpPr txBox="1"/>
          <p:nvPr/>
        </p:nvSpPr>
        <p:spPr>
          <a:xfrm>
            <a:off x="3818666" y="3172250"/>
            <a:ext cx="968889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HUMAN_AGENT</a:t>
            </a:r>
          </a:p>
        </p:txBody>
      </p:sp>
      <p:sp>
        <p:nvSpPr>
          <p:cNvPr id="539" name="Rounded Rectangle 18"/>
          <p:cNvSpPr/>
          <p:nvPr/>
        </p:nvSpPr>
        <p:spPr>
          <a:xfrm>
            <a:off x="904852" y="3562348"/>
            <a:ext cx="1438239" cy="342901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40" name="Picture 19" descr="Picture 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62582" y="3657600"/>
            <a:ext cx="141729" cy="171450"/>
          </a:xfrm>
          <a:prstGeom prst="rect">
            <a:avLst/>
          </a:prstGeom>
          <a:ln w="12700">
            <a:miter lim="400000"/>
          </a:ln>
        </p:spPr>
      </p:pic>
      <p:sp>
        <p:nvSpPr>
          <p:cNvPr id="541" name="TextBox 20"/>
          <p:cNvSpPr txBox="1"/>
          <p:nvPr/>
        </p:nvSpPr>
        <p:spPr>
          <a:xfrm>
            <a:off x="1237454" y="3610400"/>
            <a:ext cx="887778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CUSTOMER_UI</a:t>
            </a:r>
          </a:p>
        </p:txBody>
      </p:sp>
      <p:sp>
        <p:nvSpPr>
          <p:cNvPr id="542" name="Rounded Rectangle 21"/>
          <p:cNvSpPr/>
          <p:nvPr/>
        </p:nvSpPr>
        <p:spPr>
          <a:xfrm>
            <a:off x="2438338" y="3562348"/>
            <a:ext cx="1019150" cy="342901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43" name="Picture 22" descr="Picture 2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581210" y="3668660"/>
            <a:ext cx="171446" cy="149328"/>
          </a:xfrm>
          <a:prstGeom prst="rect">
            <a:avLst/>
          </a:prstGeom>
          <a:ln w="12700">
            <a:miter lim="400000"/>
          </a:ln>
        </p:spPr>
      </p:pic>
      <p:sp>
        <p:nvSpPr>
          <p:cNvPr id="544" name="TextBox 23"/>
          <p:cNvSpPr txBox="1"/>
          <p:nvPr/>
        </p:nvSpPr>
        <p:spPr>
          <a:xfrm>
            <a:off x="2770942" y="3610400"/>
            <a:ext cx="530342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SYSTEM</a:t>
            </a:r>
          </a:p>
        </p:txBody>
      </p:sp>
      <p:sp>
        <p:nvSpPr>
          <p:cNvPr id="545" name="Rounded Rectangle 24"/>
          <p:cNvSpPr/>
          <p:nvPr/>
        </p:nvSpPr>
        <p:spPr>
          <a:xfrm>
            <a:off x="761979" y="4190998"/>
            <a:ext cx="5143372" cy="1447801"/>
          </a:xfrm>
          <a:prstGeom prst="roundRect">
            <a:avLst>
              <a:gd name="adj" fmla="val 13158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TextBox 25"/>
          <p:cNvSpPr txBox="1"/>
          <p:nvPr/>
        </p:nvSpPr>
        <p:spPr>
          <a:xfrm>
            <a:off x="910440" y="4286628"/>
            <a:ext cx="2145710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700"/>
              </a:spcBef>
              <a:defRPr sz="1500">
                <a:solidFill>
                  <a:srgbClr val="90CAF9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EventKind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이벤트 종류</a:t>
            </a:r>
            <a:r>
              <a:t>) </a:t>
            </a:r>
          </a:p>
        </p:txBody>
      </p:sp>
      <p:pic>
        <p:nvPicPr>
          <p:cNvPr id="547" name="Picture 26" descr="Picture 2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04852" y="4360545"/>
            <a:ext cx="228595" cy="194310"/>
          </a:xfrm>
          <a:prstGeom prst="rect">
            <a:avLst/>
          </a:prstGeom>
          <a:ln w="12700">
            <a:miter lim="400000"/>
          </a:ln>
        </p:spPr>
      </p:pic>
      <p:sp>
        <p:nvSpPr>
          <p:cNvPr id="548" name="Rounded Rectangle 27"/>
          <p:cNvSpPr/>
          <p:nvPr/>
        </p:nvSpPr>
        <p:spPr>
          <a:xfrm>
            <a:off x="904852" y="4686300"/>
            <a:ext cx="1123922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49" name="Picture 28" descr="Picture 2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047722" y="4792610"/>
            <a:ext cx="171446" cy="149328"/>
          </a:xfrm>
          <a:prstGeom prst="rect">
            <a:avLst/>
          </a:prstGeom>
          <a:ln w="12700">
            <a:miter lim="400000"/>
          </a:ln>
        </p:spPr>
      </p:pic>
      <p:sp>
        <p:nvSpPr>
          <p:cNvPr id="550" name="TextBox 29"/>
          <p:cNvSpPr txBox="1"/>
          <p:nvPr/>
        </p:nvSpPr>
        <p:spPr>
          <a:xfrm>
            <a:off x="1237454" y="4734350"/>
            <a:ext cx="622244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MESSAGE</a:t>
            </a:r>
          </a:p>
        </p:txBody>
      </p:sp>
      <p:sp>
        <p:nvSpPr>
          <p:cNvPr id="551" name="Rounded Rectangle 30"/>
          <p:cNvSpPr/>
          <p:nvPr/>
        </p:nvSpPr>
        <p:spPr>
          <a:xfrm>
            <a:off x="2124020" y="4686300"/>
            <a:ext cx="876279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52" name="Picture 31" descr="Picture 31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2266893" y="4784314"/>
            <a:ext cx="171446" cy="165920"/>
          </a:xfrm>
          <a:prstGeom prst="rect">
            <a:avLst/>
          </a:prstGeom>
          <a:ln w="12700">
            <a:miter lim="400000"/>
          </a:ln>
        </p:spPr>
      </p:pic>
      <p:sp>
        <p:nvSpPr>
          <p:cNvPr id="553" name="TextBox 32"/>
          <p:cNvSpPr txBox="1"/>
          <p:nvPr/>
        </p:nvSpPr>
        <p:spPr>
          <a:xfrm>
            <a:off x="2456625" y="4734350"/>
            <a:ext cx="402287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TOOL</a:t>
            </a:r>
          </a:p>
        </p:txBody>
      </p:sp>
      <p:sp>
        <p:nvSpPr>
          <p:cNvPr id="554" name="Rounded Rectangle 33"/>
          <p:cNvSpPr/>
          <p:nvPr/>
        </p:nvSpPr>
        <p:spPr>
          <a:xfrm>
            <a:off x="3105071" y="4686300"/>
            <a:ext cx="1009625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55" name="Picture 34" descr="Picture 34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247943" y="4792610"/>
            <a:ext cx="171446" cy="149328"/>
          </a:xfrm>
          <a:prstGeom prst="rect">
            <a:avLst/>
          </a:prstGeom>
          <a:ln w="12700">
            <a:miter lim="400000"/>
          </a:ln>
        </p:spPr>
      </p:pic>
      <p:sp>
        <p:nvSpPr>
          <p:cNvPr id="556" name="TextBox 35"/>
          <p:cNvSpPr txBox="1"/>
          <p:nvPr/>
        </p:nvSpPr>
        <p:spPr>
          <a:xfrm>
            <a:off x="3437675" y="4734350"/>
            <a:ext cx="497165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STATUS</a:t>
            </a:r>
          </a:p>
        </p:txBody>
      </p:sp>
      <p:sp>
        <p:nvSpPr>
          <p:cNvPr id="557" name="Rounded Rectangle 36"/>
          <p:cNvSpPr/>
          <p:nvPr/>
        </p:nvSpPr>
        <p:spPr>
          <a:xfrm>
            <a:off x="4209944" y="4686300"/>
            <a:ext cx="1066774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5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58" name="Picture 37" descr="Picture 37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4352816" y="4789844"/>
            <a:ext cx="171446" cy="154859"/>
          </a:xfrm>
          <a:prstGeom prst="rect">
            <a:avLst/>
          </a:prstGeom>
          <a:ln w="12700">
            <a:miter lim="400000"/>
          </a:ln>
        </p:spPr>
      </p:pic>
      <p:sp>
        <p:nvSpPr>
          <p:cNvPr id="559" name="TextBox 38"/>
          <p:cNvSpPr txBox="1"/>
          <p:nvPr/>
        </p:nvSpPr>
        <p:spPr>
          <a:xfrm>
            <a:off x="4542547" y="4734350"/>
            <a:ext cx="580075" cy="246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CUSTOM</a:t>
            </a:r>
          </a:p>
        </p:txBody>
      </p:sp>
      <p:sp>
        <p:nvSpPr>
          <p:cNvPr id="560" name="Rounded Rectangle 39"/>
          <p:cNvSpPr/>
          <p:nvPr/>
        </p:nvSpPr>
        <p:spPr>
          <a:xfrm>
            <a:off x="6286341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61" name="Picture 40" descr="Picture 40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6419689" y="1540118"/>
            <a:ext cx="304793" cy="234462"/>
          </a:xfrm>
          <a:prstGeom prst="rect">
            <a:avLst/>
          </a:prstGeom>
          <a:ln w="12700">
            <a:miter lim="400000"/>
          </a:ln>
        </p:spPr>
      </p:pic>
      <p:sp>
        <p:nvSpPr>
          <p:cNvPr id="562" name="TextBox 41"/>
          <p:cNvSpPr txBox="1"/>
          <p:nvPr/>
        </p:nvSpPr>
        <p:spPr>
          <a:xfrm>
            <a:off x="6952311" y="1478115"/>
            <a:ext cx="2241369" cy="35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</a:defRPr>
            </a:lvl1pPr>
          </a:lstStyle>
          <a:p>
            <a:pPr/>
            <a:r>
              <a:t>Composition Modes</a:t>
            </a:r>
          </a:p>
        </p:txBody>
      </p:sp>
      <p:sp>
        <p:nvSpPr>
          <p:cNvPr id="563" name="TextBox 42"/>
          <p:cNvSpPr txBox="1"/>
          <p:nvPr/>
        </p:nvSpPr>
        <p:spPr>
          <a:xfrm>
            <a:off x="6304629" y="2136202"/>
            <a:ext cx="4006278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에이전트의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응답 생성 방식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을 제어하여 일관성 보장 </a:t>
            </a:r>
          </a:p>
        </p:txBody>
      </p:sp>
      <p:sp>
        <p:nvSpPr>
          <p:cNvPr id="564" name="Rounded Rectangle 43"/>
          <p:cNvSpPr/>
          <p:nvPr/>
        </p:nvSpPr>
        <p:spPr>
          <a:xfrm>
            <a:off x="6286341" y="2628900"/>
            <a:ext cx="2617658" cy="1447801"/>
          </a:xfrm>
          <a:prstGeom prst="roundRect">
            <a:avLst>
              <a:gd name="adj" fmla="val 1315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" name="Rounded Rectangle 44"/>
          <p:cNvSpPr/>
          <p:nvPr/>
        </p:nvSpPr>
        <p:spPr>
          <a:xfrm>
            <a:off x="6476837" y="28193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66" name="Picture 45" descr="Picture 45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6581609" y="2998925"/>
            <a:ext cx="266694" cy="136249"/>
          </a:xfrm>
          <a:prstGeom prst="rect">
            <a:avLst/>
          </a:prstGeom>
          <a:ln w="12700">
            <a:miter lim="400000"/>
          </a:ln>
        </p:spPr>
      </p:pic>
      <p:sp>
        <p:nvSpPr>
          <p:cNvPr id="567" name="TextBox 46"/>
          <p:cNvSpPr txBox="1"/>
          <p:nvPr/>
        </p:nvSpPr>
        <p:spPr>
          <a:xfrm>
            <a:off x="7025334" y="2883981"/>
            <a:ext cx="573378" cy="29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</a:defRPr>
            </a:lvl1pPr>
          </a:lstStyle>
          <a:p>
            <a:pPr/>
            <a:r>
              <a:t>FLUID</a:t>
            </a:r>
          </a:p>
        </p:txBody>
      </p:sp>
      <p:sp>
        <p:nvSpPr>
          <p:cNvPr id="568" name="TextBox 47"/>
          <p:cNvSpPr txBox="1"/>
          <p:nvPr/>
        </p:nvSpPr>
        <p:spPr>
          <a:xfrm>
            <a:off x="6495125" y="3408424"/>
            <a:ext cx="1489768" cy="269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FFFFFF"/>
                </a:solidFill>
              </a:defRPr>
            </a:pPr>
            <a:r>
              <a:t> LLM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이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자유롭게 응답 생성</a:t>
            </a:r>
            <a:r>
              <a:t> </a:t>
            </a:r>
          </a:p>
        </p:txBody>
      </p:sp>
      <p:sp>
        <p:nvSpPr>
          <p:cNvPr id="569" name="TextBox 48"/>
          <p:cNvSpPr txBox="1"/>
          <p:nvPr/>
        </p:nvSpPr>
        <p:spPr>
          <a:xfrm>
            <a:off x="6495125" y="3669725"/>
            <a:ext cx="2054950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B0BEC5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창의적인 대화나 개방형 질문에 적합</a:t>
            </a:r>
            <a:r>
              <a:t> </a:t>
            </a:r>
          </a:p>
        </p:txBody>
      </p:sp>
      <p:pic>
        <p:nvPicPr>
          <p:cNvPr id="570" name="Picture 49" descr="Picture 49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6476837" y="3744684"/>
            <a:ext cx="152397" cy="130629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Rounded Rectangle 50"/>
          <p:cNvSpPr/>
          <p:nvPr/>
        </p:nvSpPr>
        <p:spPr>
          <a:xfrm>
            <a:off x="9015560" y="2641600"/>
            <a:ext cx="2617658" cy="1447801"/>
          </a:xfrm>
          <a:prstGeom prst="roundRect">
            <a:avLst>
              <a:gd name="adj" fmla="val 1315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2" name="Rounded Rectangle 51"/>
          <p:cNvSpPr/>
          <p:nvPr/>
        </p:nvSpPr>
        <p:spPr>
          <a:xfrm>
            <a:off x="9206056" y="28320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73" name="Picture 52" descr="Picture 52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9310828" y="2960065"/>
            <a:ext cx="266694" cy="220318"/>
          </a:xfrm>
          <a:prstGeom prst="rect">
            <a:avLst/>
          </a:prstGeom>
          <a:ln w="12700">
            <a:miter lim="400000"/>
          </a:ln>
        </p:spPr>
      </p:pic>
      <p:sp>
        <p:nvSpPr>
          <p:cNvPr id="574" name="TextBox 53"/>
          <p:cNvSpPr txBox="1"/>
          <p:nvPr/>
        </p:nvSpPr>
        <p:spPr>
          <a:xfrm>
            <a:off x="9754553" y="2896681"/>
            <a:ext cx="1174458" cy="29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</a:defRPr>
            </a:lvl1pPr>
          </a:lstStyle>
          <a:p>
            <a:pPr/>
            <a:r>
              <a:t>COMPOSITED</a:t>
            </a:r>
          </a:p>
        </p:txBody>
      </p:sp>
      <p:sp>
        <p:nvSpPr>
          <p:cNvPr id="575" name="TextBox 54"/>
          <p:cNvSpPr txBox="1"/>
          <p:nvPr/>
        </p:nvSpPr>
        <p:spPr>
          <a:xfrm>
            <a:off x="9224344" y="3411600"/>
            <a:ext cx="1865534" cy="269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준비된 응답의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톤과 스타일을 모방</a:t>
            </a:r>
            <a:r>
              <a:t> </a:t>
            </a:r>
          </a:p>
        </p:txBody>
      </p:sp>
      <p:sp>
        <p:nvSpPr>
          <p:cNvPr id="576" name="TextBox 55"/>
          <p:cNvSpPr txBox="1"/>
          <p:nvPr/>
        </p:nvSpPr>
        <p:spPr>
          <a:xfrm>
            <a:off x="9224344" y="3682426"/>
            <a:ext cx="2309945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B0BEC5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브랜드 목소리 유지가 필요한 고객 서비스</a:t>
            </a:r>
            <a:r>
              <a:t> </a:t>
            </a:r>
          </a:p>
        </p:txBody>
      </p:sp>
      <p:pic>
        <p:nvPicPr>
          <p:cNvPr id="577" name="Picture 56" descr="Picture 56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9206056" y="3747859"/>
            <a:ext cx="152397" cy="130629"/>
          </a:xfrm>
          <a:prstGeom prst="rect">
            <a:avLst/>
          </a:prstGeom>
          <a:ln w="12700">
            <a:miter lim="400000"/>
          </a:ln>
        </p:spPr>
      </p:pic>
      <p:sp>
        <p:nvSpPr>
          <p:cNvPr id="578" name="Rounded Rectangle 57"/>
          <p:cNvSpPr/>
          <p:nvPr/>
        </p:nvSpPr>
        <p:spPr>
          <a:xfrm>
            <a:off x="6243480" y="4190998"/>
            <a:ext cx="5425393" cy="1447801"/>
          </a:xfrm>
          <a:prstGeom prst="roundRect">
            <a:avLst>
              <a:gd name="adj" fmla="val 1315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Rounded Rectangle 58"/>
          <p:cNvSpPr/>
          <p:nvPr/>
        </p:nvSpPr>
        <p:spPr>
          <a:xfrm>
            <a:off x="6433976" y="43814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80" name="Picture 59" descr="Picture 59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538748" y="4494970"/>
            <a:ext cx="266694" cy="249307"/>
          </a:xfrm>
          <a:prstGeom prst="rect">
            <a:avLst/>
          </a:prstGeom>
          <a:ln w="12700">
            <a:miter lim="400000"/>
          </a:ln>
        </p:spPr>
      </p:pic>
      <p:sp>
        <p:nvSpPr>
          <p:cNvPr id="581" name="TextBox 60"/>
          <p:cNvSpPr txBox="1"/>
          <p:nvPr/>
        </p:nvSpPr>
        <p:spPr>
          <a:xfrm>
            <a:off x="6982473" y="4446082"/>
            <a:ext cx="648257" cy="29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</a:defRPr>
            </a:lvl1pPr>
          </a:lstStyle>
          <a:p>
            <a:pPr/>
            <a:r>
              <a:t>STRICT</a:t>
            </a:r>
          </a:p>
        </p:txBody>
      </p:sp>
      <p:sp>
        <p:nvSpPr>
          <p:cNvPr id="582" name="TextBox 61"/>
          <p:cNvSpPr txBox="1"/>
          <p:nvPr/>
        </p:nvSpPr>
        <p:spPr>
          <a:xfrm>
            <a:off x="6452264" y="4961000"/>
            <a:ext cx="2087692" cy="269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준비된 응답만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사용 </a:t>
            </a:r>
            <a:r>
              <a:rPr>
                <a:solidFill>
                  <a:srgbClr val="FFD54F"/>
                </a:solidFill>
              </a:rPr>
              <a:t>(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규정 준수 극대화</a:t>
            </a:r>
            <a:r>
              <a:rPr>
                <a:solidFill>
                  <a:srgbClr val="FFD54F"/>
                </a:solidFill>
              </a:rPr>
              <a:t>)</a:t>
            </a:r>
            <a:r>
              <a:t> </a:t>
            </a:r>
          </a:p>
        </p:txBody>
      </p:sp>
      <p:sp>
        <p:nvSpPr>
          <p:cNvPr id="583" name="TextBox 62"/>
          <p:cNvSpPr txBox="1"/>
          <p:nvPr/>
        </p:nvSpPr>
        <p:spPr>
          <a:xfrm>
            <a:off x="6452264" y="5222300"/>
            <a:ext cx="2200089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B0BEC5"/>
                </a:solidFill>
              </a:defRPr>
            </a:pPr>
            <a:r>
              <a:t> </a:t>
            </a:r>
            <a:r>
              <a:rPr>
                <a:solidFill>
                  <a:srgbClr val="000000"/>
                </a:solidFill>
              </a:rPr>
              <a:t>  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법률 자문이나 금융 규제가 중요한 분야</a:t>
            </a:r>
            <a:r>
              <a:t> </a:t>
            </a:r>
          </a:p>
        </p:txBody>
      </p:sp>
      <p:pic>
        <p:nvPicPr>
          <p:cNvPr id="584" name="Picture 63" descr="Picture 63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6433976" y="5297260"/>
            <a:ext cx="152397" cy="130629"/>
          </a:xfrm>
          <a:prstGeom prst="rect">
            <a:avLst/>
          </a:prstGeom>
          <a:ln w="12700">
            <a:miter lim="400000"/>
          </a:ln>
        </p:spPr>
      </p:pic>
      <p:sp>
        <p:nvSpPr>
          <p:cNvPr id="585" name="슬라이드 번호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Box 1"/>
          <p:cNvSpPr txBox="1"/>
          <p:nvPr/>
        </p:nvSpPr>
        <p:spPr>
          <a:xfrm>
            <a:off x="780267" y="484247"/>
            <a:ext cx="8056576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주요 컴포넌트 </a:t>
            </a:r>
            <a:r>
              <a:t>- Journey State Types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</a:t>
            </a:r>
            <a:r>
              <a:t>Tool Context</a:t>
            </a:r>
          </a:p>
        </p:txBody>
      </p:sp>
      <p:sp>
        <p:nvSpPr>
          <p:cNvPr id="588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8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40118"/>
            <a:ext cx="304793" cy="234462"/>
          </a:xfrm>
          <a:prstGeom prst="rect">
            <a:avLst/>
          </a:prstGeom>
          <a:ln w="12700">
            <a:miter lim="400000"/>
          </a:ln>
        </p:spPr>
      </p:pic>
      <p:sp>
        <p:nvSpPr>
          <p:cNvPr id="590" name="TextBox 4"/>
          <p:cNvSpPr txBox="1"/>
          <p:nvPr/>
        </p:nvSpPr>
        <p:spPr>
          <a:xfrm>
            <a:off x="1440648" y="1503515"/>
            <a:ext cx="2211728" cy="35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</a:defRPr>
            </a:lvl1pPr>
          </a:lstStyle>
          <a:p>
            <a:pPr/>
            <a:r>
              <a:t>Journey State Types</a:t>
            </a:r>
          </a:p>
        </p:txBody>
      </p:sp>
      <p:sp>
        <p:nvSpPr>
          <p:cNvPr id="591" name="TextBox 5"/>
          <p:cNvSpPr txBox="1"/>
          <p:nvPr/>
        </p:nvSpPr>
        <p:spPr>
          <a:xfrm>
            <a:off x="1440648" y="1892621"/>
            <a:ext cx="3841495" cy="30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여정의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상태 유형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으로 대화 흐름을 정의하고 제어 </a:t>
            </a:r>
          </a:p>
        </p:txBody>
      </p:sp>
      <p:sp>
        <p:nvSpPr>
          <p:cNvPr id="592" name="Rounded Rectangle 6"/>
          <p:cNvSpPr/>
          <p:nvPr/>
        </p:nvSpPr>
        <p:spPr>
          <a:xfrm>
            <a:off x="1394942" y="2173346"/>
            <a:ext cx="5143372" cy="1346200"/>
          </a:xfrm>
          <a:prstGeom prst="roundRect">
            <a:avLst>
              <a:gd name="adj" fmla="val 14151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3" name="Rounded Rectangle 7"/>
          <p:cNvSpPr/>
          <p:nvPr/>
        </p:nvSpPr>
        <p:spPr>
          <a:xfrm>
            <a:off x="1585438" y="2236845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94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90210" y="2371438"/>
            <a:ext cx="266694" cy="226116"/>
          </a:xfrm>
          <a:prstGeom prst="rect">
            <a:avLst/>
          </a:prstGeom>
          <a:ln w="12700">
            <a:miter lim="400000"/>
          </a:ln>
        </p:spPr>
      </p:pic>
      <p:sp>
        <p:nvSpPr>
          <p:cNvPr id="595" name="TextBox 9"/>
          <p:cNvSpPr txBox="1"/>
          <p:nvPr/>
        </p:nvSpPr>
        <p:spPr>
          <a:xfrm>
            <a:off x="2222835" y="2185155"/>
            <a:ext cx="850016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90CAF9"/>
                </a:solidFill>
              </a:defRPr>
            </a:pPr>
            <a:r>
              <a:t>Chat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상태</a:t>
            </a:r>
          </a:p>
        </p:txBody>
      </p:sp>
      <p:sp>
        <p:nvSpPr>
          <p:cNvPr id="596" name="TextBox 10"/>
          <p:cNvSpPr txBox="1"/>
          <p:nvPr/>
        </p:nvSpPr>
        <p:spPr>
          <a:xfrm>
            <a:off x="2222835" y="2517261"/>
            <a:ext cx="2311527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에이전트가 사용자와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대화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하는 상태 </a:t>
            </a:r>
          </a:p>
        </p:txBody>
      </p:sp>
      <p:sp>
        <p:nvSpPr>
          <p:cNvPr id="597" name="Rounded Rectangle 11"/>
          <p:cNvSpPr/>
          <p:nvPr/>
        </p:nvSpPr>
        <p:spPr>
          <a:xfrm>
            <a:off x="2204547" y="2807932"/>
            <a:ext cx="4143272" cy="625578"/>
          </a:xfrm>
          <a:prstGeom prst="roundRect">
            <a:avLst>
              <a:gd name="adj" fmla="val 2436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TextBox 12"/>
          <p:cNvSpPr txBox="1"/>
          <p:nvPr/>
        </p:nvSpPr>
        <p:spPr>
          <a:xfrm>
            <a:off x="2255532" y="2860402"/>
            <a:ext cx="2211728" cy="510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10000"/>
              </a:lnSpc>
              <a:spcBef>
                <a:spcPts val="700"/>
              </a:spcBef>
              <a:defRPr sz="1000">
                <a:solidFill>
                  <a:srgbClr val="E0E0E0"/>
                </a:solidFill>
              </a:defRPr>
            </a:pPr>
            <a:r>
              <a:t> greeting = journey.initial_state.chat(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700"/>
              </a:spcBef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고객에게 인사합니다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599" name="Rounded Rectangle 13"/>
          <p:cNvSpPr/>
          <p:nvPr/>
        </p:nvSpPr>
        <p:spPr>
          <a:xfrm>
            <a:off x="1394942" y="3581486"/>
            <a:ext cx="5143372" cy="1393769"/>
          </a:xfrm>
          <a:prstGeom prst="roundRect">
            <a:avLst>
              <a:gd name="adj" fmla="val 1366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Rounded Rectangle 14"/>
          <p:cNvSpPr/>
          <p:nvPr/>
        </p:nvSpPr>
        <p:spPr>
          <a:xfrm>
            <a:off x="1585438" y="3644985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01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90210" y="3755558"/>
            <a:ext cx="266694" cy="255105"/>
          </a:xfrm>
          <a:prstGeom prst="rect">
            <a:avLst/>
          </a:prstGeom>
          <a:ln w="12700">
            <a:miter lim="400000"/>
          </a:ln>
        </p:spPr>
      </p:pic>
      <p:sp>
        <p:nvSpPr>
          <p:cNvPr id="602" name="TextBox 16"/>
          <p:cNvSpPr txBox="1"/>
          <p:nvPr/>
        </p:nvSpPr>
        <p:spPr>
          <a:xfrm>
            <a:off x="2222835" y="3593295"/>
            <a:ext cx="815600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90CAF9"/>
                </a:solidFill>
              </a:defRPr>
            </a:pPr>
            <a:r>
              <a:t>Tool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상태</a:t>
            </a:r>
          </a:p>
        </p:txBody>
      </p:sp>
      <p:sp>
        <p:nvSpPr>
          <p:cNvPr id="603" name="TextBox 17"/>
          <p:cNvSpPr txBox="1"/>
          <p:nvPr/>
        </p:nvSpPr>
        <p:spPr>
          <a:xfrm>
            <a:off x="2222835" y="3925402"/>
            <a:ext cx="1388745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외부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도구 실행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상태 </a:t>
            </a:r>
          </a:p>
        </p:txBody>
      </p:sp>
      <p:sp>
        <p:nvSpPr>
          <p:cNvPr id="604" name="Rounded Rectangle 18"/>
          <p:cNvSpPr/>
          <p:nvPr/>
        </p:nvSpPr>
        <p:spPr>
          <a:xfrm>
            <a:off x="2204547" y="4192674"/>
            <a:ext cx="4143272" cy="709876"/>
          </a:xfrm>
          <a:prstGeom prst="roundRect">
            <a:avLst>
              <a:gd name="adj" fmla="val 21467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5" name="TextBox 19"/>
          <p:cNvSpPr txBox="1"/>
          <p:nvPr/>
        </p:nvSpPr>
        <p:spPr>
          <a:xfrm>
            <a:off x="2229097" y="4227047"/>
            <a:ext cx="2647289" cy="641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10000"/>
              </a:lnSpc>
              <a:spcBef>
                <a:spcPts val="700"/>
              </a:spcBef>
              <a:defRPr sz="1000">
                <a:solidFill>
                  <a:srgbClr val="E0E0E0"/>
                </a:solidFill>
              </a:defRPr>
            </a:pPr>
            <a:r>
              <a:t> availability_check = date_request.tool(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700"/>
              </a:spcBef>
              <a:defRPr sz="1000">
                <a:solidFill>
                  <a:srgbClr val="E0E0E0"/>
                </a:solidFill>
              </a:defRPr>
            </a:pPr>
            <a:r>
              <a:t> tool_name=</a:t>
            </a:r>
            <a:r>
              <a:rPr>
                <a:solidFill>
                  <a:srgbClr val="81C784"/>
                </a:solidFill>
              </a:rPr>
              <a:t>"check_availability"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700"/>
              </a:spcBef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예약 가능 여부를 확인합니다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606" name="Rounded Rectangle 20"/>
          <p:cNvSpPr/>
          <p:nvPr/>
        </p:nvSpPr>
        <p:spPr>
          <a:xfrm>
            <a:off x="1394942" y="5028667"/>
            <a:ext cx="5143372" cy="1301218"/>
          </a:xfrm>
          <a:prstGeom prst="roundRect">
            <a:avLst>
              <a:gd name="adj" fmla="val 14639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Rounded Rectangle 21"/>
          <p:cNvSpPr/>
          <p:nvPr/>
        </p:nvSpPr>
        <p:spPr>
          <a:xfrm>
            <a:off x="1585438" y="5092167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08" name="Picture 22" descr="Picture 2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90210" y="5234627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609" name="TextBox 23"/>
          <p:cNvSpPr txBox="1"/>
          <p:nvPr/>
        </p:nvSpPr>
        <p:spPr>
          <a:xfrm>
            <a:off x="2222835" y="5040478"/>
            <a:ext cx="833459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90CAF9"/>
                </a:solidFill>
              </a:defRPr>
            </a:pPr>
            <a:r>
              <a:t>Fork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상태</a:t>
            </a:r>
          </a:p>
        </p:txBody>
      </p:sp>
      <p:sp>
        <p:nvSpPr>
          <p:cNvPr id="610" name="TextBox 24"/>
          <p:cNvSpPr txBox="1"/>
          <p:nvPr/>
        </p:nvSpPr>
        <p:spPr>
          <a:xfrm>
            <a:off x="2222835" y="5372583"/>
            <a:ext cx="1950503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조건에 따라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여러 경로로 분기</a:t>
            </a:r>
            <a:r>
              <a:t> </a:t>
            </a:r>
          </a:p>
        </p:txBody>
      </p:sp>
      <p:sp>
        <p:nvSpPr>
          <p:cNvPr id="611" name="Rounded Rectangle 25"/>
          <p:cNvSpPr/>
          <p:nvPr/>
        </p:nvSpPr>
        <p:spPr>
          <a:xfrm>
            <a:off x="2204547" y="5631916"/>
            <a:ext cx="4143272" cy="543131"/>
          </a:xfrm>
          <a:prstGeom prst="roundRect">
            <a:avLst>
              <a:gd name="adj" fmla="val 28058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2" name="TextBox 26"/>
          <p:cNvSpPr txBox="1"/>
          <p:nvPr/>
        </p:nvSpPr>
        <p:spPr>
          <a:xfrm>
            <a:off x="2222835" y="5665357"/>
            <a:ext cx="4106696" cy="47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numCol="2" spcCol="205334" anchor="ctr"/>
          <a:lstStyle/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fork = availability_check.fork(</a:t>
            </a:r>
            <a:endParaRPr sz="1100"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예약 가능 여부에 따라 분기합니다</a:t>
            </a:r>
            <a:r>
              <a:rPr>
                <a:solidFill>
                  <a:srgbClr val="81C784"/>
                </a:solidFill>
              </a:rPr>
              <a:t>."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)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endParaRPr sz="1100"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fork.transition_to(available_path, 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재고가 있을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)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fork.transition_to(unavailable_path, 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재고가 없을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) </a:t>
            </a:r>
          </a:p>
        </p:txBody>
      </p:sp>
      <p:sp>
        <p:nvSpPr>
          <p:cNvPr id="613" name="Rounded Rectangle 27"/>
          <p:cNvSpPr/>
          <p:nvPr/>
        </p:nvSpPr>
        <p:spPr>
          <a:xfrm>
            <a:off x="6286341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14" name="Picture 28" descr="Picture 2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419689" y="1528395"/>
            <a:ext cx="304793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TextBox 29"/>
          <p:cNvSpPr txBox="1"/>
          <p:nvPr/>
        </p:nvSpPr>
        <p:spPr>
          <a:xfrm>
            <a:off x="6965011" y="1503515"/>
            <a:ext cx="1437697" cy="35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</a:defRPr>
            </a:lvl1pPr>
          </a:lstStyle>
          <a:p>
            <a:pPr/>
            <a:r>
              <a:t>Tool Context</a:t>
            </a:r>
          </a:p>
        </p:txBody>
      </p:sp>
      <p:sp>
        <p:nvSpPr>
          <p:cNvPr id="616" name="TextBox 30"/>
          <p:cNvSpPr txBox="1"/>
          <p:nvPr/>
        </p:nvSpPr>
        <p:spPr>
          <a:xfrm>
            <a:off x="6965010" y="1892621"/>
            <a:ext cx="4494624" cy="30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도구 실행 시 제공되는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컨텍스트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세션 정보 접근 및 제어 </a:t>
            </a:r>
          </a:p>
        </p:txBody>
      </p:sp>
      <p:sp>
        <p:nvSpPr>
          <p:cNvPr id="617" name="Rounded Rectangle 31"/>
          <p:cNvSpPr/>
          <p:nvPr/>
        </p:nvSpPr>
        <p:spPr>
          <a:xfrm>
            <a:off x="6919304" y="2160646"/>
            <a:ext cx="5143372" cy="1346200"/>
          </a:xfrm>
          <a:prstGeom prst="roundRect">
            <a:avLst>
              <a:gd name="adj" fmla="val 14151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" name="Rounded Rectangle 32"/>
          <p:cNvSpPr/>
          <p:nvPr/>
        </p:nvSpPr>
        <p:spPr>
          <a:xfrm>
            <a:off x="7109800" y="2351145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19" name="Picture 33" descr="Picture 3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214572" y="2485738"/>
            <a:ext cx="266694" cy="226116"/>
          </a:xfrm>
          <a:prstGeom prst="rect">
            <a:avLst/>
          </a:prstGeom>
          <a:ln w="12700">
            <a:miter lim="400000"/>
          </a:ln>
        </p:spPr>
      </p:pic>
      <p:sp>
        <p:nvSpPr>
          <p:cNvPr id="620" name="TextBox 34"/>
          <p:cNvSpPr txBox="1"/>
          <p:nvPr/>
        </p:nvSpPr>
        <p:spPr>
          <a:xfrm>
            <a:off x="7747197" y="2299136"/>
            <a:ext cx="1216978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5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세션 정보 접근</a:t>
            </a:r>
          </a:p>
        </p:txBody>
      </p:sp>
      <p:sp>
        <p:nvSpPr>
          <p:cNvPr id="621" name="TextBox 35"/>
          <p:cNvSpPr txBox="1"/>
          <p:nvPr/>
        </p:nvSpPr>
        <p:spPr>
          <a:xfrm>
            <a:off x="7747197" y="2631561"/>
            <a:ext cx="3138082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에이전트 </a:t>
            </a:r>
            <a:r>
              <a:t>ID,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세션 </a:t>
            </a:r>
            <a:r>
              <a:t>ID,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 </a:t>
            </a:r>
            <a:r>
              <a:t>ID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등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핵심 정보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 접근 </a:t>
            </a:r>
          </a:p>
        </p:txBody>
      </p:sp>
      <p:sp>
        <p:nvSpPr>
          <p:cNvPr id="622" name="Rounded Rectangle 36"/>
          <p:cNvSpPr/>
          <p:nvPr/>
        </p:nvSpPr>
        <p:spPr>
          <a:xfrm>
            <a:off x="7728909" y="2890896"/>
            <a:ext cx="4143272" cy="533400"/>
          </a:xfrm>
          <a:prstGeom prst="roundRect">
            <a:avLst>
              <a:gd name="adj" fmla="val 2857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3" name="TextBox 37"/>
          <p:cNvSpPr txBox="1"/>
          <p:nvPr/>
        </p:nvSpPr>
        <p:spPr>
          <a:xfrm>
            <a:off x="7747197" y="2937403"/>
            <a:ext cx="4106696" cy="440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agent_id = context.agent_id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session_id = context.session_id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customer_id = context.customer_id </a:t>
            </a:r>
          </a:p>
        </p:txBody>
      </p:sp>
      <p:sp>
        <p:nvSpPr>
          <p:cNvPr id="624" name="Rounded Rectangle 38"/>
          <p:cNvSpPr/>
          <p:nvPr/>
        </p:nvSpPr>
        <p:spPr>
          <a:xfrm>
            <a:off x="6919304" y="3539685"/>
            <a:ext cx="5143372" cy="1477371"/>
          </a:xfrm>
          <a:prstGeom prst="roundRect">
            <a:avLst>
              <a:gd name="adj" fmla="val 12894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5" name="Rounded Rectangle 39"/>
          <p:cNvSpPr/>
          <p:nvPr/>
        </p:nvSpPr>
        <p:spPr>
          <a:xfrm>
            <a:off x="7109800" y="375766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26" name="Picture 40" descr="Picture 4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214572" y="3891434"/>
            <a:ext cx="266694" cy="208723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TextBox 41"/>
          <p:cNvSpPr txBox="1"/>
          <p:nvPr/>
        </p:nvSpPr>
        <p:spPr>
          <a:xfrm>
            <a:off x="7747197" y="3705980"/>
            <a:ext cx="451994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5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로깅</a:t>
            </a:r>
          </a:p>
        </p:txBody>
      </p:sp>
      <p:sp>
        <p:nvSpPr>
          <p:cNvPr id="628" name="TextBox 42"/>
          <p:cNvSpPr txBox="1"/>
          <p:nvPr/>
        </p:nvSpPr>
        <p:spPr>
          <a:xfrm>
            <a:off x="7747197" y="4038086"/>
            <a:ext cx="2090216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도구 실행 과정을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기록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하고 추적 </a:t>
            </a:r>
          </a:p>
        </p:txBody>
      </p:sp>
      <p:sp>
        <p:nvSpPr>
          <p:cNvPr id="629" name="Rounded Rectangle 43"/>
          <p:cNvSpPr/>
          <p:nvPr/>
        </p:nvSpPr>
        <p:spPr>
          <a:xfrm>
            <a:off x="7747197" y="4386236"/>
            <a:ext cx="4143272" cy="403719"/>
          </a:xfrm>
          <a:prstGeom prst="roundRect">
            <a:avLst>
              <a:gd name="adj" fmla="val 37749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0" name="TextBox 44"/>
          <p:cNvSpPr txBox="1"/>
          <p:nvPr/>
        </p:nvSpPr>
        <p:spPr>
          <a:xfrm>
            <a:off x="7747197" y="4390828"/>
            <a:ext cx="4106696" cy="330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context.logger.info(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도구 실행 중</a:t>
            </a:r>
            <a:r>
              <a:rPr>
                <a:solidFill>
                  <a:srgbClr val="81C784"/>
                </a:solidFill>
              </a:rPr>
              <a:t>"</a:t>
            </a:r>
            <a:r>
              <a:t>)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context.logger.debug(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파라미터</a:t>
            </a:r>
            <a:r>
              <a:rPr>
                <a:solidFill>
                  <a:srgbClr val="81C784"/>
                </a:solidFill>
              </a:rPr>
              <a:t>: {}"</a:t>
            </a:r>
            <a:r>
              <a:t>.format(params)) </a:t>
            </a:r>
          </a:p>
        </p:txBody>
      </p:sp>
      <p:sp>
        <p:nvSpPr>
          <p:cNvPr id="631" name="Rounded Rectangle 45"/>
          <p:cNvSpPr/>
          <p:nvPr/>
        </p:nvSpPr>
        <p:spPr>
          <a:xfrm>
            <a:off x="6919304" y="5052161"/>
            <a:ext cx="5143372" cy="1254230"/>
          </a:xfrm>
          <a:prstGeom prst="roundRect">
            <a:avLst>
              <a:gd name="adj" fmla="val 15188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2" name="Rounded Rectangle 46"/>
          <p:cNvSpPr/>
          <p:nvPr/>
        </p:nvSpPr>
        <p:spPr>
          <a:xfrm>
            <a:off x="7109800" y="5242661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33" name="Picture 47" descr="Picture 4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214572" y="5376424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634" name="TextBox 48"/>
          <p:cNvSpPr txBox="1"/>
          <p:nvPr/>
        </p:nvSpPr>
        <p:spPr>
          <a:xfrm>
            <a:off x="7747197" y="5190652"/>
            <a:ext cx="999268" cy="351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5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이벤트 전송</a:t>
            </a:r>
          </a:p>
        </p:txBody>
      </p:sp>
      <p:sp>
        <p:nvSpPr>
          <p:cNvPr id="635" name="TextBox 49"/>
          <p:cNvSpPr txBox="1"/>
          <p:nvPr/>
        </p:nvSpPr>
        <p:spPr>
          <a:xfrm>
            <a:off x="7747197" y="5523076"/>
            <a:ext cx="1908161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처리 상태를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실시간으로 전달</a:t>
            </a:r>
            <a:r>
              <a:t> </a:t>
            </a:r>
          </a:p>
        </p:txBody>
      </p:sp>
      <p:sp>
        <p:nvSpPr>
          <p:cNvPr id="636" name="Rounded Rectangle 50"/>
          <p:cNvSpPr/>
          <p:nvPr/>
        </p:nvSpPr>
        <p:spPr>
          <a:xfrm>
            <a:off x="7747197" y="5771666"/>
            <a:ext cx="4143272" cy="403719"/>
          </a:xfrm>
          <a:prstGeom prst="roundRect">
            <a:avLst>
              <a:gd name="adj" fmla="val 37749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7" name="TextBox 51"/>
          <p:cNvSpPr txBox="1"/>
          <p:nvPr/>
        </p:nvSpPr>
        <p:spPr>
          <a:xfrm>
            <a:off x="7728909" y="5817381"/>
            <a:ext cx="4106696" cy="330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await context.emit_status(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처리 중</a:t>
            </a:r>
            <a:r>
              <a:rPr>
                <a:solidFill>
                  <a:srgbClr val="81C784"/>
                </a:solidFill>
              </a:rPr>
              <a:t>..."</a:t>
            </a:r>
            <a:r>
              <a:t>)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700"/>
              </a:spcBef>
              <a:defRPr sz="700">
                <a:solidFill>
                  <a:srgbClr val="E0E0E0"/>
                </a:solidFill>
              </a:defRPr>
            </a:pPr>
            <a:r>
              <a:t> await context.emit_status(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완료</a:t>
            </a:r>
            <a:r>
              <a:rPr>
                <a:solidFill>
                  <a:srgbClr val="81C784"/>
                </a:solidFill>
              </a:rPr>
              <a:t>"</a:t>
            </a:r>
            <a:r>
              <a:t>) </a:t>
            </a:r>
          </a:p>
        </p:txBody>
      </p:sp>
      <p:sp>
        <p:nvSpPr>
          <p:cNvPr id="638" name="슬라이드 번호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TextBox 1"/>
          <p:cNvSpPr txBox="1"/>
          <p:nvPr/>
        </p:nvSpPr>
        <p:spPr>
          <a:xfrm>
            <a:off x="780267" y="484247"/>
            <a:ext cx="4632688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주요 컴포넌트 </a:t>
            </a:r>
            <a:r>
              <a:t>- Relationships</a:t>
            </a:r>
          </a:p>
        </p:txBody>
      </p:sp>
      <p:sp>
        <p:nvSpPr>
          <p:cNvPr id="641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4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28395"/>
            <a:ext cx="304793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TextBox 4"/>
          <p:cNvSpPr txBox="1"/>
          <p:nvPr/>
        </p:nvSpPr>
        <p:spPr>
          <a:xfrm>
            <a:off x="1427948" y="1466593"/>
            <a:ext cx="2091817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엔티티 간 관계 정의</a:t>
            </a:r>
          </a:p>
        </p:txBody>
      </p:sp>
      <p:sp>
        <p:nvSpPr>
          <p:cNvPr id="644" name="TextBox 5"/>
          <p:cNvSpPr txBox="1"/>
          <p:nvPr/>
        </p:nvSpPr>
        <p:spPr>
          <a:xfrm>
            <a:off x="780267" y="2136202"/>
            <a:ext cx="4553552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엔티티 간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관계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를 정의하여 복잡한 상호작용과 의존성 표현 </a:t>
            </a:r>
          </a:p>
        </p:txBody>
      </p:sp>
      <p:sp>
        <p:nvSpPr>
          <p:cNvPr id="645" name="Rounded Rectangle 6"/>
          <p:cNvSpPr/>
          <p:nvPr/>
        </p:nvSpPr>
        <p:spPr>
          <a:xfrm>
            <a:off x="761979" y="2628900"/>
            <a:ext cx="3628935" cy="1771402"/>
          </a:xfrm>
          <a:prstGeom prst="roundRect">
            <a:avLst>
              <a:gd name="adj" fmla="val 12904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Rounded Rectangle 7"/>
          <p:cNvSpPr/>
          <p:nvPr/>
        </p:nvSpPr>
        <p:spPr>
          <a:xfrm>
            <a:off x="952475" y="28193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47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7247" y="2968486"/>
            <a:ext cx="266694" cy="197127"/>
          </a:xfrm>
          <a:prstGeom prst="rect">
            <a:avLst/>
          </a:prstGeom>
          <a:ln w="12700">
            <a:miter lim="400000"/>
          </a:ln>
        </p:spPr>
      </p:pic>
      <p:sp>
        <p:nvSpPr>
          <p:cNvPr id="648" name="TextBox 9"/>
          <p:cNvSpPr txBox="1"/>
          <p:nvPr/>
        </p:nvSpPr>
        <p:spPr>
          <a:xfrm>
            <a:off x="1475572" y="2901444"/>
            <a:ext cx="1126368" cy="296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</a:defRPr>
            </a:lvl1pPr>
          </a:lstStyle>
          <a:p>
            <a:pPr/>
            <a:r>
              <a:t>ENTAILMENT</a:t>
            </a:r>
          </a:p>
        </p:txBody>
      </p:sp>
      <p:sp>
        <p:nvSpPr>
          <p:cNvPr id="649" name="TextBox 10"/>
          <p:cNvSpPr txBox="1"/>
          <p:nvPr/>
        </p:nvSpPr>
        <p:spPr>
          <a:xfrm>
            <a:off x="1453363" y="3226814"/>
            <a:ext cx="1758994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함의</a:t>
            </a:r>
            <a:r>
              <a:t>: A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 있으면 </a:t>
            </a:r>
            <a:r>
              <a:t>B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도 적용 </a:t>
            </a:r>
          </a:p>
        </p:txBody>
      </p:sp>
      <p:sp>
        <p:nvSpPr>
          <p:cNvPr id="650" name="Rounded Rectangle 11"/>
          <p:cNvSpPr/>
          <p:nvPr/>
        </p:nvSpPr>
        <p:spPr>
          <a:xfrm>
            <a:off x="952475" y="3556000"/>
            <a:ext cx="3247944" cy="704849"/>
          </a:xfrm>
          <a:prstGeom prst="roundRect">
            <a:avLst>
              <a:gd name="adj" fmla="val 2162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TextBox 12"/>
          <p:cNvSpPr txBox="1"/>
          <p:nvPr/>
        </p:nvSpPr>
        <p:spPr>
          <a:xfrm>
            <a:off x="970763" y="3663060"/>
            <a:ext cx="3211368" cy="490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특정 가이드라인이 일반 가이드라인을 함의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 await specific_guideline.entail(general_guideline) </a:t>
            </a:r>
          </a:p>
        </p:txBody>
      </p:sp>
      <p:sp>
        <p:nvSpPr>
          <p:cNvPr id="652" name="Rounded Rectangle 13"/>
          <p:cNvSpPr/>
          <p:nvPr/>
        </p:nvSpPr>
        <p:spPr>
          <a:xfrm>
            <a:off x="4581409" y="2628900"/>
            <a:ext cx="4105173" cy="1771402"/>
          </a:xfrm>
          <a:prstGeom prst="roundRect">
            <a:avLst>
              <a:gd name="adj" fmla="val 12904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3" name="Rounded Rectangle 14"/>
          <p:cNvSpPr/>
          <p:nvPr/>
        </p:nvSpPr>
        <p:spPr>
          <a:xfrm>
            <a:off x="4771904" y="28193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54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876677" y="2962688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655" name="TextBox 16"/>
          <p:cNvSpPr txBox="1"/>
          <p:nvPr/>
        </p:nvSpPr>
        <p:spPr>
          <a:xfrm>
            <a:off x="5295003" y="2901444"/>
            <a:ext cx="835501" cy="296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</a:defRPr>
            </a:lvl1pPr>
          </a:lstStyle>
          <a:p>
            <a:pPr/>
            <a:r>
              <a:t>PRIORITY</a:t>
            </a:r>
          </a:p>
        </p:txBody>
      </p:sp>
      <p:sp>
        <p:nvSpPr>
          <p:cNvPr id="656" name="TextBox 17"/>
          <p:cNvSpPr txBox="1"/>
          <p:nvPr/>
        </p:nvSpPr>
        <p:spPr>
          <a:xfrm>
            <a:off x="5272792" y="3226814"/>
            <a:ext cx="1716652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우선순위</a:t>
            </a:r>
            <a:r>
              <a:t>: A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 </a:t>
            </a:r>
            <a:r>
              <a:t>B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보다 우선 </a:t>
            </a:r>
          </a:p>
        </p:txBody>
      </p:sp>
      <p:sp>
        <p:nvSpPr>
          <p:cNvPr id="657" name="Rounded Rectangle 18"/>
          <p:cNvSpPr/>
          <p:nvPr/>
        </p:nvSpPr>
        <p:spPr>
          <a:xfrm>
            <a:off x="4771904" y="3530600"/>
            <a:ext cx="3724182" cy="704849"/>
          </a:xfrm>
          <a:prstGeom prst="roundRect">
            <a:avLst>
              <a:gd name="adj" fmla="val 2162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8" name="TextBox 19"/>
          <p:cNvSpPr txBox="1"/>
          <p:nvPr/>
        </p:nvSpPr>
        <p:spPr>
          <a:xfrm>
            <a:off x="4790192" y="3567810"/>
            <a:ext cx="3687605" cy="681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긴급 가이드라인이 일반 가이드라인보다 우선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 await urgent_guideline.prioritize_over(general_guideline) </a:t>
            </a:r>
          </a:p>
        </p:txBody>
      </p:sp>
      <p:sp>
        <p:nvSpPr>
          <p:cNvPr id="659" name="Rounded Rectangle 20"/>
          <p:cNvSpPr/>
          <p:nvPr/>
        </p:nvSpPr>
        <p:spPr>
          <a:xfrm>
            <a:off x="8877078" y="2628900"/>
            <a:ext cx="3828955" cy="1771402"/>
          </a:xfrm>
          <a:prstGeom prst="roundRect">
            <a:avLst>
              <a:gd name="adj" fmla="val 12904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0" name="Rounded Rectangle 21"/>
          <p:cNvSpPr/>
          <p:nvPr/>
        </p:nvSpPr>
        <p:spPr>
          <a:xfrm>
            <a:off x="9067572" y="28193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61" name="Picture 22" descr="Picture 2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172344" y="3003273"/>
            <a:ext cx="266694" cy="127553"/>
          </a:xfrm>
          <a:prstGeom prst="rect">
            <a:avLst/>
          </a:prstGeom>
          <a:ln w="12700">
            <a:miter lim="400000"/>
          </a:ln>
        </p:spPr>
      </p:pic>
      <p:sp>
        <p:nvSpPr>
          <p:cNvPr id="662" name="TextBox 23"/>
          <p:cNvSpPr txBox="1"/>
          <p:nvPr/>
        </p:nvSpPr>
        <p:spPr>
          <a:xfrm>
            <a:off x="9590670" y="2901444"/>
            <a:ext cx="1174644" cy="296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</a:defRPr>
            </a:lvl1pPr>
          </a:lstStyle>
          <a:p>
            <a:pPr/>
            <a:r>
              <a:t>DEPENDENCY</a:t>
            </a:r>
          </a:p>
        </p:txBody>
      </p:sp>
      <p:sp>
        <p:nvSpPr>
          <p:cNvPr id="663" name="TextBox 24"/>
          <p:cNvSpPr txBox="1"/>
          <p:nvPr/>
        </p:nvSpPr>
        <p:spPr>
          <a:xfrm>
            <a:off x="9568460" y="3226814"/>
            <a:ext cx="1453000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종속성</a:t>
            </a:r>
            <a:r>
              <a:t>: A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는 </a:t>
            </a:r>
            <a:r>
              <a:t>B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 의존 </a:t>
            </a:r>
          </a:p>
        </p:txBody>
      </p:sp>
      <p:sp>
        <p:nvSpPr>
          <p:cNvPr id="664" name="Rounded Rectangle 25"/>
          <p:cNvSpPr/>
          <p:nvPr/>
        </p:nvSpPr>
        <p:spPr>
          <a:xfrm>
            <a:off x="9067572" y="3530600"/>
            <a:ext cx="3447965" cy="704849"/>
          </a:xfrm>
          <a:prstGeom prst="roundRect">
            <a:avLst>
              <a:gd name="adj" fmla="val 2162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5" name="TextBox 26"/>
          <p:cNvSpPr txBox="1"/>
          <p:nvPr/>
        </p:nvSpPr>
        <p:spPr>
          <a:xfrm>
            <a:off x="9085860" y="3567810"/>
            <a:ext cx="3411388" cy="681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후속 가이드라인은 초기 가이드라인에 종속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 await followup_guideline.depend_on(initial_guideline) </a:t>
            </a:r>
          </a:p>
        </p:txBody>
      </p:sp>
      <p:sp>
        <p:nvSpPr>
          <p:cNvPr id="666" name="Rounded Rectangle 27"/>
          <p:cNvSpPr/>
          <p:nvPr/>
        </p:nvSpPr>
        <p:spPr>
          <a:xfrm>
            <a:off x="761979" y="4476750"/>
            <a:ext cx="3628935" cy="1930398"/>
          </a:xfrm>
          <a:prstGeom prst="roundRect">
            <a:avLst>
              <a:gd name="adj" fmla="val 11841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Rounded Rectangle 28"/>
          <p:cNvSpPr/>
          <p:nvPr/>
        </p:nvSpPr>
        <p:spPr>
          <a:xfrm>
            <a:off x="952475" y="466725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68" name="Picture 29" descr="Picture 2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57247" y="4821306"/>
            <a:ext cx="266694" cy="168137"/>
          </a:xfrm>
          <a:prstGeom prst="rect">
            <a:avLst/>
          </a:prstGeom>
          <a:ln w="12700">
            <a:miter lim="400000"/>
          </a:ln>
        </p:spPr>
      </p:pic>
      <p:sp>
        <p:nvSpPr>
          <p:cNvPr id="669" name="TextBox 30"/>
          <p:cNvSpPr txBox="1"/>
          <p:nvPr/>
        </p:nvSpPr>
        <p:spPr>
          <a:xfrm>
            <a:off x="1475572" y="4749294"/>
            <a:ext cx="1521972" cy="296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</a:defRPr>
            </a:lvl1pPr>
          </a:lstStyle>
          <a:p>
            <a:pPr/>
            <a:r>
              <a:t>DISAMBIGUATION</a:t>
            </a:r>
          </a:p>
        </p:txBody>
      </p:sp>
      <p:sp>
        <p:nvSpPr>
          <p:cNvPr id="670" name="TextBox 31"/>
          <p:cNvSpPr txBox="1"/>
          <p:nvPr/>
        </p:nvSpPr>
        <p:spPr>
          <a:xfrm>
            <a:off x="1453363" y="5049264"/>
            <a:ext cx="1627168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명확화</a:t>
            </a:r>
            <a:r>
              <a:t>: A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</a:t>
            </a:r>
            <a:r>
              <a:t>B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 겹칠 때 </a:t>
            </a:r>
          </a:p>
        </p:txBody>
      </p:sp>
      <p:sp>
        <p:nvSpPr>
          <p:cNvPr id="671" name="Rounded Rectangle 32"/>
          <p:cNvSpPr/>
          <p:nvPr/>
        </p:nvSpPr>
        <p:spPr>
          <a:xfrm>
            <a:off x="952475" y="5334000"/>
            <a:ext cx="3247944" cy="704849"/>
          </a:xfrm>
          <a:prstGeom prst="roundRect">
            <a:avLst>
              <a:gd name="adj" fmla="val 2162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TextBox 33"/>
          <p:cNvSpPr txBox="1"/>
          <p:nvPr/>
        </p:nvSpPr>
        <p:spPr>
          <a:xfrm>
            <a:off x="970763" y="5345810"/>
            <a:ext cx="3211368" cy="681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유사한 가이드라인 간 충돌 해결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 await refund_policy.disambiguate(exchange_policy) </a:t>
            </a:r>
          </a:p>
        </p:txBody>
      </p:sp>
      <p:sp>
        <p:nvSpPr>
          <p:cNvPr id="673" name="Rounded Rectangle 34"/>
          <p:cNvSpPr/>
          <p:nvPr/>
        </p:nvSpPr>
        <p:spPr>
          <a:xfrm>
            <a:off x="4581409" y="4476750"/>
            <a:ext cx="4105173" cy="1930398"/>
          </a:xfrm>
          <a:prstGeom prst="roundRect">
            <a:avLst>
              <a:gd name="adj" fmla="val 11841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4" name="Rounded Rectangle 35"/>
          <p:cNvSpPr/>
          <p:nvPr/>
        </p:nvSpPr>
        <p:spPr>
          <a:xfrm>
            <a:off x="4771904" y="466725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75" name="Picture 36" descr="Picture 3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876677" y="4809709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676" name="TextBox 37"/>
          <p:cNvSpPr txBox="1"/>
          <p:nvPr/>
        </p:nvSpPr>
        <p:spPr>
          <a:xfrm>
            <a:off x="5295003" y="4749294"/>
            <a:ext cx="1300589" cy="296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</a:defRPr>
            </a:lvl1pPr>
          </a:lstStyle>
          <a:p>
            <a:pPr/>
            <a:r>
              <a:t>REEVALUATION</a:t>
            </a:r>
          </a:p>
        </p:txBody>
      </p:sp>
      <p:sp>
        <p:nvSpPr>
          <p:cNvPr id="677" name="TextBox 38"/>
          <p:cNvSpPr txBox="1"/>
          <p:nvPr/>
        </p:nvSpPr>
        <p:spPr>
          <a:xfrm>
            <a:off x="5272792" y="5049264"/>
            <a:ext cx="1479566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재평가</a:t>
            </a:r>
            <a:r>
              <a:t>: 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후 </a:t>
            </a:r>
            <a:r>
              <a:t>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재평가 </a:t>
            </a:r>
          </a:p>
        </p:txBody>
      </p:sp>
      <p:sp>
        <p:nvSpPr>
          <p:cNvPr id="678" name="Rounded Rectangle 39"/>
          <p:cNvSpPr/>
          <p:nvPr/>
        </p:nvSpPr>
        <p:spPr>
          <a:xfrm>
            <a:off x="4771904" y="5334000"/>
            <a:ext cx="3724182" cy="704849"/>
          </a:xfrm>
          <a:prstGeom prst="roundRect">
            <a:avLst>
              <a:gd name="adj" fmla="val 2162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9" name="TextBox 40"/>
          <p:cNvSpPr txBox="1"/>
          <p:nvPr/>
        </p:nvSpPr>
        <p:spPr>
          <a:xfrm>
            <a:off x="4790192" y="5441060"/>
            <a:ext cx="3687605" cy="490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특정 조건 발생 후 다른 가이드라인 재평가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 await special_condition.reevaluate(standard_response) </a:t>
            </a:r>
          </a:p>
        </p:txBody>
      </p:sp>
      <p:sp>
        <p:nvSpPr>
          <p:cNvPr id="680" name="Rounded Rectangle 41"/>
          <p:cNvSpPr/>
          <p:nvPr/>
        </p:nvSpPr>
        <p:spPr>
          <a:xfrm>
            <a:off x="8877078" y="4476750"/>
            <a:ext cx="3828955" cy="1930398"/>
          </a:xfrm>
          <a:prstGeom prst="roundRect">
            <a:avLst>
              <a:gd name="adj" fmla="val 11841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Rounded Rectangle 42"/>
          <p:cNvSpPr/>
          <p:nvPr/>
        </p:nvSpPr>
        <p:spPr>
          <a:xfrm>
            <a:off x="9067572" y="466725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82" name="Picture 43" descr="Picture 4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172344" y="4790866"/>
            <a:ext cx="266694" cy="229015"/>
          </a:xfrm>
          <a:prstGeom prst="rect">
            <a:avLst/>
          </a:prstGeom>
          <a:ln w="12700">
            <a:miter lim="400000"/>
          </a:ln>
        </p:spPr>
      </p:pic>
      <p:sp>
        <p:nvSpPr>
          <p:cNvPr id="683" name="TextBox 44"/>
          <p:cNvSpPr txBox="1"/>
          <p:nvPr/>
        </p:nvSpPr>
        <p:spPr>
          <a:xfrm>
            <a:off x="9590670" y="4721603"/>
            <a:ext cx="834486" cy="35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sz="15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실제 활용</a:t>
            </a:r>
          </a:p>
        </p:txBody>
      </p:sp>
      <p:sp>
        <p:nvSpPr>
          <p:cNvPr id="684" name="TextBox 45"/>
          <p:cNvSpPr txBox="1"/>
          <p:nvPr/>
        </p:nvSpPr>
        <p:spPr>
          <a:xfrm>
            <a:off x="9568460" y="5039739"/>
            <a:ext cx="2617521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복잡한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비즈니스 로직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을 체계적으로 표현 </a:t>
            </a:r>
          </a:p>
        </p:txBody>
      </p:sp>
      <p:sp>
        <p:nvSpPr>
          <p:cNvPr id="685" name="Rounded Rectangle 46"/>
          <p:cNvSpPr/>
          <p:nvPr/>
        </p:nvSpPr>
        <p:spPr>
          <a:xfrm>
            <a:off x="9067572" y="5276850"/>
            <a:ext cx="3447965" cy="1089026"/>
          </a:xfrm>
          <a:prstGeom prst="roundRect">
            <a:avLst>
              <a:gd name="adj" fmla="val 13994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6" name="TextBox 47"/>
          <p:cNvSpPr txBox="1"/>
          <p:nvPr/>
        </p:nvSpPr>
        <p:spPr>
          <a:xfrm>
            <a:off x="9085860" y="5385498"/>
            <a:ext cx="3411388" cy="87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다중 관계 설정 예시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 await vip_policy.prioritize_over(standard_policy)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 await vip_policy.entail(premium_benefits)</a:t>
            </a:r>
            <a:endParaRPr>
              <a:solidFill>
                <a:srgbClr val="000000"/>
              </a:solidFill>
            </a:endParaRPr>
          </a:p>
          <a:p>
            <a:pPr>
              <a:defRPr sz="1200">
                <a:solidFill>
                  <a:srgbClr val="E0E0E0"/>
                </a:solidFill>
              </a:defRPr>
            </a:pPr>
            <a:r>
              <a:t> await vip_policy.depend_on(customer_verification) </a:t>
            </a:r>
          </a:p>
        </p:txBody>
      </p:sp>
      <p:sp>
        <p:nvSpPr>
          <p:cNvPr id="687" name="텍스트"/>
          <p:cNvSpPr txBox="1"/>
          <p:nvPr/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TextBox 1"/>
          <p:cNvSpPr txBox="1"/>
          <p:nvPr/>
        </p:nvSpPr>
        <p:spPr>
          <a:xfrm>
            <a:off x="780267" y="484247"/>
            <a:ext cx="6448696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t>SDK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사용법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기본 설정과 </a:t>
            </a:r>
            <a:r>
              <a:t>NLP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서비스 설정</a:t>
            </a:r>
          </a:p>
        </p:txBody>
      </p:sp>
      <p:sp>
        <p:nvSpPr>
          <p:cNvPr id="690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28395"/>
            <a:ext cx="304793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692" name="TextBox 4"/>
          <p:cNvSpPr txBox="1"/>
          <p:nvPr/>
        </p:nvSpPr>
        <p:spPr>
          <a:xfrm>
            <a:off x="1377148" y="1441193"/>
            <a:ext cx="1071839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기본 설정</a:t>
            </a:r>
          </a:p>
        </p:txBody>
      </p:sp>
      <p:sp>
        <p:nvSpPr>
          <p:cNvPr id="693" name="TextBox 5"/>
          <p:cNvSpPr txBox="1"/>
          <p:nvPr/>
        </p:nvSpPr>
        <p:spPr>
          <a:xfrm>
            <a:off x="1405678" y="1902587"/>
            <a:ext cx="3711728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t> Parlant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프레임워크의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기본 구성 요소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설정 방법 </a:t>
            </a:r>
          </a:p>
        </p:txBody>
      </p:sp>
      <p:sp>
        <p:nvSpPr>
          <p:cNvPr id="694" name="Rounded Rectangle 6"/>
          <p:cNvSpPr/>
          <p:nvPr/>
        </p:nvSpPr>
        <p:spPr>
          <a:xfrm>
            <a:off x="1041379" y="2281110"/>
            <a:ext cx="5143372" cy="723901"/>
          </a:xfrm>
          <a:prstGeom prst="roundRect">
            <a:avLst>
              <a:gd name="adj" fmla="val 2631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5" name="Rounded Rectangle 7"/>
          <p:cNvSpPr/>
          <p:nvPr/>
        </p:nvSpPr>
        <p:spPr>
          <a:xfrm>
            <a:off x="1184252" y="2433510"/>
            <a:ext cx="342892" cy="342901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TextBox 8"/>
          <p:cNvSpPr txBox="1"/>
          <p:nvPr/>
        </p:nvSpPr>
        <p:spPr>
          <a:xfrm>
            <a:off x="1266040" y="2484364"/>
            <a:ext cx="199670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200">
                <a:solidFill>
                  <a:srgbClr val="64B5F6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97" name="TextBox 9"/>
          <p:cNvSpPr txBox="1"/>
          <p:nvPr/>
        </p:nvSpPr>
        <p:spPr>
          <a:xfrm>
            <a:off x="1688303" y="2383409"/>
            <a:ext cx="692074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2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서버 생성</a:t>
            </a:r>
          </a:p>
        </p:txBody>
      </p:sp>
      <p:sp>
        <p:nvSpPr>
          <p:cNvPr id="698" name="TextBox 10"/>
          <p:cNvSpPr txBox="1"/>
          <p:nvPr/>
        </p:nvSpPr>
        <p:spPr>
          <a:xfrm>
            <a:off x="1688303" y="2637726"/>
            <a:ext cx="2851737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호스트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포트</a:t>
            </a:r>
            <a:r>
              <a:t>, NLP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서비스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세션 저장소 등 설정</a:t>
            </a:r>
          </a:p>
        </p:txBody>
      </p:sp>
      <p:sp>
        <p:nvSpPr>
          <p:cNvPr id="699" name="Rounded Rectangle 11"/>
          <p:cNvSpPr/>
          <p:nvPr/>
        </p:nvSpPr>
        <p:spPr>
          <a:xfrm>
            <a:off x="1041379" y="3058985"/>
            <a:ext cx="5143372" cy="723901"/>
          </a:xfrm>
          <a:prstGeom prst="roundRect">
            <a:avLst>
              <a:gd name="adj" fmla="val 2631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0" name="Rounded Rectangle 12"/>
          <p:cNvSpPr/>
          <p:nvPr/>
        </p:nvSpPr>
        <p:spPr>
          <a:xfrm>
            <a:off x="1184252" y="3201860"/>
            <a:ext cx="342892" cy="342901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1" name="TextBox 13"/>
          <p:cNvSpPr txBox="1"/>
          <p:nvPr/>
        </p:nvSpPr>
        <p:spPr>
          <a:xfrm>
            <a:off x="1266040" y="3252714"/>
            <a:ext cx="199670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200">
                <a:solidFill>
                  <a:srgbClr val="64B5F6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02" name="TextBox 14"/>
          <p:cNvSpPr txBox="1"/>
          <p:nvPr/>
        </p:nvSpPr>
        <p:spPr>
          <a:xfrm>
            <a:off x="1688303" y="3151759"/>
            <a:ext cx="955726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2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에이전트 생성</a:t>
            </a:r>
          </a:p>
        </p:txBody>
      </p:sp>
      <p:sp>
        <p:nvSpPr>
          <p:cNvPr id="703" name="TextBox 15"/>
          <p:cNvSpPr txBox="1"/>
          <p:nvPr/>
        </p:nvSpPr>
        <p:spPr>
          <a:xfrm>
            <a:off x="1688303" y="3406076"/>
            <a:ext cx="2618449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이름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설명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최대 반복 횟수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구성 모드 설정</a:t>
            </a:r>
          </a:p>
        </p:txBody>
      </p:sp>
      <p:sp>
        <p:nvSpPr>
          <p:cNvPr id="704" name="Rounded Rectangle 16"/>
          <p:cNvSpPr/>
          <p:nvPr/>
        </p:nvSpPr>
        <p:spPr>
          <a:xfrm>
            <a:off x="1041379" y="3836860"/>
            <a:ext cx="5143372" cy="723901"/>
          </a:xfrm>
          <a:prstGeom prst="roundRect">
            <a:avLst>
              <a:gd name="adj" fmla="val 2631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Rounded Rectangle 17"/>
          <p:cNvSpPr/>
          <p:nvPr/>
        </p:nvSpPr>
        <p:spPr>
          <a:xfrm>
            <a:off x="1184252" y="3979735"/>
            <a:ext cx="342892" cy="342901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TextBox 18"/>
          <p:cNvSpPr txBox="1"/>
          <p:nvPr/>
        </p:nvSpPr>
        <p:spPr>
          <a:xfrm>
            <a:off x="1266040" y="4030589"/>
            <a:ext cx="199670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200">
                <a:solidFill>
                  <a:srgbClr val="64B5F6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07" name="TextBox 19"/>
          <p:cNvSpPr txBox="1"/>
          <p:nvPr/>
        </p:nvSpPr>
        <p:spPr>
          <a:xfrm>
            <a:off x="1688303" y="3929634"/>
            <a:ext cx="1172235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2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고객 및 세션 생성</a:t>
            </a:r>
          </a:p>
        </p:txBody>
      </p:sp>
      <p:sp>
        <p:nvSpPr>
          <p:cNvPr id="708" name="TextBox 20"/>
          <p:cNvSpPr txBox="1"/>
          <p:nvPr/>
        </p:nvSpPr>
        <p:spPr>
          <a:xfrm>
            <a:off x="1688303" y="4183949"/>
            <a:ext cx="2796004" cy="277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고객 정보와 에이전트</a:t>
            </a:r>
            <a:r>
              <a:t>-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 간 대화 세션 설정</a:t>
            </a:r>
          </a:p>
        </p:txBody>
      </p:sp>
      <p:sp>
        <p:nvSpPr>
          <p:cNvPr id="709" name="Rounded Rectangle 21"/>
          <p:cNvSpPr/>
          <p:nvPr/>
        </p:nvSpPr>
        <p:spPr>
          <a:xfrm>
            <a:off x="1041379" y="4592510"/>
            <a:ext cx="5143372" cy="723901"/>
          </a:xfrm>
          <a:prstGeom prst="roundRect">
            <a:avLst>
              <a:gd name="adj" fmla="val 2631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0" name="Rounded Rectangle 22"/>
          <p:cNvSpPr/>
          <p:nvPr/>
        </p:nvSpPr>
        <p:spPr>
          <a:xfrm>
            <a:off x="1184252" y="4735385"/>
            <a:ext cx="342892" cy="342901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TextBox 23"/>
          <p:cNvSpPr txBox="1"/>
          <p:nvPr/>
        </p:nvSpPr>
        <p:spPr>
          <a:xfrm>
            <a:off x="1266040" y="4786239"/>
            <a:ext cx="199670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200">
                <a:solidFill>
                  <a:srgbClr val="64B5F6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12" name="TextBox 24"/>
          <p:cNvSpPr txBox="1"/>
          <p:nvPr/>
        </p:nvSpPr>
        <p:spPr>
          <a:xfrm>
            <a:off x="1688303" y="4685284"/>
            <a:ext cx="823900" cy="300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2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메시지 전송</a:t>
            </a:r>
          </a:p>
        </p:txBody>
      </p:sp>
      <p:sp>
        <p:nvSpPr>
          <p:cNvPr id="713" name="TextBox 25"/>
          <p:cNvSpPr txBox="1"/>
          <p:nvPr/>
        </p:nvSpPr>
        <p:spPr>
          <a:xfrm>
            <a:off x="1688303" y="4939599"/>
            <a:ext cx="2575179" cy="277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세션을 통해 메시지를 전송하고 응답 수신</a:t>
            </a:r>
          </a:p>
        </p:txBody>
      </p:sp>
      <p:sp>
        <p:nvSpPr>
          <p:cNvPr id="714" name="Rounded Rectangle 26"/>
          <p:cNvSpPr/>
          <p:nvPr/>
        </p:nvSpPr>
        <p:spPr>
          <a:xfrm>
            <a:off x="1041379" y="5386609"/>
            <a:ext cx="5143372" cy="1379415"/>
          </a:xfrm>
          <a:prstGeom prst="roundRect">
            <a:avLst>
              <a:gd name="adj" fmla="val 11047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TextBox 27"/>
          <p:cNvSpPr txBox="1"/>
          <p:nvPr/>
        </p:nvSpPr>
        <p:spPr>
          <a:xfrm>
            <a:off x="1059667" y="5344613"/>
            <a:ext cx="5106796" cy="143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기본 설정 예시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async with p.Server(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host=</a:t>
            </a:r>
            <a:r>
              <a:rPr>
                <a:solidFill>
                  <a:srgbClr val="81C784"/>
                </a:solidFill>
              </a:rPr>
              <a:t>"0.0.0.0"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port=8800,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nlp_service=NLPServices.openai(api_key=</a:t>
            </a:r>
            <a:r>
              <a:rPr>
                <a:solidFill>
                  <a:srgbClr val="81C784"/>
                </a:solidFill>
              </a:rPr>
              <a:t>"your-key"</a:t>
            </a:r>
            <a:r>
              <a:t>),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session_store=</a:t>
            </a:r>
            <a:r>
              <a:rPr>
                <a:solidFill>
                  <a:srgbClr val="81C784"/>
                </a:solidFill>
              </a:rPr>
              <a:t>"transient"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) as server:</a:t>
            </a:r>
            <a:endParaRPr>
              <a:solidFill>
                <a:srgbClr val="000000"/>
              </a:solidFill>
            </a:endParaRPr>
          </a:p>
          <a:p>
            <a:pPr lvl="2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agent = await server.create_agent(</a:t>
            </a:r>
            <a:endParaRPr>
              <a:solidFill>
                <a:srgbClr val="000000"/>
              </a:solidFill>
            </a:endParaRPr>
          </a:p>
          <a:p>
            <a:pPr lvl="2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샘플 에이전트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2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고객을 돕는 친절한 에이전트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 lvl="2">
              <a:lnSpc>
                <a:spcPct val="10000"/>
              </a:lnSpc>
              <a:spcBef>
                <a:spcPts val="600"/>
              </a:spcBef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716" name="Rounded Rectangle 28"/>
          <p:cNvSpPr/>
          <p:nvPr/>
        </p:nvSpPr>
        <p:spPr>
          <a:xfrm>
            <a:off x="6286341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17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19689" y="1540118"/>
            <a:ext cx="304793" cy="234462"/>
          </a:xfrm>
          <a:prstGeom prst="rect">
            <a:avLst/>
          </a:prstGeom>
          <a:ln w="12700">
            <a:miter lim="400000"/>
          </a:ln>
        </p:spPr>
      </p:pic>
      <p:sp>
        <p:nvSpPr>
          <p:cNvPr id="718" name="TextBox 30"/>
          <p:cNvSpPr txBox="1"/>
          <p:nvPr/>
        </p:nvSpPr>
        <p:spPr>
          <a:xfrm>
            <a:off x="6901511" y="1441193"/>
            <a:ext cx="1758868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 sz="2000">
                <a:solidFill>
                  <a:srgbClr val="90CAF9"/>
                </a:solidFill>
              </a:defRPr>
            </a:pPr>
            <a:r>
              <a:t>NLP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서비스 설정</a:t>
            </a:r>
          </a:p>
        </p:txBody>
      </p:sp>
      <p:sp>
        <p:nvSpPr>
          <p:cNvPr id="719" name="TextBox 31"/>
          <p:cNvSpPr txBox="1"/>
          <p:nvPr/>
        </p:nvSpPr>
        <p:spPr>
          <a:xfrm>
            <a:off x="6930040" y="1902587"/>
            <a:ext cx="3843582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20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개 이상의 </a:t>
            </a:r>
            <a:r>
              <a:rPr>
                <a:solidFill>
                  <a:srgbClr val="FFD54F"/>
                </a:solidFill>
              </a:rPr>
              <a:t>LLM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제공자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를 지원하는 유연한 설정 </a:t>
            </a:r>
          </a:p>
        </p:txBody>
      </p:sp>
      <p:sp>
        <p:nvSpPr>
          <p:cNvPr id="720" name="Rounded Rectangle 32"/>
          <p:cNvSpPr/>
          <p:nvPr/>
        </p:nvSpPr>
        <p:spPr>
          <a:xfrm>
            <a:off x="6565741" y="2281110"/>
            <a:ext cx="5143372" cy="723901"/>
          </a:xfrm>
          <a:prstGeom prst="roundRect">
            <a:avLst>
              <a:gd name="adj" fmla="val 26313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1" name="Rounded Rectangle 33"/>
          <p:cNvSpPr/>
          <p:nvPr/>
        </p:nvSpPr>
        <p:spPr>
          <a:xfrm>
            <a:off x="6708614" y="2433510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22" name="Picture 34" descr="Picture 3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13385" y="2553400"/>
            <a:ext cx="266694" cy="217419"/>
          </a:xfrm>
          <a:prstGeom prst="rect">
            <a:avLst/>
          </a:prstGeom>
          <a:ln w="12700">
            <a:miter lim="400000"/>
          </a:ln>
        </p:spPr>
      </p:pic>
      <p:sp>
        <p:nvSpPr>
          <p:cNvPr id="723" name="TextBox 35"/>
          <p:cNvSpPr txBox="1"/>
          <p:nvPr/>
        </p:nvSpPr>
        <p:spPr>
          <a:xfrm>
            <a:off x="7346011" y="2400226"/>
            <a:ext cx="585879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200">
                <a:solidFill>
                  <a:srgbClr val="90CAF9"/>
                </a:solidFill>
              </a:defRPr>
            </a:lvl1pPr>
          </a:lstStyle>
          <a:p>
            <a:pPr/>
            <a:r>
              <a:t>OpenAI</a:t>
            </a:r>
          </a:p>
        </p:txBody>
      </p:sp>
      <p:sp>
        <p:nvSpPr>
          <p:cNvPr id="724" name="TextBox 36"/>
          <p:cNvSpPr txBox="1"/>
          <p:nvPr/>
        </p:nvSpPr>
        <p:spPr>
          <a:xfrm>
            <a:off x="7346011" y="2637726"/>
            <a:ext cx="1992433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가장 널리 사용되는 </a:t>
            </a:r>
            <a:r>
              <a:t>LLM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서비스</a:t>
            </a:r>
          </a:p>
        </p:txBody>
      </p:sp>
      <p:sp>
        <p:nvSpPr>
          <p:cNvPr id="725" name="Rounded Rectangle 39"/>
          <p:cNvSpPr/>
          <p:nvPr/>
        </p:nvSpPr>
        <p:spPr>
          <a:xfrm>
            <a:off x="6565741" y="3078068"/>
            <a:ext cx="5143372" cy="794100"/>
          </a:xfrm>
          <a:prstGeom prst="roundRect">
            <a:avLst>
              <a:gd name="adj" fmla="val 2398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Rounded Rectangle 40"/>
          <p:cNvSpPr/>
          <p:nvPr/>
        </p:nvSpPr>
        <p:spPr>
          <a:xfrm>
            <a:off x="6708614" y="3220943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27" name="Picture 41" descr="Picture 4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13385" y="3354707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42"/>
          <p:cNvSpPr txBox="1"/>
          <p:nvPr/>
        </p:nvSpPr>
        <p:spPr>
          <a:xfrm>
            <a:off x="7346011" y="3187659"/>
            <a:ext cx="730912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200">
                <a:solidFill>
                  <a:srgbClr val="90CAF9"/>
                </a:solidFill>
              </a:defRPr>
            </a:lvl1pPr>
          </a:lstStyle>
          <a:p>
            <a:pPr/>
            <a:r>
              <a:t>Anthropic</a:t>
            </a:r>
          </a:p>
        </p:txBody>
      </p:sp>
      <p:sp>
        <p:nvSpPr>
          <p:cNvPr id="729" name="TextBox 43"/>
          <p:cNvSpPr txBox="1"/>
          <p:nvPr/>
        </p:nvSpPr>
        <p:spPr>
          <a:xfrm>
            <a:off x="7346011" y="3425158"/>
            <a:ext cx="2027369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t>Claude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모델을 통한 고성능 응답</a:t>
            </a:r>
          </a:p>
        </p:txBody>
      </p:sp>
      <p:sp>
        <p:nvSpPr>
          <p:cNvPr id="730" name="Rounded Rectangle 46"/>
          <p:cNvSpPr/>
          <p:nvPr/>
        </p:nvSpPr>
        <p:spPr>
          <a:xfrm>
            <a:off x="6565741" y="3945225"/>
            <a:ext cx="5143372" cy="714109"/>
          </a:xfrm>
          <a:prstGeom prst="roundRect">
            <a:avLst>
              <a:gd name="adj" fmla="val 2667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1" name="Rounded Rectangle 47"/>
          <p:cNvSpPr/>
          <p:nvPr/>
        </p:nvSpPr>
        <p:spPr>
          <a:xfrm>
            <a:off x="6708614" y="4088100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32" name="Picture 48" descr="Picture 4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813385" y="4230560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733" name="TextBox 49"/>
          <p:cNvSpPr txBox="1"/>
          <p:nvPr/>
        </p:nvSpPr>
        <p:spPr>
          <a:xfrm>
            <a:off x="7346011" y="4054816"/>
            <a:ext cx="974991" cy="26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300"/>
              </a:spcBef>
              <a:defRPr sz="1200">
                <a:solidFill>
                  <a:srgbClr val="90CAF9"/>
                </a:solidFill>
              </a:defRPr>
            </a:lvl1pPr>
          </a:lstStyle>
          <a:p>
            <a:pPr/>
            <a:r>
              <a:t>Azure OpenAI</a:t>
            </a:r>
          </a:p>
        </p:txBody>
      </p:sp>
      <p:sp>
        <p:nvSpPr>
          <p:cNvPr id="734" name="TextBox 50"/>
          <p:cNvSpPr txBox="1"/>
          <p:nvPr/>
        </p:nvSpPr>
        <p:spPr>
          <a:xfrm>
            <a:off x="7346011" y="4292315"/>
            <a:ext cx="2358669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엔터프라이즈 환경에 최적화된 서비스</a:t>
            </a:r>
          </a:p>
        </p:txBody>
      </p:sp>
      <p:sp>
        <p:nvSpPr>
          <p:cNvPr id="735" name="Rounded Rectangle 53"/>
          <p:cNvSpPr/>
          <p:nvPr/>
        </p:nvSpPr>
        <p:spPr>
          <a:xfrm>
            <a:off x="6595897" y="4735385"/>
            <a:ext cx="5143372" cy="714109"/>
          </a:xfrm>
          <a:prstGeom prst="roundRect">
            <a:avLst>
              <a:gd name="adj" fmla="val 26674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736" name="Rounded Rectangle 54"/>
          <p:cNvSpPr/>
          <p:nvPr/>
        </p:nvSpPr>
        <p:spPr>
          <a:xfrm>
            <a:off x="6728365" y="486625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37" name="Picture 55" descr="Picture 5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833137" y="5000023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738" name="TextBox 56"/>
          <p:cNvSpPr txBox="1"/>
          <p:nvPr/>
        </p:nvSpPr>
        <p:spPr>
          <a:xfrm>
            <a:off x="7376166" y="4866259"/>
            <a:ext cx="675179" cy="224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300"/>
              </a:spcBef>
              <a:defRPr sz="800">
                <a:solidFill>
                  <a:srgbClr val="90CAF9"/>
                </a:solidFill>
              </a:defRPr>
            </a:pPr>
            <a:r>
              <a:t>Ollama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로컬</a:t>
            </a:r>
            <a:r>
              <a:t>)</a:t>
            </a:r>
          </a:p>
        </p:txBody>
      </p:sp>
      <p:sp>
        <p:nvSpPr>
          <p:cNvPr id="739" name="TextBox 57"/>
          <p:cNvSpPr txBox="1"/>
          <p:nvPr/>
        </p:nvSpPr>
        <p:spPr>
          <a:xfrm>
            <a:off x="7365762" y="5070475"/>
            <a:ext cx="2095018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온프레미스 환경에서의 로컬 실행</a:t>
            </a:r>
          </a:p>
        </p:txBody>
      </p:sp>
      <p:sp>
        <p:nvSpPr>
          <p:cNvPr id="740" name="슬라이드 번호"/>
          <p:cNvSpPr txBox="1"/>
          <p:nvPr>
            <p:ph type="sldNum" sz="quarter" idx="4294967295"/>
          </p:nvPr>
        </p:nvSpPr>
        <p:spPr>
          <a:xfrm>
            <a:off x="8421833" y="5969020"/>
            <a:ext cx="25862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TextBox 1"/>
          <p:cNvSpPr txBox="1"/>
          <p:nvPr/>
        </p:nvSpPr>
        <p:spPr>
          <a:xfrm>
            <a:off x="780267" y="484247"/>
            <a:ext cx="11262497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t>SDK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사용법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도구 정의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여정 만들기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가이드라인 만들기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컨텍스트 사용 (1)</a:t>
            </a:r>
          </a:p>
        </p:txBody>
      </p:sp>
      <p:sp>
        <p:nvSpPr>
          <p:cNvPr id="743" name="Rounded Rectangle 2"/>
          <p:cNvSpPr/>
          <p:nvPr/>
        </p:nvSpPr>
        <p:spPr>
          <a:xfrm>
            <a:off x="761979" y="1371599"/>
            <a:ext cx="5219570" cy="4779964"/>
          </a:xfrm>
          <a:prstGeom prst="roundRect">
            <a:avLst>
              <a:gd name="adj" fmla="val 4782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" name="Rounded Rectangle 3"/>
          <p:cNvSpPr/>
          <p:nvPr/>
        </p:nvSpPr>
        <p:spPr>
          <a:xfrm>
            <a:off x="952475" y="156210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4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7247" y="1672671"/>
            <a:ext cx="266694" cy="255105"/>
          </a:xfrm>
          <a:prstGeom prst="rect">
            <a:avLst/>
          </a:prstGeom>
          <a:ln w="12700">
            <a:miter lim="400000"/>
          </a:ln>
        </p:spPr>
      </p:pic>
      <p:sp>
        <p:nvSpPr>
          <p:cNvPr id="746" name="TextBox 5"/>
          <p:cNvSpPr txBox="1"/>
          <p:nvPr/>
        </p:nvSpPr>
        <p:spPr>
          <a:xfrm>
            <a:off x="1589872" y="1584067"/>
            <a:ext cx="1071839" cy="43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도구 정의</a:t>
            </a:r>
          </a:p>
        </p:txBody>
      </p:sp>
      <p:sp>
        <p:nvSpPr>
          <p:cNvPr id="747" name="TextBox 6"/>
          <p:cNvSpPr txBox="1"/>
          <p:nvPr/>
        </p:nvSpPr>
        <p:spPr>
          <a:xfrm>
            <a:off x="970763" y="2132075"/>
            <a:ext cx="3204128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@tool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데코레이터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외부 시스템과 연동 </a:t>
            </a:r>
          </a:p>
        </p:txBody>
      </p:sp>
      <p:sp>
        <p:nvSpPr>
          <p:cNvPr id="748" name="Rounded Rectangle 7"/>
          <p:cNvSpPr/>
          <p:nvPr/>
        </p:nvSpPr>
        <p:spPr>
          <a:xfrm>
            <a:off x="952475" y="2451100"/>
            <a:ext cx="4838581" cy="3111201"/>
          </a:xfrm>
          <a:prstGeom prst="roundRect">
            <a:avLst>
              <a:gd name="adj" fmla="val 4898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9" name="TextBox 8"/>
          <p:cNvSpPr txBox="1"/>
          <p:nvPr/>
        </p:nvSpPr>
        <p:spPr>
          <a:xfrm>
            <a:off x="970762" y="2443618"/>
            <a:ext cx="4802005" cy="312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 정의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@p.tool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async def get_weather(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city: str,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context: ToolContext,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 -&gt; ToolResult: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"""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도시의 현재 날씨 조회</a:t>
            </a:r>
            <a:r>
              <a:rPr>
                <a:solidFill>
                  <a:srgbClr val="78909C"/>
                </a:solidFill>
              </a:rPr>
              <a:t>"""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weather_data = await fetch_weather_api(city)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return ToolResult(</a:t>
            </a:r>
            <a:endParaRPr>
              <a:solidFill>
                <a:srgbClr val="000000"/>
              </a:solidFill>
            </a:endParaRPr>
          </a:p>
          <a:p>
            <a:pPr lvl="2">
              <a:defRPr sz="1000">
                <a:solidFill>
                  <a:srgbClr val="E0E0E0"/>
                </a:solidFill>
              </a:defRPr>
            </a:pPr>
            <a:r>
              <a:t> data={</a:t>
            </a:r>
            <a:endParaRPr>
              <a:solidFill>
                <a:srgbClr val="000000"/>
              </a:solidFill>
            </a:endParaRPr>
          </a:p>
          <a:p>
            <a:pPr lvl="3"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81C784"/>
                </a:solidFill>
              </a:rPr>
              <a:t>"city"</a:t>
            </a:r>
            <a:r>
              <a:t>: city,</a:t>
            </a:r>
            <a:endParaRPr>
              <a:solidFill>
                <a:srgbClr val="000000"/>
              </a:solidFill>
            </a:endParaRPr>
          </a:p>
          <a:p>
            <a:pPr lvl="3"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81C784"/>
                </a:solidFill>
              </a:rPr>
              <a:t>"temperature"</a:t>
            </a:r>
            <a:r>
              <a:t>: weather_data[</a:t>
            </a:r>
            <a:r>
              <a:rPr>
                <a:solidFill>
                  <a:srgbClr val="81C784"/>
                </a:solidFill>
              </a:rPr>
              <a:t>"temp"</a:t>
            </a:r>
            <a:r>
              <a:t>],</a:t>
            </a:r>
            <a:endParaRPr>
              <a:solidFill>
                <a:srgbClr val="000000"/>
              </a:solidFill>
            </a:endParaRPr>
          </a:p>
          <a:p>
            <a:pPr lvl="2">
              <a:defRPr sz="1000">
                <a:solidFill>
                  <a:srgbClr val="E0E0E0"/>
                </a:solidFill>
              </a:defRPr>
            </a:pPr>
            <a:r>
              <a:t> },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에이전트에 도구 연결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await agent.attach_tool(</a:t>
            </a:r>
            <a:r>
              <a:rPr>
                <a:solidFill>
                  <a:srgbClr val="81C784"/>
                </a:solidFill>
              </a:rPr>
              <a:t>"get_weather"</a:t>
            </a:r>
            <a:r>
              <a:t>) </a:t>
            </a:r>
          </a:p>
        </p:txBody>
      </p:sp>
      <p:sp>
        <p:nvSpPr>
          <p:cNvPr id="750" name="Rounded Rectangle 9"/>
          <p:cNvSpPr/>
          <p:nvPr/>
        </p:nvSpPr>
        <p:spPr>
          <a:xfrm>
            <a:off x="6210143" y="1371600"/>
            <a:ext cx="5219570" cy="4819650"/>
          </a:xfrm>
          <a:prstGeom prst="roundRect">
            <a:avLst>
              <a:gd name="adj" fmla="val 4743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1" name="Rounded Rectangle 10"/>
          <p:cNvSpPr/>
          <p:nvPr/>
        </p:nvSpPr>
        <p:spPr>
          <a:xfrm>
            <a:off x="6400639" y="156210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52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14937" y="1695863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753" name="TextBox 12"/>
          <p:cNvSpPr txBox="1"/>
          <p:nvPr/>
        </p:nvSpPr>
        <p:spPr>
          <a:xfrm>
            <a:off x="7047562" y="1584067"/>
            <a:ext cx="1291548" cy="432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여정 만들기</a:t>
            </a:r>
          </a:p>
        </p:txBody>
      </p:sp>
      <p:sp>
        <p:nvSpPr>
          <p:cNvPr id="754" name="TextBox 13"/>
          <p:cNvSpPr txBox="1"/>
          <p:nvPr/>
        </p:nvSpPr>
        <p:spPr>
          <a:xfrm>
            <a:off x="6418927" y="2132075"/>
            <a:ext cx="3719779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상태 체인 구성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과 전환 설정으로 대화 흐름 정의 </a:t>
            </a:r>
          </a:p>
        </p:txBody>
      </p:sp>
      <p:sp>
        <p:nvSpPr>
          <p:cNvPr id="755" name="Rounded Rectangle 14"/>
          <p:cNvSpPr/>
          <p:nvPr/>
        </p:nvSpPr>
        <p:spPr>
          <a:xfrm>
            <a:off x="6400639" y="2387600"/>
            <a:ext cx="4838580" cy="3486150"/>
          </a:xfrm>
          <a:prstGeom prst="roundRect">
            <a:avLst>
              <a:gd name="adj" fmla="val 437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6" name="TextBox 15"/>
          <p:cNvSpPr txBox="1"/>
          <p:nvPr/>
        </p:nvSpPr>
        <p:spPr>
          <a:xfrm>
            <a:off x="6418927" y="2341938"/>
            <a:ext cx="4802004" cy="3577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여정 생성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journey = await agent.create_journey(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title=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호텔 예약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호텔을 예약하는 과정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상태 체인 구성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search = journey.initial_state.chat(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지역과 날짜를 물어봅니다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results = search.tool(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tool_name=</a:t>
            </a:r>
            <a:r>
              <a:rPr>
                <a:solidFill>
                  <a:srgbClr val="81C784"/>
                </a:solidFill>
              </a:rPr>
              <a:t>"search_hotels"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조건에 맞는 호텔 검색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전환 설정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search.transition_to(results, 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검색 조건 제공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757" name="슬라이드 번호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TextBox 1"/>
          <p:cNvSpPr txBox="1"/>
          <p:nvPr/>
        </p:nvSpPr>
        <p:spPr>
          <a:xfrm>
            <a:off x="780267" y="484247"/>
            <a:ext cx="11262497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t>SDK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사용법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도구 정의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여정 만들기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가이드라인 만들기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컨텍스트 사용 (2)</a:t>
            </a:r>
          </a:p>
        </p:txBody>
      </p:sp>
      <p:sp>
        <p:nvSpPr>
          <p:cNvPr id="760" name="Rounded Rectangle 2"/>
          <p:cNvSpPr/>
          <p:nvPr/>
        </p:nvSpPr>
        <p:spPr>
          <a:xfrm>
            <a:off x="761979" y="1371600"/>
            <a:ext cx="5219570" cy="4819650"/>
          </a:xfrm>
          <a:prstGeom prst="roundRect">
            <a:avLst>
              <a:gd name="adj" fmla="val 4743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1" name="Rounded Rectangle 9"/>
          <p:cNvSpPr/>
          <p:nvPr/>
        </p:nvSpPr>
        <p:spPr>
          <a:xfrm>
            <a:off x="6210143" y="1371600"/>
            <a:ext cx="5219570" cy="4819650"/>
          </a:xfrm>
          <a:prstGeom prst="roundRect">
            <a:avLst>
              <a:gd name="adj" fmla="val 4743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2" name="Rounded Rectangle 17"/>
          <p:cNvSpPr/>
          <p:nvPr/>
        </p:nvSpPr>
        <p:spPr>
          <a:xfrm>
            <a:off x="946278" y="1568614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63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1050" y="1711074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764" name="TextBox 19"/>
          <p:cNvSpPr txBox="1"/>
          <p:nvPr/>
        </p:nvSpPr>
        <p:spPr>
          <a:xfrm>
            <a:off x="1583675" y="1590582"/>
            <a:ext cx="1950679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가이드라인 만들기</a:t>
            </a:r>
          </a:p>
        </p:txBody>
      </p:sp>
      <p:sp>
        <p:nvSpPr>
          <p:cNvPr id="765" name="TextBox 20"/>
          <p:cNvSpPr txBox="1"/>
          <p:nvPr/>
        </p:nvSpPr>
        <p:spPr>
          <a:xfrm>
            <a:off x="964566" y="2138589"/>
            <a:ext cx="2407521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조건부 행동 규칙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과 관계 설정 </a:t>
            </a:r>
          </a:p>
        </p:txBody>
      </p:sp>
      <p:sp>
        <p:nvSpPr>
          <p:cNvPr id="766" name="Rounded Rectangle 21"/>
          <p:cNvSpPr/>
          <p:nvPr/>
        </p:nvSpPr>
        <p:spPr>
          <a:xfrm>
            <a:off x="946278" y="2511588"/>
            <a:ext cx="4838580" cy="3534140"/>
          </a:xfrm>
          <a:prstGeom prst="roundRect">
            <a:avLst>
              <a:gd name="adj" fmla="val 4312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TextBox 22"/>
          <p:cNvSpPr txBox="1"/>
          <p:nvPr/>
        </p:nvSpPr>
        <p:spPr>
          <a:xfrm>
            <a:off x="970762" y="2663573"/>
            <a:ext cx="4802004" cy="2727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기본 가이드라인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greeting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대화가 시작될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밝고 친절하게 인사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도구와 함께 사용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pricing_guideline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가격 문의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"get_pricing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도구 사용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await pricing_guideline.attach_tool(</a:t>
            </a:r>
            <a:r>
              <a:rPr>
                <a:solidFill>
                  <a:srgbClr val="81C784"/>
                </a:solidFill>
              </a:rPr>
              <a:t>"get_pricing"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관계 설정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await vip_guideline.prioritize_over(pricing_guideline) </a:t>
            </a:r>
          </a:p>
        </p:txBody>
      </p:sp>
      <p:sp>
        <p:nvSpPr>
          <p:cNvPr id="768" name="Rounded Rectangle 24"/>
          <p:cNvSpPr/>
          <p:nvPr/>
        </p:nvSpPr>
        <p:spPr>
          <a:xfrm>
            <a:off x="6394442" y="1568614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69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08740" y="1711074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770" name="TextBox 26"/>
          <p:cNvSpPr txBox="1"/>
          <p:nvPr/>
        </p:nvSpPr>
        <p:spPr>
          <a:xfrm>
            <a:off x="7041364" y="1590582"/>
            <a:ext cx="2021248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컨텍스트 변수 사용</a:t>
            </a:r>
          </a:p>
        </p:txBody>
      </p:sp>
      <p:sp>
        <p:nvSpPr>
          <p:cNvPr id="771" name="TextBox 27"/>
          <p:cNvSpPr txBox="1"/>
          <p:nvPr/>
        </p:nvSpPr>
        <p:spPr>
          <a:xfrm>
            <a:off x="6412730" y="2138589"/>
            <a:ext cx="2954795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spcBef>
                <a:spcPts val="900"/>
              </a:spcBef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세션 간 유지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되는 동적 컨텍스트 관리 </a:t>
            </a:r>
          </a:p>
        </p:txBody>
      </p:sp>
      <p:sp>
        <p:nvSpPr>
          <p:cNvPr id="772" name="Rounded Rectangle 28"/>
          <p:cNvSpPr/>
          <p:nvPr/>
        </p:nvSpPr>
        <p:spPr>
          <a:xfrm>
            <a:off x="6394442" y="2486188"/>
            <a:ext cx="4838580" cy="3648075"/>
          </a:xfrm>
          <a:prstGeom prst="roundRect">
            <a:avLst>
              <a:gd name="adj" fmla="val 4177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3" name="TextBox 29"/>
          <p:cNvSpPr txBox="1"/>
          <p:nvPr/>
        </p:nvSpPr>
        <p:spPr>
          <a:xfrm>
            <a:off x="6418927" y="8840067"/>
            <a:ext cx="4802004" cy="1093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변수 생성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cart_variable = await agent.create_variable(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"shopping_cart"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고객의 장바구니 내용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값 설정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await cart_variable.set_value_for_customer(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customer_id=customer.id,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value={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81C784"/>
                </a:solidFill>
              </a:rPr>
              <a:t>"items"</a:t>
            </a:r>
            <a:r>
              <a:t>: [</a:t>
            </a:r>
            <a:r>
              <a:rPr>
                <a:solidFill>
                  <a:srgbClr val="81C784"/>
                </a:solidFill>
              </a:rPr>
              <a:t>"item1"</a:t>
            </a:r>
            <a:r>
              <a:t>, </a:t>
            </a:r>
            <a:r>
              <a:rPr>
                <a:solidFill>
                  <a:srgbClr val="81C784"/>
                </a:solidFill>
              </a:rPr>
              <a:t>"item2"</a:t>
            </a:r>
            <a:r>
              <a:t>], 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81C784"/>
                </a:solidFill>
              </a:rPr>
              <a:t>"total"</a:t>
            </a:r>
            <a:r>
              <a:t>: 50000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},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도구에서 값 조회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@p.tool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async def checkout(context: ToolContext):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cart = await context.get_variable(</a:t>
            </a:r>
            <a:r>
              <a:rPr>
                <a:solidFill>
                  <a:srgbClr val="81C784"/>
                </a:solidFill>
              </a:rPr>
              <a:t>"shopping_cart"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결제 처리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ct val="10000"/>
              </a:lnSpc>
              <a:defRPr sz="1000">
                <a:solidFill>
                  <a:srgbClr val="E0E0E0"/>
                </a:solidFill>
              </a:defRPr>
            </a:pPr>
            <a:r>
              <a:t> return ToolResult(data={</a:t>
            </a:r>
            <a:r>
              <a:rPr>
                <a:solidFill>
                  <a:srgbClr val="81C784"/>
                </a:solidFill>
              </a:rPr>
              <a:t>"order_id"</a:t>
            </a:r>
            <a:r>
              <a:t>: </a:t>
            </a:r>
            <a:r>
              <a:rPr>
                <a:solidFill>
                  <a:srgbClr val="81C784"/>
                </a:solidFill>
              </a:rPr>
              <a:t>"12345"</a:t>
            </a:r>
            <a:r>
              <a:t>}) </a:t>
            </a:r>
          </a:p>
        </p:txBody>
      </p:sp>
      <p:sp>
        <p:nvSpPr>
          <p:cNvPr id="774" name="TextBox 29"/>
          <p:cNvSpPr txBox="1"/>
          <p:nvPr/>
        </p:nvSpPr>
        <p:spPr>
          <a:xfrm>
            <a:off x="6418926" y="2443703"/>
            <a:ext cx="4802004" cy="3669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변수 생성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cart_variable = await agent.create_variable(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"shopping_cart"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고객의 장바구니 내용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값 설정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await cart_variable.set_value_for_customer(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customer_id=customer.id,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value={</a:t>
            </a:r>
            <a:endParaRPr>
              <a:solidFill>
                <a:srgbClr val="000000"/>
              </a:solidFill>
            </a:endParaRPr>
          </a:p>
          <a:p>
            <a:pPr lvl="2"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81C784"/>
                </a:solidFill>
              </a:rPr>
              <a:t>"items"</a:t>
            </a:r>
            <a:r>
              <a:t>: [</a:t>
            </a:r>
            <a:r>
              <a:rPr>
                <a:solidFill>
                  <a:srgbClr val="81C784"/>
                </a:solidFill>
              </a:rPr>
              <a:t>"item1"</a:t>
            </a:r>
            <a:r>
              <a:t>, </a:t>
            </a:r>
            <a:r>
              <a:rPr>
                <a:solidFill>
                  <a:srgbClr val="81C784"/>
                </a:solidFill>
              </a:rPr>
              <a:t>"item2"</a:t>
            </a:r>
            <a:r>
              <a:t>], </a:t>
            </a:r>
            <a:endParaRPr>
              <a:solidFill>
                <a:srgbClr val="000000"/>
              </a:solidFill>
            </a:endParaRPr>
          </a:p>
          <a:p>
            <a:pPr lvl="2"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81C784"/>
                </a:solidFill>
              </a:rPr>
              <a:t>"total"</a:t>
            </a:r>
            <a:r>
              <a:t>: 50000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},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도구에서 값 조회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@p.tool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async def checkout(context: ToolContext):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cart = await context.get_variable(</a:t>
            </a:r>
            <a:r>
              <a:rPr>
                <a:solidFill>
                  <a:srgbClr val="81C784"/>
                </a:solidFill>
              </a:rPr>
              <a:t>"shopping_cart"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결제 처리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return ToolResult(data={</a:t>
            </a:r>
            <a:r>
              <a:rPr>
                <a:solidFill>
                  <a:srgbClr val="81C784"/>
                </a:solidFill>
              </a:rPr>
              <a:t>"order_id"</a:t>
            </a:r>
            <a:r>
              <a:t>: </a:t>
            </a:r>
            <a:r>
              <a:rPr>
                <a:solidFill>
                  <a:srgbClr val="81C784"/>
                </a:solidFill>
              </a:rPr>
              <a:t>"12345"</a:t>
            </a:r>
            <a:r>
              <a:t>})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TextBox 1"/>
          <p:cNvSpPr txBox="1"/>
          <p:nvPr/>
        </p:nvSpPr>
        <p:spPr>
          <a:xfrm>
            <a:off x="780267" y="484247"/>
            <a:ext cx="6194855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실전 예제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간단한 </a:t>
            </a:r>
            <a:r>
              <a:t>FAQ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봇과 예약 시스템</a:t>
            </a:r>
          </a:p>
        </p:txBody>
      </p:sp>
      <p:sp>
        <p:nvSpPr>
          <p:cNvPr id="777" name="Rounded Rectangle 2"/>
          <p:cNvSpPr/>
          <p:nvPr/>
        </p:nvSpPr>
        <p:spPr>
          <a:xfrm>
            <a:off x="761979" y="1371599"/>
            <a:ext cx="5143372" cy="5377858"/>
          </a:xfrm>
          <a:prstGeom prst="roundRect">
            <a:avLst>
              <a:gd name="adj" fmla="val 4444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8" name="Rounded Rectangle 3"/>
          <p:cNvSpPr/>
          <p:nvPr/>
        </p:nvSpPr>
        <p:spPr>
          <a:xfrm>
            <a:off x="1000099" y="1609724"/>
            <a:ext cx="571486" cy="571501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7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3446" y="1766521"/>
            <a:ext cx="304793" cy="257908"/>
          </a:xfrm>
          <a:prstGeom prst="rect">
            <a:avLst/>
          </a:prstGeom>
          <a:ln w="12700">
            <a:miter lim="400000"/>
          </a:ln>
        </p:spPr>
      </p:pic>
      <p:sp>
        <p:nvSpPr>
          <p:cNvPr id="780" name="TextBox 5"/>
          <p:cNvSpPr txBox="1"/>
          <p:nvPr/>
        </p:nvSpPr>
        <p:spPr>
          <a:xfrm>
            <a:off x="1649719" y="1704405"/>
            <a:ext cx="826450" cy="41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defRPr b="1" sz="2000">
                <a:solidFill>
                  <a:srgbClr val="90CAF9"/>
                </a:solidFill>
              </a:defRPr>
            </a:pPr>
            <a:r>
              <a:t>FAQ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봇</a:t>
            </a:r>
          </a:p>
        </p:txBody>
      </p:sp>
      <p:sp>
        <p:nvSpPr>
          <p:cNvPr id="781" name="TextBox 6"/>
          <p:cNvSpPr txBox="1"/>
          <p:nvPr/>
        </p:nvSpPr>
        <p:spPr>
          <a:xfrm>
            <a:off x="1018387" y="2326702"/>
            <a:ext cx="3676712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3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자주 묻는 질문에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일관된 답변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을 제공하는 챗봇 </a:t>
            </a:r>
          </a:p>
        </p:txBody>
      </p:sp>
      <p:pic>
        <p:nvPicPr>
          <p:cNvPr id="782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72723" y="2662195"/>
            <a:ext cx="228595" cy="185738"/>
          </a:xfrm>
          <a:prstGeom prst="rect">
            <a:avLst/>
          </a:prstGeom>
          <a:ln w="12700">
            <a:miter lim="400000"/>
          </a:ln>
        </p:spPr>
      </p:pic>
      <p:sp>
        <p:nvSpPr>
          <p:cNvPr id="783" name="TextBox 8"/>
          <p:cNvSpPr txBox="1"/>
          <p:nvPr/>
        </p:nvSpPr>
        <p:spPr>
          <a:xfrm>
            <a:off x="1948177" y="2622730"/>
            <a:ext cx="1776335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에이전트 생성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과 기본 설정 </a:t>
            </a:r>
          </a:p>
        </p:txBody>
      </p:sp>
      <p:pic>
        <p:nvPicPr>
          <p:cNvPr id="784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72723" y="3005889"/>
            <a:ext cx="228595" cy="171451"/>
          </a:xfrm>
          <a:prstGeom prst="rect">
            <a:avLst/>
          </a:prstGeom>
          <a:ln w="12700">
            <a:miter lim="400000"/>
          </a:ln>
        </p:spPr>
      </p:pic>
      <p:sp>
        <p:nvSpPr>
          <p:cNvPr id="785" name="TextBox 10"/>
          <p:cNvSpPr txBox="1"/>
          <p:nvPr/>
        </p:nvSpPr>
        <p:spPr>
          <a:xfrm>
            <a:off x="1973577" y="2959280"/>
            <a:ext cx="2082328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용어 정의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도메인 지식 내재화 </a:t>
            </a:r>
          </a:p>
        </p:txBody>
      </p:sp>
      <p:pic>
        <p:nvPicPr>
          <p:cNvPr id="786" name="Picture 11" descr="Picture 1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72723" y="3338947"/>
            <a:ext cx="228595" cy="165735"/>
          </a:xfrm>
          <a:prstGeom prst="rect">
            <a:avLst/>
          </a:prstGeom>
          <a:ln w="12700">
            <a:miter lim="400000"/>
          </a:ln>
        </p:spPr>
      </p:pic>
      <p:sp>
        <p:nvSpPr>
          <p:cNvPr id="787" name="TextBox 12"/>
          <p:cNvSpPr txBox="1"/>
          <p:nvPr/>
        </p:nvSpPr>
        <p:spPr>
          <a:xfrm>
            <a:off x="2011677" y="3276780"/>
            <a:ext cx="2345980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가이드라인 설정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으로 응답 패턴 제어 </a:t>
            </a:r>
          </a:p>
        </p:txBody>
      </p:sp>
      <p:sp>
        <p:nvSpPr>
          <p:cNvPr id="788" name="Rounded Rectangle 13"/>
          <p:cNvSpPr/>
          <p:nvPr/>
        </p:nvSpPr>
        <p:spPr>
          <a:xfrm>
            <a:off x="1000099" y="3549650"/>
            <a:ext cx="4667133" cy="3109526"/>
          </a:xfrm>
          <a:prstGeom prst="roundRect">
            <a:avLst>
              <a:gd name="adj" fmla="val 4901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TextBox 14"/>
          <p:cNvSpPr txBox="1"/>
          <p:nvPr/>
        </p:nvSpPr>
        <p:spPr>
          <a:xfrm>
            <a:off x="1036675" y="3560107"/>
            <a:ext cx="4630557" cy="308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에이전트 생성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agent = await server.create_agent(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"FAQ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봇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자주 묻는 질문에 답변하는 봇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용어 정의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await agent.create_term(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배송정책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주문 후 </a:t>
            </a:r>
            <a:r>
              <a:rPr>
                <a:solidFill>
                  <a:srgbClr val="81C784"/>
                </a:solidFill>
              </a:rPr>
              <a:t>3-5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영업일 내 배송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가이드라인 설정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배송에 대해 문의할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배송정책을 상세히 설명합니다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790" name="Rounded Rectangle 15"/>
          <p:cNvSpPr/>
          <p:nvPr/>
        </p:nvSpPr>
        <p:spPr>
          <a:xfrm>
            <a:off x="6286341" y="1371600"/>
            <a:ext cx="5143372" cy="5076921"/>
          </a:xfrm>
          <a:prstGeom prst="roundRect">
            <a:avLst>
              <a:gd name="adj" fmla="val 4502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1" name="Rounded Rectangle 16"/>
          <p:cNvSpPr/>
          <p:nvPr/>
        </p:nvSpPr>
        <p:spPr>
          <a:xfrm>
            <a:off x="6524460" y="1609724"/>
            <a:ext cx="571486" cy="571501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92" name="Picture 17" descr="Picture 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657808" y="1765055"/>
            <a:ext cx="304793" cy="260839"/>
          </a:xfrm>
          <a:prstGeom prst="rect">
            <a:avLst/>
          </a:prstGeom>
          <a:ln w="12700">
            <a:miter lim="400000"/>
          </a:ln>
        </p:spPr>
      </p:pic>
      <p:sp>
        <p:nvSpPr>
          <p:cNvPr id="793" name="TextBox 18"/>
          <p:cNvSpPr txBox="1"/>
          <p:nvPr/>
        </p:nvSpPr>
        <p:spPr>
          <a:xfrm>
            <a:off x="7174081" y="1695512"/>
            <a:ext cx="1291548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예약 시스템</a:t>
            </a:r>
          </a:p>
        </p:txBody>
      </p:sp>
      <p:sp>
        <p:nvSpPr>
          <p:cNvPr id="794" name="TextBox 19"/>
          <p:cNvSpPr txBox="1"/>
          <p:nvPr/>
        </p:nvSpPr>
        <p:spPr>
          <a:xfrm>
            <a:off x="6542748" y="2326702"/>
            <a:ext cx="3570859" cy="3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3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레스토랑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예약 프로세스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를 자동화하는 시스템 </a:t>
            </a:r>
          </a:p>
        </p:txBody>
      </p:sp>
      <p:pic>
        <p:nvPicPr>
          <p:cNvPr id="795" name="Picture 20" descr="Picture 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197084" y="2619650"/>
            <a:ext cx="228595" cy="220028"/>
          </a:xfrm>
          <a:prstGeom prst="rect">
            <a:avLst/>
          </a:prstGeom>
          <a:ln w="12700">
            <a:miter lim="400000"/>
          </a:ln>
        </p:spPr>
      </p:pic>
      <p:sp>
        <p:nvSpPr>
          <p:cNvPr id="796" name="TextBox 21"/>
          <p:cNvSpPr txBox="1"/>
          <p:nvPr/>
        </p:nvSpPr>
        <p:spPr>
          <a:xfrm>
            <a:off x="7586839" y="2597330"/>
            <a:ext cx="1950502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도구 정의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외부 시스템 연동 </a:t>
            </a:r>
          </a:p>
        </p:txBody>
      </p:sp>
      <p:pic>
        <p:nvPicPr>
          <p:cNvPr id="797" name="Picture 22" descr="Picture 2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197084" y="2964931"/>
            <a:ext cx="228595" cy="177165"/>
          </a:xfrm>
          <a:prstGeom prst="rect">
            <a:avLst/>
          </a:prstGeom>
          <a:ln w="12700">
            <a:miter lim="400000"/>
          </a:ln>
        </p:spPr>
      </p:pic>
      <p:sp>
        <p:nvSpPr>
          <p:cNvPr id="798" name="TextBox 23"/>
          <p:cNvSpPr txBox="1"/>
          <p:nvPr/>
        </p:nvSpPr>
        <p:spPr>
          <a:xfrm>
            <a:off x="7586839" y="2933880"/>
            <a:ext cx="1950502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여정 생성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으로 예약 흐름 정의 </a:t>
            </a:r>
          </a:p>
        </p:txBody>
      </p:sp>
      <p:pic>
        <p:nvPicPr>
          <p:cNvPr id="799" name="Picture 24" descr="Picture 24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197084" y="3326247"/>
            <a:ext cx="228595" cy="165735"/>
          </a:xfrm>
          <a:prstGeom prst="rect">
            <a:avLst/>
          </a:prstGeom>
          <a:ln w="12700">
            <a:miter lim="400000"/>
          </a:ln>
        </p:spPr>
      </p:pic>
      <p:sp>
        <p:nvSpPr>
          <p:cNvPr id="800" name="TextBox 25"/>
          <p:cNvSpPr txBox="1"/>
          <p:nvPr/>
        </p:nvSpPr>
        <p:spPr>
          <a:xfrm>
            <a:off x="7586839" y="3225980"/>
            <a:ext cx="2124670" cy="277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2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조건 분기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예약 가능 여부 처리 </a:t>
            </a:r>
          </a:p>
        </p:txBody>
      </p:sp>
      <p:sp>
        <p:nvSpPr>
          <p:cNvPr id="801" name="Rounded Rectangle 26"/>
          <p:cNvSpPr/>
          <p:nvPr/>
        </p:nvSpPr>
        <p:spPr>
          <a:xfrm>
            <a:off x="6524460" y="3536134"/>
            <a:ext cx="4667134" cy="2845840"/>
          </a:xfrm>
          <a:prstGeom prst="roundRect">
            <a:avLst>
              <a:gd name="adj" fmla="val 5355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2" name="TextBox 27"/>
          <p:cNvSpPr txBox="1"/>
          <p:nvPr/>
        </p:nvSpPr>
        <p:spPr>
          <a:xfrm>
            <a:off x="6542748" y="3515138"/>
            <a:ext cx="4630558" cy="2639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numCol="2" spcCol="231527" anchor="ctr"/>
          <a:lstStyle/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 정의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@p.tool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async def check_availability(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date: str, time: str,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context: ToolContext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) -&gt; ToolResult:</a:t>
            </a:r>
            <a:endParaRPr>
              <a:solidFill>
                <a:srgbClr val="000000"/>
              </a:solidFill>
            </a:endParaRPr>
          </a:p>
          <a:p>
            <a:pPr lvl="2">
              <a:defRPr sz="1000">
                <a:solidFill>
                  <a:srgbClr val="E0E0E0"/>
                </a:solidFill>
              </a:defRPr>
            </a:pPr>
            <a:r>
              <a:t> available = await db.check_slot(date, time)</a:t>
            </a:r>
            <a:endParaRPr>
              <a:solidFill>
                <a:srgbClr val="000000"/>
              </a:solidFill>
            </a:endParaRPr>
          </a:p>
          <a:p>
            <a:pPr lvl="2">
              <a:defRPr sz="1000">
                <a:solidFill>
                  <a:srgbClr val="E0E0E0"/>
                </a:solidFill>
              </a:defRPr>
            </a:pPr>
            <a:r>
              <a:t> return ToolResult(data={</a:t>
            </a:r>
            <a:r>
              <a:rPr>
                <a:solidFill>
                  <a:srgbClr val="81C784"/>
                </a:solidFill>
              </a:rPr>
              <a:t>"available"</a:t>
            </a:r>
            <a:r>
              <a:t>: available})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여정 생성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journey = await agent.create_journey(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title=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레스토랑 예약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상태 체인 구성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date_request = greeting.chat(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원하시는 날짜와 시간을 물어봅니다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조건 분기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fork = availability_check.fork(</a:t>
            </a:r>
            <a:endParaRPr>
              <a:solidFill>
                <a:srgbClr val="000000"/>
              </a:solidFill>
            </a:endParaRPr>
          </a:p>
          <a:p>
            <a:pPr lvl="1"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예약 가능 여부에 따라 분기합니다</a:t>
            </a:r>
            <a:r>
              <a:rPr>
                <a:solidFill>
                  <a:srgbClr val="81C784"/>
                </a:solidFill>
              </a:rPr>
              <a:t>."</a:t>
            </a:r>
            <a:endParaRPr>
              <a:solidFill>
                <a:srgbClr val="000000"/>
              </a:solidFill>
            </a:endParaRPr>
          </a:p>
          <a:p>
            <a:pPr>
              <a:defRPr sz="1000">
                <a:solidFill>
                  <a:srgbClr val="E0E0E0"/>
                </a:solidFill>
              </a:defRPr>
            </a:pPr>
            <a:r>
              <a:t> ) </a:t>
            </a:r>
          </a:p>
        </p:txBody>
      </p:sp>
      <p:sp>
        <p:nvSpPr>
          <p:cNvPr id="803" name="슬라이드 번호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TextBox 1"/>
          <p:cNvSpPr txBox="1"/>
          <p:nvPr/>
        </p:nvSpPr>
        <p:spPr>
          <a:xfrm>
            <a:off x="780267" y="484247"/>
            <a:ext cx="4809258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2600"/>
              </a:spcBef>
              <a:defRPr b="1" sz="30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실전 예제 </a:t>
            </a:r>
            <a:r>
              <a:t>-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멀티 티어 고객 지원</a:t>
            </a:r>
          </a:p>
        </p:txBody>
      </p:sp>
      <p:sp>
        <p:nvSpPr>
          <p:cNvPr id="806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0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63565"/>
            <a:ext cx="304793" cy="187570"/>
          </a:xfrm>
          <a:prstGeom prst="rect">
            <a:avLst/>
          </a:prstGeom>
          <a:ln w="12700">
            <a:miter lim="400000"/>
          </a:ln>
        </p:spPr>
      </p:pic>
      <p:sp>
        <p:nvSpPr>
          <p:cNvPr id="808" name="TextBox 4"/>
          <p:cNvSpPr txBox="1"/>
          <p:nvPr/>
        </p:nvSpPr>
        <p:spPr>
          <a:xfrm>
            <a:off x="1542249" y="1441193"/>
            <a:ext cx="1801537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등급별 맞춤 지원</a:t>
            </a:r>
          </a:p>
        </p:txBody>
      </p:sp>
      <p:sp>
        <p:nvSpPr>
          <p:cNvPr id="809" name="TextBox 5"/>
          <p:cNvSpPr txBox="1"/>
          <p:nvPr/>
        </p:nvSpPr>
        <p:spPr>
          <a:xfrm>
            <a:off x="1542249" y="1867137"/>
            <a:ext cx="3129438" cy="30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고객 등급에 따른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개인화된 응대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시스템 </a:t>
            </a:r>
          </a:p>
        </p:txBody>
      </p:sp>
      <p:sp>
        <p:nvSpPr>
          <p:cNvPr id="810" name="Rounded Rectangle 6"/>
          <p:cNvSpPr/>
          <p:nvPr/>
        </p:nvSpPr>
        <p:spPr>
          <a:xfrm>
            <a:off x="761979" y="2628900"/>
            <a:ext cx="5143372" cy="895350"/>
          </a:xfrm>
          <a:prstGeom prst="roundRect">
            <a:avLst>
              <a:gd name="adj" fmla="val 21276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1" name="Rounded Rectangle 7"/>
          <p:cNvSpPr/>
          <p:nvPr/>
        </p:nvSpPr>
        <p:spPr>
          <a:xfrm>
            <a:off x="952475" y="28193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12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7247" y="2953991"/>
            <a:ext cx="266694" cy="226116"/>
          </a:xfrm>
          <a:prstGeom prst="rect">
            <a:avLst/>
          </a:prstGeom>
          <a:ln w="12700">
            <a:miter lim="400000"/>
          </a:ln>
        </p:spPr>
      </p:pic>
      <p:sp>
        <p:nvSpPr>
          <p:cNvPr id="813" name="TextBox 9"/>
          <p:cNvSpPr txBox="1"/>
          <p:nvPr/>
        </p:nvSpPr>
        <p:spPr>
          <a:xfrm>
            <a:off x="1589872" y="2767709"/>
            <a:ext cx="749558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90CAF9"/>
                </a:solidFill>
              </a:defRPr>
            </a:pPr>
            <a:r>
              <a:t>VIP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</a:t>
            </a:r>
          </a:p>
        </p:txBody>
      </p:sp>
      <p:sp>
        <p:nvSpPr>
          <p:cNvPr id="814" name="TextBox 10"/>
          <p:cNvSpPr txBox="1"/>
          <p:nvPr/>
        </p:nvSpPr>
        <p:spPr>
          <a:xfrm>
            <a:off x="1589872" y="3094100"/>
            <a:ext cx="2572304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최우선 응대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전담 매니저 배정 </a:t>
            </a:r>
          </a:p>
        </p:txBody>
      </p:sp>
      <p:sp>
        <p:nvSpPr>
          <p:cNvPr id="815" name="Rounded Rectangle 11"/>
          <p:cNvSpPr/>
          <p:nvPr/>
        </p:nvSpPr>
        <p:spPr>
          <a:xfrm>
            <a:off x="761979" y="3667123"/>
            <a:ext cx="5143372" cy="895351"/>
          </a:xfrm>
          <a:prstGeom prst="roundRect">
            <a:avLst>
              <a:gd name="adj" fmla="val 21276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6" name="Rounded Rectangle 12"/>
          <p:cNvSpPr/>
          <p:nvPr/>
        </p:nvSpPr>
        <p:spPr>
          <a:xfrm>
            <a:off x="952475" y="3857625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17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57247" y="3976894"/>
            <a:ext cx="266694" cy="237711"/>
          </a:xfrm>
          <a:prstGeom prst="rect">
            <a:avLst/>
          </a:prstGeom>
          <a:ln w="12700">
            <a:miter lim="400000"/>
          </a:ln>
        </p:spPr>
      </p:pic>
      <p:sp>
        <p:nvSpPr>
          <p:cNvPr id="818" name="TextBox 14"/>
          <p:cNvSpPr txBox="1"/>
          <p:nvPr/>
        </p:nvSpPr>
        <p:spPr>
          <a:xfrm>
            <a:off x="1589872" y="3805935"/>
            <a:ext cx="1285897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90CAF9"/>
                </a:solidFill>
              </a:defRPr>
            </a:pPr>
            <a:r>
              <a:t>PREMIUM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</a:t>
            </a:r>
          </a:p>
        </p:txBody>
      </p:sp>
      <p:sp>
        <p:nvSpPr>
          <p:cNvPr id="819" name="TextBox 15"/>
          <p:cNvSpPr txBox="1"/>
          <p:nvPr/>
        </p:nvSpPr>
        <p:spPr>
          <a:xfrm>
            <a:off x="1589872" y="4132324"/>
            <a:ext cx="2242739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빠른 응대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할인 혜택 안내 </a:t>
            </a:r>
          </a:p>
        </p:txBody>
      </p:sp>
      <p:sp>
        <p:nvSpPr>
          <p:cNvPr id="820" name="Rounded Rectangle 16"/>
          <p:cNvSpPr/>
          <p:nvPr/>
        </p:nvSpPr>
        <p:spPr>
          <a:xfrm>
            <a:off x="761979" y="4705350"/>
            <a:ext cx="5143372" cy="895350"/>
          </a:xfrm>
          <a:prstGeom prst="roundRect">
            <a:avLst>
              <a:gd name="adj" fmla="val 21276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1" name="Rounded Rectangle 17"/>
          <p:cNvSpPr/>
          <p:nvPr/>
        </p:nvSpPr>
        <p:spPr>
          <a:xfrm>
            <a:off x="952475" y="4895848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22" name="Picture 18" descr="Picture 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57247" y="5038309"/>
            <a:ext cx="266694" cy="191329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TextBox 19"/>
          <p:cNvSpPr txBox="1"/>
          <p:nvPr/>
        </p:nvSpPr>
        <p:spPr>
          <a:xfrm>
            <a:off x="1589872" y="4844159"/>
            <a:ext cx="944150" cy="351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90CAF9"/>
                </a:solidFill>
              </a:defRPr>
            </a:pPr>
            <a:r>
              <a:t>BASIC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고객</a:t>
            </a:r>
          </a:p>
        </p:txBody>
      </p:sp>
      <p:sp>
        <p:nvSpPr>
          <p:cNvPr id="824" name="TextBox 20"/>
          <p:cNvSpPr txBox="1"/>
          <p:nvPr/>
        </p:nvSpPr>
        <p:spPr>
          <a:xfrm>
            <a:off x="1589872" y="5170550"/>
            <a:ext cx="1860247" cy="28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표준 절차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 따른 응대 </a:t>
            </a:r>
          </a:p>
        </p:txBody>
      </p:sp>
      <p:sp>
        <p:nvSpPr>
          <p:cNvPr id="825" name="Rounded Rectangle 21"/>
          <p:cNvSpPr/>
          <p:nvPr/>
        </p:nvSpPr>
        <p:spPr>
          <a:xfrm>
            <a:off x="6286341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26" name="Picture 22" descr="Picture 2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419689" y="1575287"/>
            <a:ext cx="304793" cy="164124"/>
          </a:xfrm>
          <a:prstGeom prst="rect">
            <a:avLst/>
          </a:prstGeom>
          <a:ln w="12700">
            <a:miter lim="400000"/>
          </a:ln>
        </p:spPr>
      </p:pic>
      <p:sp>
        <p:nvSpPr>
          <p:cNvPr id="827" name="TextBox 23"/>
          <p:cNvSpPr txBox="1"/>
          <p:nvPr/>
        </p:nvSpPr>
        <p:spPr>
          <a:xfrm>
            <a:off x="7066611" y="1441193"/>
            <a:ext cx="1071838" cy="432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2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구현 방법</a:t>
            </a:r>
          </a:p>
        </p:txBody>
      </p:sp>
      <p:sp>
        <p:nvSpPr>
          <p:cNvPr id="828" name="TextBox 24"/>
          <p:cNvSpPr txBox="1"/>
          <p:nvPr/>
        </p:nvSpPr>
        <p:spPr>
          <a:xfrm>
            <a:off x="7066611" y="1867137"/>
            <a:ext cx="3396216" cy="30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15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컨텍스트 변수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가이드라인 우선순위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활용 </a:t>
            </a:r>
          </a:p>
        </p:txBody>
      </p:sp>
      <p:sp>
        <p:nvSpPr>
          <p:cNvPr id="829" name="Rounded Rectangle 25"/>
          <p:cNvSpPr/>
          <p:nvPr/>
        </p:nvSpPr>
        <p:spPr>
          <a:xfrm>
            <a:off x="6286341" y="2143123"/>
            <a:ext cx="5143372" cy="4048141"/>
          </a:xfrm>
          <a:prstGeom prst="roundRect">
            <a:avLst>
              <a:gd name="adj" fmla="val 3763"/>
            </a:avLst>
          </a:prstGeom>
          <a:solidFill>
            <a:srgbClr val="000000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TextBox 26"/>
          <p:cNvSpPr txBox="1"/>
          <p:nvPr/>
        </p:nvSpPr>
        <p:spPr>
          <a:xfrm>
            <a:off x="6304629" y="2210162"/>
            <a:ext cx="5106796" cy="3771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numCol="2" spcCol="255339" anchor="ctr"/>
          <a:lstStyle/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컨텍스트 변수로 고객 등급 관리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tier_variable = await agent.create_variable(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name=</a:t>
            </a:r>
            <a:r>
              <a:rPr>
                <a:solidFill>
                  <a:srgbClr val="81C784"/>
                </a:solidFill>
              </a:rPr>
              <a:t>"customer_tier"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description=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고객의 멤버십 등급</a:t>
            </a:r>
            <a:r>
              <a:rPr>
                <a:solidFill>
                  <a:srgbClr val="81C784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등급별 가이드라인 생성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vip_guideline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"VIP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문의할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최우선으로 응대하고 전담 매니저를 배정합니다</a:t>
            </a:r>
            <a:r>
              <a:rPr>
                <a:solidFill>
                  <a:srgbClr val="81C784"/>
                </a:solidFill>
              </a:rPr>
              <a:t>."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premium_guideline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"PREMIUM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문의할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빠른 응대와 할인 혜택을 안내합니다</a:t>
            </a:r>
            <a:r>
              <a:rPr>
                <a:solidFill>
                  <a:srgbClr val="81C784"/>
                </a:solidFill>
              </a:rPr>
              <a:t>."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basic_guideline = await agent.create_guideline(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condition=</a:t>
            </a:r>
            <a:r>
              <a:rPr>
                <a:solidFill>
                  <a:srgbClr val="81C784"/>
                </a:solidFill>
              </a:rPr>
              <a:t>"BASIC 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고객이 문의할 때</a:t>
            </a:r>
            <a:r>
              <a:rPr>
                <a:solidFill>
                  <a:srgbClr val="81C784"/>
                </a:solidFill>
              </a:rPr>
              <a:t>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 lvl="1"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action=</a:t>
            </a:r>
            <a:r>
              <a:rPr>
                <a:solidFill>
                  <a:srgbClr val="81C784"/>
                </a:solidFill>
              </a:rPr>
              <a:t>"</a:t>
            </a:r>
            <a:r>
              <a:rPr>
                <a:solidFill>
                  <a:srgbClr val="81C784"/>
                </a:solidFill>
                <a:latin typeface="+mj-lt"/>
                <a:ea typeface="+mj-ea"/>
                <a:cs typeface="+mj-cs"/>
                <a:sym typeface="Helvetica"/>
              </a:rPr>
              <a:t>표준 절차에 따라 응대합니다</a:t>
            </a:r>
            <a:r>
              <a:rPr>
                <a:solidFill>
                  <a:srgbClr val="81C784"/>
                </a:solidFill>
              </a:rPr>
              <a:t>."</a:t>
            </a:r>
            <a:r>
              <a:t>,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우선순위 설정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await vip_guideline.prioritize_over(premium_guideline)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await premium_guideline.prioritize_over(basic_guideline)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도구로 고객 등급 확인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@p.tool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async def get_customer_tier(context: ToolContext) -&gt; ToolResult: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tier = await context.get_variable(</a:t>
            </a:r>
            <a:r>
              <a:rPr>
                <a:solidFill>
                  <a:srgbClr val="81C784"/>
                </a:solidFill>
              </a:rPr>
              <a:t>"customer_tier"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if not tier: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tier = </a:t>
            </a:r>
            <a:r>
              <a:rPr>
                <a:solidFill>
                  <a:srgbClr val="81C784"/>
                </a:solidFill>
              </a:rPr>
              <a:t>"BASIC"</a:t>
            </a:r>
            <a:r>
              <a:t>  </a:t>
            </a:r>
            <a:r>
              <a:rPr>
                <a:solidFill>
                  <a:srgbClr val="78909C"/>
                </a:solidFill>
              </a:rPr>
              <a:t># </a:t>
            </a:r>
            <a:r>
              <a:rPr>
                <a:solidFill>
                  <a:srgbClr val="78909C"/>
                </a:solidFill>
                <a:latin typeface="+mj-lt"/>
                <a:ea typeface="+mj-ea"/>
                <a:cs typeface="+mj-cs"/>
                <a:sym typeface="Helvetica"/>
              </a:rPr>
              <a:t>기본값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return ToolResult(data={</a:t>
            </a:r>
            <a:r>
              <a:rPr>
                <a:solidFill>
                  <a:srgbClr val="81C784"/>
                </a:solidFill>
              </a:rPr>
              <a:t>"tier"</a:t>
            </a:r>
            <a:r>
              <a:t>: tier})</a:t>
            </a: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lnSpc>
                <a:spcPts val="1000"/>
              </a:lnSpc>
              <a:defRPr sz="1000">
                <a:solidFill>
                  <a:srgbClr val="E0E0E0"/>
                </a:solidFill>
              </a:defRPr>
            </a:pPr>
            <a:r>
              <a:t> await agent.attach_tool(</a:t>
            </a:r>
            <a:r>
              <a:rPr>
                <a:solidFill>
                  <a:srgbClr val="81C784"/>
                </a:solidFill>
              </a:rPr>
              <a:t>"get_customer_tier"</a:t>
            </a:r>
            <a:r>
              <a:t>) </a:t>
            </a:r>
          </a:p>
        </p:txBody>
      </p:sp>
      <p:sp>
        <p:nvSpPr>
          <p:cNvPr id="831" name="슬라이드 번호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0A2463"/>
            </a:gs>
            <a:gs pos="100000">
              <a:srgbClr val="1E3A8A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TextBox 1"/>
          <p:cNvSpPr txBox="1"/>
          <p:nvPr/>
        </p:nvSpPr>
        <p:spPr>
          <a:xfrm>
            <a:off x="780267" y="484247"/>
            <a:ext cx="3841495" cy="59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2600"/>
              </a:spcBef>
              <a:defRPr b="1" sz="3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다음 단계 및 추가 리소스</a:t>
            </a:r>
          </a:p>
        </p:txBody>
      </p:sp>
      <p:sp>
        <p:nvSpPr>
          <p:cNvPr id="834" name="Rounded Rectangle 2"/>
          <p:cNvSpPr/>
          <p:nvPr/>
        </p:nvSpPr>
        <p:spPr>
          <a:xfrm>
            <a:off x="761979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3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5327" y="1540118"/>
            <a:ext cx="304793" cy="234462"/>
          </a:xfrm>
          <a:prstGeom prst="rect">
            <a:avLst/>
          </a:prstGeom>
          <a:ln w="12700">
            <a:miter lim="400000"/>
          </a:ln>
        </p:spPr>
      </p:pic>
      <p:sp>
        <p:nvSpPr>
          <p:cNvPr id="836" name="TextBox 4"/>
          <p:cNvSpPr txBox="1"/>
          <p:nvPr/>
        </p:nvSpPr>
        <p:spPr>
          <a:xfrm>
            <a:off x="1542248" y="1507235"/>
            <a:ext cx="692075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2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학습 경로</a:t>
            </a:r>
          </a:p>
        </p:txBody>
      </p:sp>
      <p:sp>
        <p:nvSpPr>
          <p:cNvPr id="837" name="TextBox 5"/>
          <p:cNvSpPr txBox="1"/>
          <p:nvPr/>
        </p:nvSpPr>
        <p:spPr>
          <a:xfrm>
            <a:off x="780268" y="2149537"/>
            <a:ext cx="2068150" cy="28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800">
                <a:solidFill>
                  <a:srgbClr val="FFFFFF"/>
                </a:solidFill>
              </a:defRPr>
            </a:pPr>
            <a:r>
              <a:t> Parlant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프레임워크를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체계적으로 학습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하는 방법 </a:t>
            </a:r>
          </a:p>
        </p:txBody>
      </p:sp>
      <p:sp>
        <p:nvSpPr>
          <p:cNvPr id="838" name="Rounded Rectangle 6"/>
          <p:cNvSpPr/>
          <p:nvPr/>
        </p:nvSpPr>
        <p:spPr>
          <a:xfrm>
            <a:off x="761979" y="2628900"/>
            <a:ext cx="5143372" cy="885825"/>
          </a:xfrm>
          <a:prstGeom prst="roundRect">
            <a:avLst>
              <a:gd name="adj" fmla="val 2150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Rounded Rectangle 7"/>
          <p:cNvSpPr/>
          <p:nvPr/>
        </p:nvSpPr>
        <p:spPr>
          <a:xfrm>
            <a:off x="952475" y="2819399"/>
            <a:ext cx="380991" cy="3810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0" name="TextBox 8"/>
          <p:cNvSpPr txBox="1"/>
          <p:nvPr/>
        </p:nvSpPr>
        <p:spPr>
          <a:xfrm>
            <a:off x="970763" y="2887900"/>
            <a:ext cx="193234" cy="243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100">
                <a:solidFill>
                  <a:srgbClr val="64B5F6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41" name="TextBox 9"/>
          <p:cNvSpPr txBox="1"/>
          <p:nvPr/>
        </p:nvSpPr>
        <p:spPr>
          <a:xfrm>
            <a:off x="1494625" y="2802950"/>
            <a:ext cx="816844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튜토리얼 실행</a:t>
            </a:r>
          </a:p>
        </p:txBody>
      </p:sp>
      <p:sp>
        <p:nvSpPr>
          <p:cNvPr id="842" name="TextBox 10"/>
          <p:cNvSpPr txBox="1"/>
          <p:nvPr/>
        </p:nvSpPr>
        <p:spPr>
          <a:xfrm>
            <a:off x="1494625" y="3107435"/>
            <a:ext cx="1770415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tutorial.py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파일을 실행하여 단계별 학습 </a:t>
            </a:r>
          </a:p>
        </p:txBody>
      </p:sp>
      <p:sp>
        <p:nvSpPr>
          <p:cNvPr id="843" name="Rounded Rectangle 11"/>
          <p:cNvSpPr/>
          <p:nvPr/>
        </p:nvSpPr>
        <p:spPr>
          <a:xfrm>
            <a:off x="761979" y="3657600"/>
            <a:ext cx="5143372" cy="885825"/>
          </a:xfrm>
          <a:prstGeom prst="roundRect">
            <a:avLst>
              <a:gd name="adj" fmla="val 2150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4" name="Rounded Rectangle 12"/>
          <p:cNvSpPr/>
          <p:nvPr/>
        </p:nvSpPr>
        <p:spPr>
          <a:xfrm>
            <a:off x="952475" y="3848098"/>
            <a:ext cx="380991" cy="3810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5" name="TextBox 13"/>
          <p:cNvSpPr txBox="1"/>
          <p:nvPr/>
        </p:nvSpPr>
        <p:spPr>
          <a:xfrm>
            <a:off x="970763" y="3916600"/>
            <a:ext cx="193234" cy="243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100">
                <a:solidFill>
                  <a:srgbClr val="64B5F6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46" name="TextBox 14"/>
          <p:cNvSpPr txBox="1"/>
          <p:nvPr/>
        </p:nvSpPr>
        <p:spPr>
          <a:xfrm>
            <a:off x="1494625" y="3831650"/>
            <a:ext cx="852129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예제 코드 참고</a:t>
            </a:r>
          </a:p>
        </p:txBody>
      </p:sp>
      <p:sp>
        <p:nvSpPr>
          <p:cNvPr id="847" name="TextBox 15"/>
          <p:cNvSpPr txBox="1"/>
          <p:nvPr/>
        </p:nvSpPr>
        <p:spPr>
          <a:xfrm>
            <a:off x="1494625" y="4126609"/>
            <a:ext cx="1504729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examples/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폴더의 실전 예제 확인 </a:t>
            </a:r>
          </a:p>
        </p:txBody>
      </p:sp>
      <p:sp>
        <p:nvSpPr>
          <p:cNvPr id="848" name="Rounded Rectangle 16"/>
          <p:cNvSpPr/>
          <p:nvPr/>
        </p:nvSpPr>
        <p:spPr>
          <a:xfrm>
            <a:off x="761979" y="4686300"/>
            <a:ext cx="5143372" cy="885825"/>
          </a:xfrm>
          <a:prstGeom prst="roundRect">
            <a:avLst>
              <a:gd name="adj" fmla="val 2150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9" name="Rounded Rectangle 17"/>
          <p:cNvSpPr/>
          <p:nvPr/>
        </p:nvSpPr>
        <p:spPr>
          <a:xfrm>
            <a:off x="952475" y="4876800"/>
            <a:ext cx="380991" cy="3810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0" name="TextBox 18"/>
          <p:cNvSpPr txBox="1"/>
          <p:nvPr/>
        </p:nvSpPr>
        <p:spPr>
          <a:xfrm>
            <a:off x="970763" y="4945301"/>
            <a:ext cx="193234" cy="243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100">
                <a:solidFill>
                  <a:srgbClr val="64B5F6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51" name="TextBox 19"/>
          <p:cNvSpPr txBox="1"/>
          <p:nvPr/>
        </p:nvSpPr>
        <p:spPr>
          <a:xfrm>
            <a:off x="1494625" y="4860351"/>
            <a:ext cx="796936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000">
                <a:solidFill>
                  <a:srgbClr val="90CAF9"/>
                </a:solidFill>
              </a:defRPr>
            </a:pPr>
            <a:r>
              <a:t>API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문서 확인</a:t>
            </a:r>
          </a:p>
        </p:txBody>
      </p:sp>
      <p:sp>
        <p:nvSpPr>
          <p:cNvPr id="852" name="TextBox 20"/>
          <p:cNvSpPr txBox="1"/>
          <p:nvPr/>
        </p:nvSpPr>
        <p:spPr>
          <a:xfrm>
            <a:off x="1494625" y="5155310"/>
            <a:ext cx="2087707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FastAPI docs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참고 </a:t>
            </a:r>
            <a:r>
              <a:t>(http://localhost:8800/docs) </a:t>
            </a:r>
          </a:p>
        </p:txBody>
      </p:sp>
      <p:sp>
        <p:nvSpPr>
          <p:cNvPr id="853" name="Rounded Rectangle 21"/>
          <p:cNvSpPr/>
          <p:nvPr/>
        </p:nvSpPr>
        <p:spPr>
          <a:xfrm>
            <a:off x="761979" y="5705475"/>
            <a:ext cx="5143372" cy="885825"/>
          </a:xfrm>
          <a:prstGeom prst="roundRect">
            <a:avLst>
              <a:gd name="adj" fmla="val 21505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4" name="Rounded Rectangle 22"/>
          <p:cNvSpPr/>
          <p:nvPr/>
        </p:nvSpPr>
        <p:spPr>
          <a:xfrm>
            <a:off x="952475" y="5895973"/>
            <a:ext cx="380991" cy="3810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5" name="TextBox 23"/>
          <p:cNvSpPr txBox="1"/>
          <p:nvPr/>
        </p:nvSpPr>
        <p:spPr>
          <a:xfrm>
            <a:off x="970763" y="5964475"/>
            <a:ext cx="193234" cy="243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100">
                <a:solidFill>
                  <a:srgbClr val="64B5F6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56" name="TextBox 24"/>
          <p:cNvSpPr txBox="1"/>
          <p:nvPr/>
        </p:nvSpPr>
        <p:spPr>
          <a:xfrm>
            <a:off x="1494625" y="5879525"/>
            <a:ext cx="961984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테스트 코드 학습</a:t>
            </a:r>
          </a:p>
        </p:txBody>
      </p:sp>
      <p:sp>
        <p:nvSpPr>
          <p:cNvPr id="857" name="TextBox 25"/>
          <p:cNvSpPr txBox="1"/>
          <p:nvPr/>
        </p:nvSpPr>
        <p:spPr>
          <a:xfrm>
            <a:off x="1494625" y="6174484"/>
            <a:ext cx="1692356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tests/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폴더의 테스트 코드로 패턴 학습 </a:t>
            </a:r>
          </a:p>
        </p:txBody>
      </p:sp>
      <p:sp>
        <p:nvSpPr>
          <p:cNvPr id="858" name="Rounded Rectangle 26"/>
          <p:cNvSpPr/>
          <p:nvPr/>
        </p:nvSpPr>
        <p:spPr>
          <a:xfrm>
            <a:off x="6286341" y="1371600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59" name="Picture 27" descr="Picture 2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19689" y="1584079"/>
            <a:ext cx="304793" cy="146539"/>
          </a:xfrm>
          <a:prstGeom prst="rect">
            <a:avLst/>
          </a:prstGeom>
          <a:ln w="12700">
            <a:miter lim="400000"/>
          </a:ln>
        </p:spPr>
      </p:pic>
      <p:sp>
        <p:nvSpPr>
          <p:cNvPr id="860" name="TextBox 28"/>
          <p:cNvSpPr txBox="1"/>
          <p:nvPr/>
        </p:nvSpPr>
        <p:spPr>
          <a:xfrm>
            <a:off x="7066611" y="1507235"/>
            <a:ext cx="823900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defRPr b="1" sz="12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추가 리소스</a:t>
            </a:r>
          </a:p>
        </p:txBody>
      </p:sp>
      <p:sp>
        <p:nvSpPr>
          <p:cNvPr id="861" name="TextBox 29"/>
          <p:cNvSpPr txBox="1"/>
          <p:nvPr/>
        </p:nvSpPr>
        <p:spPr>
          <a:xfrm>
            <a:off x="6304629" y="2149537"/>
            <a:ext cx="1623472" cy="28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lnSpc>
                <a:spcPts val="1400"/>
              </a:lnSpc>
              <a:spcBef>
                <a:spcPts val="1600"/>
              </a:spcBef>
              <a:defRPr sz="800">
                <a:solidFill>
                  <a:srgbClr val="FFFFFF"/>
                </a:solidFill>
              </a:defRPr>
            </a:pPr>
            <a:r>
              <a:t> Parlant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프레임워크 관련 </a:t>
            </a:r>
            <a:r>
              <a:rPr>
                <a:solidFill>
                  <a:srgbClr val="FFD54F"/>
                </a:solidFill>
                <a:latin typeface="+mj-lt"/>
                <a:ea typeface="+mj-ea"/>
                <a:cs typeface="+mj-cs"/>
                <a:sym typeface="Helvetica"/>
              </a:rPr>
              <a:t>유용한 자료</a:t>
            </a:r>
            <a:r>
              <a:t> </a:t>
            </a:r>
          </a:p>
        </p:txBody>
      </p:sp>
      <p:sp>
        <p:nvSpPr>
          <p:cNvPr id="862" name="Rounded Rectangle 30"/>
          <p:cNvSpPr/>
          <p:nvPr/>
        </p:nvSpPr>
        <p:spPr>
          <a:xfrm>
            <a:off x="6286341" y="2628900"/>
            <a:ext cx="5143372" cy="10668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3" name="Rounded Rectangle 31"/>
          <p:cNvSpPr/>
          <p:nvPr/>
        </p:nvSpPr>
        <p:spPr>
          <a:xfrm>
            <a:off x="6476837" y="2819399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64" name="Picture 32" descr="Picture 3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81609" y="2953991"/>
            <a:ext cx="266694" cy="226116"/>
          </a:xfrm>
          <a:prstGeom prst="rect">
            <a:avLst/>
          </a:prstGeom>
          <a:ln w="12700">
            <a:miter lim="400000"/>
          </a:ln>
        </p:spPr>
      </p:pic>
      <p:sp>
        <p:nvSpPr>
          <p:cNvPr id="865" name="TextBox 33"/>
          <p:cNvSpPr txBox="1"/>
          <p:nvPr/>
        </p:nvSpPr>
        <p:spPr>
          <a:xfrm>
            <a:off x="7114234" y="2802950"/>
            <a:ext cx="597134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공식 문서</a:t>
            </a:r>
          </a:p>
        </p:txBody>
      </p:sp>
      <p:sp>
        <p:nvSpPr>
          <p:cNvPr id="866" name="TextBox 34"/>
          <p:cNvSpPr txBox="1"/>
          <p:nvPr/>
        </p:nvSpPr>
        <p:spPr>
          <a:xfrm>
            <a:off x="7114234" y="3124263"/>
            <a:ext cx="4106696" cy="409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상세한 </a:t>
            </a:r>
            <a:r>
              <a:t>API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참조와 가이드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https://parlant.io</a:t>
            </a:r>
            <a:r>
              <a:t> </a:t>
            </a:r>
          </a:p>
        </p:txBody>
      </p:sp>
      <p:sp>
        <p:nvSpPr>
          <p:cNvPr id="867" name="Rounded Rectangle 35"/>
          <p:cNvSpPr/>
          <p:nvPr/>
        </p:nvSpPr>
        <p:spPr>
          <a:xfrm>
            <a:off x="6286341" y="3848098"/>
            <a:ext cx="5143372" cy="10668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8" name="Rounded Rectangle 36"/>
          <p:cNvSpPr/>
          <p:nvPr/>
        </p:nvSpPr>
        <p:spPr>
          <a:xfrm>
            <a:off x="6476837" y="4038598"/>
            <a:ext cx="476239" cy="47625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69" name="Picture 37" descr="Picture 3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81609" y="4204251"/>
            <a:ext cx="266694" cy="144946"/>
          </a:xfrm>
          <a:prstGeom prst="rect">
            <a:avLst/>
          </a:prstGeom>
          <a:ln w="12700">
            <a:miter lim="400000"/>
          </a:ln>
        </p:spPr>
      </p:pic>
      <p:sp>
        <p:nvSpPr>
          <p:cNvPr id="870" name="TextBox 38"/>
          <p:cNvSpPr txBox="1"/>
          <p:nvPr/>
        </p:nvSpPr>
        <p:spPr>
          <a:xfrm>
            <a:off x="7114234" y="4026596"/>
            <a:ext cx="845086" cy="26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/>
          <a:p>
            <a:pPr>
              <a:spcBef>
                <a:spcPts val="500"/>
              </a:spcBef>
              <a:defRPr sz="1000">
                <a:solidFill>
                  <a:srgbClr val="90CAF9"/>
                </a:solidFill>
              </a:defRPr>
            </a:pPr>
            <a:r>
              <a:t>GitHub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저장소</a:t>
            </a:r>
          </a:p>
        </p:txBody>
      </p:sp>
      <p:sp>
        <p:nvSpPr>
          <p:cNvPr id="871" name="TextBox 39"/>
          <p:cNvSpPr txBox="1"/>
          <p:nvPr/>
        </p:nvSpPr>
        <p:spPr>
          <a:xfrm>
            <a:off x="7114234" y="4333937"/>
            <a:ext cx="4106696" cy="409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소스 코드와 예제 프로젝트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https://github.com/emcie-co/parlant</a:t>
            </a:r>
            <a:r>
              <a:t> </a:t>
            </a:r>
          </a:p>
        </p:txBody>
      </p:sp>
      <p:sp>
        <p:nvSpPr>
          <p:cNvPr id="872" name="Rounded Rectangle 40"/>
          <p:cNvSpPr/>
          <p:nvPr/>
        </p:nvSpPr>
        <p:spPr>
          <a:xfrm>
            <a:off x="6286341" y="5057775"/>
            <a:ext cx="5143372" cy="10668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3" name="Rounded Rectangle 41"/>
          <p:cNvSpPr/>
          <p:nvPr/>
        </p:nvSpPr>
        <p:spPr>
          <a:xfrm>
            <a:off x="6476837" y="5248275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74" name="Picture 42" descr="Picture 4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581609" y="5373342"/>
            <a:ext cx="266694" cy="226116"/>
          </a:xfrm>
          <a:prstGeom prst="rect">
            <a:avLst/>
          </a:prstGeom>
          <a:ln w="12700">
            <a:miter lim="400000"/>
          </a:ln>
        </p:spPr>
      </p:pic>
      <p:sp>
        <p:nvSpPr>
          <p:cNvPr id="875" name="TextBox 43"/>
          <p:cNvSpPr txBox="1"/>
          <p:nvPr/>
        </p:nvSpPr>
        <p:spPr>
          <a:xfrm>
            <a:off x="7114234" y="5231826"/>
            <a:ext cx="742273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이슈 및 질문</a:t>
            </a:r>
          </a:p>
        </p:txBody>
      </p:sp>
      <p:sp>
        <p:nvSpPr>
          <p:cNvPr id="876" name="TextBox 44"/>
          <p:cNvSpPr txBox="1"/>
          <p:nvPr/>
        </p:nvSpPr>
        <p:spPr>
          <a:xfrm>
            <a:off x="7114234" y="5543613"/>
            <a:ext cx="4106696" cy="409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커뮤니티 지원과 문제 해결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GitHub Issues</a:t>
            </a:r>
            <a:r>
              <a:t> </a:t>
            </a:r>
          </a:p>
        </p:txBody>
      </p:sp>
      <p:sp>
        <p:nvSpPr>
          <p:cNvPr id="877" name="Rounded Rectangle 45"/>
          <p:cNvSpPr/>
          <p:nvPr/>
        </p:nvSpPr>
        <p:spPr>
          <a:xfrm>
            <a:off x="6286341" y="6267448"/>
            <a:ext cx="5143372" cy="1066800"/>
          </a:xfrm>
          <a:prstGeom prst="roundRect">
            <a:avLst>
              <a:gd name="adj" fmla="val 17857"/>
            </a:avLst>
          </a:prstGeom>
          <a:solidFill>
            <a:srgbClr val="FFFFFF">
              <a:alpha val="8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8" name="Rounded Rectangle 46"/>
          <p:cNvSpPr/>
          <p:nvPr/>
        </p:nvSpPr>
        <p:spPr>
          <a:xfrm>
            <a:off x="6476837" y="6457950"/>
            <a:ext cx="476239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79" name="Picture 47" descr="Picture 4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581609" y="6591713"/>
            <a:ext cx="266694" cy="208722"/>
          </a:xfrm>
          <a:prstGeom prst="rect">
            <a:avLst/>
          </a:prstGeom>
          <a:ln w="12700">
            <a:miter lim="400000"/>
          </a:ln>
        </p:spPr>
      </p:pic>
      <p:sp>
        <p:nvSpPr>
          <p:cNvPr id="880" name="TextBox 48"/>
          <p:cNvSpPr txBox="1"/>
          <p:nvPr/>
        </p:nvSpPr>
        <p:spPr>
          <a:xfrm>
            <a:off x="7114234" y="6441501"/>
            <a:ext cx="816844" cy="271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4864" tIns="54864" rIns="54864" bIns="54864" anchor="ctr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90CAF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블로그 게시물</a:t>
            </a:r>
          </a:p>
        </p:txBody>
      </p:sp>
      <p:sp>
        <p:nvSpPr>
          <p:cNvPr id="881" name="TextBox 49"/>
          <p:cNvSpPr txBox="1"/>
          <p:nvPr/>
        </p:nvSpPr>
        <p:spPr>
          <a:xfrm>
            <a:off x="7114234" y="6753288"/>
            <a:ext cx="4106696" cy="409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심층적인 기술 설명과 비교 분석</a:t>
            </a:r>
            <a:endParaRPr sz="110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  <a:defRPr sz="800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FFD54F"/>
                </a:solidFill>
              </a:rPr>
              <a:t>Parlant vs LangGraph, DSPy</a:t>
            </a:r>
            <a:r>
              <a:t> </a:t>
            </a:r>
          </a:p>
        </p:txBody>
      </p:sp>
      <p:sp>
        <p:nvSpPr>
          <p:cNvPr id="882" name="슬라이드 번호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